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notesMaster" Target="notesMasters/notesMaster1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calm, branded front door with enterprise sign-in</a:t>
            </a:r>
          </a:p>
          <a:p/>
          <a:p>
            <a:r>
              <a:t>The workflow the platform runs is shown right on the sign-in page, and it moves.</a:t>
            </a:r>
          </a:p>
          <a:p/>
          <a:p>
            <a:r>
              <a:t>Walk through:</a:t>
            </a:r>
          </a:p>
          <a:p>
            <a:r>
              <a:t>1. The whole flow at a glance: Estimates, Invoices, Approvals and Payments light up in sequence as the flow runs through them.</a:t>
            </a:r>
          </a:p>
          <a:p>
            <a:r>
              <a:t>2. Enterprise sign-in: Work-email sign-in for development; single sign-on through your identity provider in production.</a:t>
            </a:r>
          </a:p>
          <a:p>
            <a:r>
              <a:t>3. Trust, stated plainly: Every decision audited, AI on your own gateway, segregation of duties enforced.</a:t>
            </a:r>
          </a:p>
          <a:p>
            <a:r>
              <a:t>4. Why it exists, in three lines: Real-time visibility, enterprise controls and a complete audit trail.</a:t>
            </a:r>
          </a:p>
          <a:p/>
          <a:p>
            <a:r>
              <a:t>Why it matters: First impressions set expectations: a professional, accessible entry point that respects reduced-motion settings and works on any device.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Everything that matters today, on one screen</a:t>
            </a:r>
          </a:p>
          <a:p/>
          <a:p>
            <a:r>
              <a:t>Every figure is counted from live records and opens the register behind it. Nothing is projected or invented.</a:t>
            </a:r>
          </a:p>
          <a:p/>
          <a:p>
            <a:r>
              <a:t>Walk through:</a:t>
            </a:r>
          </a:p>
          <a:p>
            <a:r>
              <a:t>1. Today's priorities: Approvals waiting, receipts to confirm, packages to submit and blockers, each one click from the work.</a:t>
            </a:r>
          </a:p>
          <a:p>
            <a:r>
              <a:t>2. Spend headlines: Total, approved and pending spend with honest month-over-month change and a monthly trend line.</a:t>
            </a:r>
          </a:p>
          <a:p>
            <a:r>
              <a:t>3. Spend by payment type: Invoices, purchase orders, credit cards and accruals per month, filterable over 6 or 12 months.</a:t>
            </a:r>
          </a:p>
          <a:p>
            <a:r>
              <a:t>4. Top vendors: Where approved spend is concentrated, as a share of the total.</a:t>
            </a:r>
          </a:p>
          <a:p/>
          <a:p>
            <a:r>
              <a:t>Why it matters: Leaders see the state of the ledger without asking for a report, and every number can be traced back to a record.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queue for each person, and a search that finds anything</a:t>
            </a:r>
          </a:p>
          <a:p/>
          <a:p>
            <a:r>
              <a:t>Nothing hides in a register someone visits less often.</a:t>
            </a:r>
          </a:p>
          <a:p/>
          <a:p>
            <a:r>
              <a:t>Walk through:</a:t>
            </a:r>
          </a:p>
          <a:p>
            <a:r>
              <a:t>1. Oldest first, always: Approvals, receipt confirmations, document reviews and supplier answers in one list that cannot be re-sorted to bury awkward items.</a:t>
            </a:r>
          </a:p>
          <a:p>
            <a:r>
              <a:t>2. Named saved views: Filters subtract kinds of work and can be saved per person.</a:t>
            </a:r>
          </a:p>
          <a:p>
            <a:r>
              <a:t>3. Federated search: Estimates, invoices, POs, packages, documents and suppliers in one palette, with state and amount.</a:t>
            </a:r>
          </a:p>
          <a:p/>
          <a:p>
            <a:r>
              <a:t>Why it matters: Faster turnaround comes from making waiting work impossible to miss, for the person who has to act on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Supplier email and uploads, scanned and stored as evidence</a:t>
            </a:r>
          </a:p>
          <a:p/>
          <a:p>
            <a:r>
              <a:t>The platform reads a mailbox you control over IMAPS. Manual uploads follow exactly the same path.</a:t>
            </a:r>
          </a:p>
          <a:p/>
          <a:p>
            <a:r>
              <a:t>Walk through:</a:t>
            </a:r>
          </a:p>
          <a:p>
            <a:r>
              <a:t>1. Every arrival accounted for: Mailbox and uploads side by side; filter by ready, quarantined, needs attention or scanning.</a:t>
            </a:r>
          </a:p>
          <a:p>
            <a:r>
              <a:t>2. Scanned before anyone opens it: Each attachment is malware-scanned; anything suspicious is quarantined and never previewed.</a:t>
            </a:r>
          </a:p>
          <a:p>
            <a:r>
              <a:t>3. Provenance and fingerprints: Sender, recipient, sizes and a SHA-256 hash of the original, recorded and immutable.</a:t>
            </a:r>
          </a:p>
          <a:p/>
          <a:p>
            <a:r>
              <a:t>Why it matters: Untrusted documents are handled as untrusted data, and you can always prove what arrived, when, and from whom.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Values read from the document, checked by a person</a:t>
            </a:r>
          </a:p>
          <a:p/>
          <a:p>
            <a:r>
              <a:t>Every value carries its evidence, a confidence level and a one-click way to confirm or correct it.</a:t>
            </a:r>
          </a:p>
          <a:p/>
          <a:p>
            <a:r>
              <a:t>Walk through:</a:t>
            </a:r>
          </a:p>
          <a:p>
            <a:r>
              <a:t>1. Warnings that need a human: Bank details on a document and other risk signals are flagged and must be acknowledged by a person.</a:t>
            </a:r>
          </a:p>
          <a:p>
            <a:r>
              <a:t>2. The original, side by side: A safe in-browser preview with scripting disabled, served by short-lived signed links.</a:t>
            </a:r>
          </a:p>
          <a:p>
            <a:r>
              <a:t>3. Blockers before acceptance: Everything that stops the reading being accepted, listed in plain language.</a:t>
            </a:r>
          </a:p>
          <a:p>
            <a:r>
              <a:t>4. Confidence and evidence per field: Show on the document, mark as correct, or change it with a reason.</a:t>
            </a:r>
          </a:p>
          <a:p/>
          <a:p>
            <a:r>
              <a:t>Why it matters: Automation removes re-keying, but a named person still accepts the reading, so nothing a model proposes reaches the ledger unchecked.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Permission to spend, requested before the money is committed</a:t>
            </a:r>
          </a:p>
          <a:p/>
          <a:p>
            <a:r>
              <a:t>A requester raises an estimate blank or from an accepted document and sees its route before sending it.</a:t>
            </a:r>
          </a:p>
          <a:p/>
          <a:p>
            <a:r>
              <a:t>Walk through:</a:t>
            </a:r>
          </a:p>
          <a:p>
            <a:r>
              <a:t>1. Views built around the job: My drafts, mine awaiting approval, everything I raised.</a:t>
            </a:r>
          </a:p>
          <a:p>
            <a:r>
              <a:t>2. Who it is waiting on: The live approval step for every request that is still moving.</a:t>
            </a:r>
          </a:p>
          <a:p>
            <a:r>
              <a:t>3. Clear status: Draft, pending approval, approved, rejected, always as a labelled pill.</a:t>
            </a:r>
          </a:p>
          <a:p>
            <a:r>
              <a:t>4. Raise in one click: Start blank, or from a quotation already read and accepted in Documents.</a:t>
            </a:r>
          </a:p>
          <a:p/>
          <a:p>
            <a:r>
              <a:t>Why it matters: Requesters stop chasing approvers by email, because the request itself says where it is and what it is waiting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single queue for approvers, and a decision with context</a:t>
            </a:r>
          </a:p>
          <a:p/>
          <a:p>
            <a:r>
              <a:t>Estimates, invoices and purchase orders routed to this approver, oldest first.</a:t>
            </a:r>
          </a:p>
          <a:p/>
          <a:p>
            <a:r>
              <a:t>Walk through:</a:t>
            </a:r>
          </a:p>
          <a:p>
            <a:r>
              <a:t>1. Only what is theirs now: A step whose turn has not come is not offered, so the queue is always actionable.</a:t>
            </a:r>
          </a:p>
          <a:p>
            <a:r>
              <a:t>2. The route, visible: Each level in order, who is waiting, and whose turn it is.</a:t>
            </a:r>
          </a:p>
          <a:p>
            <a:r>
              <a:t>3. A recorded decision: Approve or reject; a rejection needs a reason. Name and time are fixed to the step.</a:t>
            </a:r>
          </a:p>
          <a:p/>
          <a:p>
            <a:r>
              <a:t>Why it matters: Approvers act faster and with less risk: the right person, at the right level, with the record in front of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Commitments suppliers can bill against, with live capacity</a:t>
            </a:r>
          </a:p>
          <a:p/>
          <a:p>
            <a:r>
              <a:t>Orders are required above a configurable threshold (initially JMD 50,000) and approved through the same matrix.</a:t>
            </a:r>
          </a:p>
          <a:p/>
          <a:p>
            <a:r>
              <a:t>Walk through:</a:t>
            </a:r>
          </a:p>
          <a:p>
            <a:r>
              <a:t>1. A register of commitments: Open, awaiting approval and closed orders, with what remains to bill on each.</a:t>
            </a:r>
          </a:p>
          <a:p>
            <a:r>
              <a:t>2. What is left, derived: Committed, billed so far and still available, calculated from the invoices linked to it.</a:t>
            </a:r>
          </a:p>
          <a:p>
            <a:r>
              <a:t>3. Overruns refused: An invoice that would exceed the order is stopped, with the shortfall named.</a:t>
            </a:r>
          </a:p>
          <a:p/>
          <a:p>
            <a:r>
              <a:t>Why it matters: Committed spend is controlled before the invoice arrives, not discovered after it is paid.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supplier bill, what it is billed against, and who acts next</a:t>
            </a:r>
          </a:p>
          <a:p/>
          <a:p>
            <a:r>
              <a:t>Headline figures are counted across the whole register, not just the page on screen.</a:t>
            </a:r>
          </a:p>
          <a:p/>
          <a:p>
            <a:r>
              <a:t>Walk through:</a:t>
            </a:r>
          </a:p>
          <a:p>
            <a:r>
              <a:t>1. Register-wide figures: Total invoices, outstanding to pay, settled and pending, from one aggregate.</a:t>
            </a:r>
          </a:p>
          <a:p>
            <a:r>
              <a:t>2. Waiting on, and overdue: The person or step it is waiting on, with overdue and incomplete items flagged.</a:t>
            </a:r>
          </a:p>
          <a:p>
            <a:r>
              <a:t>3. Status and owner: Workflow state and the requester accountable for confirming receipt.</a:t>
            </a:r>
          </a:p>
          <a:p/>
          <a:p>
            <a:r>
              <a:t>Why it matters: Accounts payable sees at a glance what is stuck, what is late and who can unblock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Nothing is paid until someone outside finance confirms it arrived</a:t>
            </a:r>
          </a:p>
          <a:p/>
          <a:p>
            <a:r>
              <a:t>The invoice itself lists every reason it cannot move yet, and the server enforces the same list.</a:t>
            </a:r>
          </a:p>
          <a:p/>
          <a:p>
            <a:r>
              <a:t>Walk through:</a:t>
            </a:r>
          </a:p>
          <a:p>
            <a:r>
              <a:t>1. Receipt confirmation: A named requester is asked to confirm the goods or services, and reminded every three working hours.</a:t>
            </a:r>
          </a:p>
          <a:p>
            <a:r>
              <a:t>2. Billed against: Linked estimate or purchase order, with any overrun measured against a configurable tolerance.</a:t>
            </a:r>
          </a:p>
          <a:p>
            <a:r>
              <a:t>3. Approval route: Worked out from the amount and cost centre, shown before it starts.</a:t>
            </a:r>
          </a:p>
          <a:p>
            <a:r>
              <a:t>4. Due-date pressure: Overdue invoices are called out where they are listed and where they are opened.</a:t>
            </a:r>
          </a:p>
          <a:p/>
          <a:p>
            <a:r>
              <a:t>Why it matters: Duplicate invoice numbers from the same supplier are refused by the database itself, so the most expensive mistake in accounts payable cannot happen by accident.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Approved invoices gathered, sent once, and fingerprinted</a:t>
            </a:r>
          </a:p>
          <a:p/>
          <a:p>
            <a:r>
              <a:t>Assembling, submitting and marking paid are separate permissions held by different people.</a:t>
            </a:r>
          </a:p>
          <a:p/>
          <a:p>
            <a:r>
              <a:t>Walk through:</a:t>
            </a:r>
          </a:p>
          <a:p>
            <a:r>
              <a:t>1. Being assembled, or sent: Open packages lead; totals are kept per currency and never added across currencies.</a:t>
            </a:r>
          </a:p>
          <a:p>
            <a:r>
              <a:t>2. The file the bank received: A deterministic manifest with a SHA-256 fingerprint recorded at submission.</a:t>
            </a:r>
          </a:p>
          <a:p>
            <a:r>
              <a:t>3. Evidence of submission: Bank reference, who sent it and when: what a payment is traced back to.</a:t>
            </a:r>
          </a:p>
          <a:p/>
          <a:p>
            <a:r>
              <a:t>Why it matters: The same invoice cannot enter two packages, and nobody can both send money and declare it received.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supplier's answer is a claim; a person here concludes</a:t>
            </a:r>
          </a:p>
          <a:p/>
          <a:p>
            <a:r>
              <a:t>After a package is sent, each supplier is asked whether the money arrived, by secure link or recorded by phone.</a:t>
            </a:r>
          </a:p>
          <a:p/>
          <a:p>
            <a:r>
              <a:t>Walk through:</a:t>
            </a:r>
          </a:p>
          <a:p>
            <a:r>
              <a:t>1. Whose turn is it?: Needs a decision, out with suppliers, or concluded, with the amount for each supplier.</a:t>
            </a:r>
          </a:p>
          <a:p>
            <a:r>
              <a:t>2. Every step, a separate fact: Sent to bank, supplier asked, supplier answered, checked here, settled.</a:t>
            </a:r>
          </a:p>
          <a:p>
            <a:r>
              <a:t>3. Concluding is segregated: Only someone who holds 'mark paid', and did not submit the package, can conclude.</a:t>
            </a:r>
          </a:p>
          <a:p/>
          <a:p>
            <a:r>
              <a:t>Why it matters: Paid means confirmed paid. A supplier saying so never turns an invoice green on its 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Statements imported, coded, receipted and closed</a:t>
            </a:r>
          </a:p>
          <a:p/>
          <a:p>
            <a:r>
              <a:t>Import a statement CSV into a period; code each line to a GL account and cost centre; match or waive receipts.</a:t>
            </a:r>
          </a:p>
          <a:p/>
          <a:p>
            <a:r>
              <a:t>Walk through:</a:t>
            </a:r>
          </a:p>
          <a:p>
            <a:r>
              <a:t>1. Progress, at a glance: Lines, period and what is still waiting, such as lines that need coding.</a:t>
            </a:r>
          </a:p>
          <a:p>
            <a:r>
              <a:t>2. Coding per line: GL account and cost centre, or an exception, with assistive suggestions kept beside the applied values.</a:t>
            </a:r>
          </a:p>
          <a:p>
            <a:r>
              <a:t>3. Receipts matched or waived: A waiver needs a reason, and is recorded against the person who gave it.</a:t>
            </a:r>
          </a:p>
          <a:p/>
          <a:p>
            <a:r>
              <a:t>Why it matters: The person who coded a period cannot close it, so reconciliation is reviewed by design, not by habit.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Unpaid commitments proposed, reviewed, locked and exported</a:t>
            </a:r>
          </a:p>
          <a:p/>
          <a:p>
            <a:r>
              <a:t>Open a period, generate candidates from unpaid invoices, adjust with a reason, finalise and lock.</a:t>
            </a:r>
          </a:p>
          <a:p/>
          <a:p>
            <a:r>
              <a:t>Walk through:</a:t>
            </a:r>
          </a:p>
          <a:p>
            <a:r>
              <a:t>1. Generated, not assembled by hand: Candidates come from the invoices still owed at period end.</a:t>
            </a:r>
          </a:p>
          <a:p>
            <a:r>
              <a:t>2. A decision per line: Each candidate is finalised or excluded; edits require a reason.</a:t>
            </a:r>
          </a:p>
          <a:p>
            <a:r>
              <a:t>3. Versioned exports: Draft CSV and XLSX for review; official exports are the signed-off version.</a:t>
            </a:r>
          </a:p>
          <a:p/>
          <a:p>
            <a:r>
              <a:t>Why it matters: Month-end becomes a controlled, repeatable process, and locking is segregated from editing.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 append-only, hash-chained record of every decision</a:t>
            </a:r>
          </a:p>
          <a:p/>
          <a:p>
            <a:r>
              <a:t>Auditors read everything and change nothing, and can prove the history has not been rewritten.</a:t>
            </a:r>
          </a:p>
          <a:p/>
          <a:p>
            <a:r>
              <a:t>Walk through:</a:t>
            </a:r>
          </a:p>
          <a:p>
            <a:r>
              <a:t>1. Filter by action and subject: Find every export, configuration change or decision on a record.</a:t>
            </a:r>
          </a:p>
          <a:p>
            <a:r>
              <a:t>2. Who, what, when: Actor, action, record and exact UTC time for every entry, in sequence.</a:t>
            </a:r>
          </a:p>
          <a:p>
            <a:r>
              <a:t>3. Tamper-evident hashes: Each entry is chained to the one before; any edit breaks the chain.</a:t>
            </a:r>
          </a:p>
          <a:p>
            <a:r>
              <a:t>4. Verify the chain: One click re-computes the chain over any range and reports the result.</a:t>
            </a:r>
          </a:p>
          <a:p/>
          <a:p>
            <a:r>
              <a:t>Why it matters: Audit preparation stops being an archaeology exercise: the evidence already exists, in order, and can be verified.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platform tells you when it needs attention</a:t>
            </a:r>
          </a:p>
          <a:p/>
          <a:p>
            <a:r>
              <a:t>Live status of every dependency and of the mailbox pipeline, in plain language.</a:t>
            </a:r>
          </a:p>
          <a:p/>
          <a:p>
            <a:r>
              <a:t>Walk through:</a:t>
            </a:r>
          </a:p>
          <a:p>
            <a:r>
              <a:t>1. Plain-language impact: Each service says what stops if it fails, and that queued work resumes.</a:t>
            </a:r>
          </a:p>
          <a:p>
            <a:r>
              <a:t>2. Fail closed: If the malware scanner is down, intake stops accepting attachments rather than skipping the scan.</a:t>
            </a:r>
          </a:p>
          <a:p>
            <a:r>
              <a:t>3. Mailbox checkpoints: Last poll, failures, quarantine and oldest unresolved item for every mailbox.</a:t>
            </a:r>
          </a:p>
          <a:p/>
          <a:p>
            <a:r>
              <a:t>Why it matters: Operations can prove the pipeline is healthy, and act before a stalled mailbox becomes a late payment.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Management visibility, from live records</a:t>
            </a:r>
          </a:p>
          <a:p/>
          <a:p>
            <a:r>
              <a:t>The dashboard for day-to-day oversight; the reports hub for audited exports.</a:t>
            </a:r>
          </a:p>
          <a:p/>
          <a:p>
            <a:r>
              <a:t>Walk through:</a:t>
            </a:r>
          </a:p>
          <a:p>
            <a:r>
              <a:t>1. Work by type: Everything waiting, split by kind, one click from each item.</a:t>
            </a:r>
          </a:p>
          <a:p>
            <a:r>
              <a:t>2. Recent activity: What changed most recently, with amounts and who it concerns.</a:t>
            </a:r>
          </a:p>
          <a:p>
            <a:r>
              <a:t>3. Audited exports: Audit trail, payment manifests, accrual packs and card periods; every download is recorded.</a:t>
            </a:r>
          </a:p>
          <a:p/>
          <a:p>
            <a:r>
              <a:t>Why it matters: Reporting is permission-aware: each person sees only the reports their role may open.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Routing rules your administrators own</a:t>
            </a:r>
          </a:p>
          <a:p/>
          <a:p>
            <a:r>
              <a:t>Rules are data, not code. Changing one retires it and writes a successor, so past approvals stay explicable.</a:t>
            </a:r>
          </a:p>
          <a:p/>
          <a:p>
            <a:r>
              <a:t>Walk through:</a:t>
            </a:r>
          </a:p>
          <a:p>
            <a:r>
              <a:t>1. Per record type: Separate matrices for estimates, invoices and purchase orders.</a:t>
            </a:r>
          </a:p>
          <a:p>
            <a:r>
              <a:t>2. Coherence checked first: Overlaps, gaps and unstaffed levels are named before the rules are listed.</a:t>
            </a:r>
          </a:p>
          <a:p>
            <a:r>
              <a:t>3. Live rules: Band, currency, required level and step; replace or retire with a reason.</a:t>
            </a:r>
          </a:p>
          <a:p>
            <a:r>
              <a:t>4. Route simulator: Type any amount and see exactly who would have to approve it.</a:t>
            </a:r>
          </a:p>
          <a:p/>
          <a:p>
            <a:r>
              <a:t>Why it matters: Policy changes take effect on the next submission without a deployment, and in-flight records keep the route they were given.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Users, roles, approvers and cover while away</a:t>
            </a:r>
          </a:p>
          <a:p/>
          <a:p>
            <a:r>
              <a:t>Role combinations that would break segregation of duties are refused at the moment they are granted.</a:t>
            </a:r>
          </a:p>
          <a:p/>
          <a:p>
            <a:r>
              <a:t>Walk through:</a:t>
            </a:r>
          </a:p>
          <a:p>
            <a:r>
              <a:t>1. Accounts and roles: Create accounts, grant or revoke roles, deactivate with a reason.</a:t>
            </a:r>
          </a:p>
          <a:p>
            <a:r>
              <a:t>2. Levels staffed: Who holds Unit Head, Manager, Head of Department and COO, and where.</a:t>
            </a:r>
          </a:p>
          <a:p>
            <a:r>
              <a:t>3. Cover while away: Approvers arrange their own cover; administrators can arrange it for someone already absent.</a:t>
            </a:r>
          </a:p>
          <a:p/>
          <a:p>
            <a:r>
              <a:t>Why it matters: Absence stops being the reason a queue stalls, without weakening who may approve what.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same platform on a phone, for approvals on the move</a:t>
            </a:r>
          </a:p>
          <a:p/>
          <a:p>
            <a:r>
              <a:t>Walk through:</a:t>
            </a:r>
          </a:p>
          <a:p>
            <a:r>
              <a:t>1. Built to accessibility standards: Labelled controls, status never shown by colour alone, headings in order, visible keyboard focus.</a:t>
            </a:r>
          </a:p>
          <a:p>
            <a:r>
              <a:t>2. Approve from anywhere: Queues, records and decisions work at phone width without sideways scrolling.</a:t>
            </a:r>
          </a:p>
          <a:p>
            <a:r>
              <a:t>3. Motion with restraint: The animated flow respects the device's reduced-motion setting.</a:t>
            </a:r>
          </a:p>
          <a:p/>
          <a:p>
            <a:r>
              <a:t>Why it matters: Approvers are rarely at their desk; decisions should not wait for them to be.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1.xml"/><Relationship Id="rId5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2.xml"/><Relationship Id="rId5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3.xml"/><Relationship Id="rId6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notesSlide" Target="../notesSlides/notesSlide4.xml"/><Relationship Id="rId6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10.png"/><Relationship Id="rId4" Type="http://schemas.openxmlformats.org/officeDocument/2006/relationships/notesSlide" Target="../notesSlides/notesSlide5.xml"/><Relationship Id="rId5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11.png"/><Relationship Id="rId4" Type="http://schemas.openxmlformats.org/officeDocument/2006/relationships/notesSlide" Target="../notesSlides/notesSlide6.xml"/><Relationship Id="rId5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notesSlide" Target="../notesSlides/notesSlide7.xml"/><Relationship Id="rId6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notesSlide" Target="../notesSlides/notesSlide8.xml"/><Relationship Id="rId6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16.png"/><Relationship Id="rId4" Type="http://schemas.openxmlformats.org/officeDocument/2006/relationships/notesSlide" Target="../notesSlides/notesSlide9.xml"/><Relationship Id="rId5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17.png"/><Relationship Id="rId4" Type="http://schemas.openxmlformats.org/officeDocument/2006/relationships/notesSlide" Target="../notesSlides/notesSlide10.xml"/><Relationship Id="rId5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notesSlide" Target="../notesSlides/notesSlide11.xml"/><Relationship Id="rId6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notesSlide" Target="../notesSlides/notesSlide12.xml"/><Relationship Id="rId6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2.png"/><Relationship Id="rId4" Type="http://schemas.openxmlformats.org/officeDocument/2006/relationships/notesSlide" Target="../notesSlides/notesSlide13.xml"/><Relationship Id="rId5" Type="http://schemas.openxmlformats.org/officeDocument/2006/relationships/image" Target="../media/image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3.png"/><Relationship Id="rId4" Type="http://schemas.openxmlformats.org/officeDocument/2006/relationships/notesSlide" Target="../notesSlides/notesSlide14.xml"/><Relationship Id="rId5" Type="http://schemas.openxmlformats.org/officeDocument/2006/relationships/image" Target="../media/image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4.png"/><Relationship Id="rId4" Type="http://schemas.openxmlformats.org/officeDocument/2006/relationships/notesSlide" Target="../notesSlides/notesSlide15.xml"/><Relationship Id="rId5" Type="http://schemas.openxmlformats.org/officeDocument/2006/relationships/image" Target="../media/image2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notesSlide" Target="../notesSlides/notesSlide16.xml"/><Relationship Id="rId6" Type="http://schemas.openxmlformats.org/officeDocument/2006/relationships/image" Target="../media/image2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notesSlide" Target="../notesSlides/notesSlide17.xml"/><Relationship Id="rId6" Type="http://schemas.openxmlformats.org/officeDocument/2006/relationships/image" Target="../media/image2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9.png"/><Relationship Id="rId4" Type="http://schemas.openxmlformats.org/officeDocument/2006/relationships/notesSlide" Target="../notesSlides/notesSlide18.xml"/><Relationship Id="rId5" Type="http://schemas.openxmlformats.org/officeDocument/2006/relationships/image" Target="../media/image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notesSlide" Target="../notesSlides/notesSlide19.xml"/><Relationship Id="rId6" Type="http://schemas.openxmlformats.org/officeDocument/2006/relationships/image" Target="../media/image2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Relationship Id="rId6" Type="http://schemas.openxmlformats.org/officeDocument/2006/relationships/image" Target="../media/image35.png"/><Relationship Id="rId7" Type="http://schemas.openxmlformats.org/officeDocument/2006/relationships/image" Target="../media/image2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notesSlide" Target="../notesSlides/notesSlide20.xml"/><Relationship Id="rId6" Type="http://schemas.openxmlformats.org/officeDocument/2006/relationships/image" Target="../media/image2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ignin-scene.jpg"/>
          <p:cNvPicPr>
            <a:picLocks noChangeAspect="1"/>
          </p:cNvPicPr>
          <p:nvPr/>
        </p:nvPicPr>
        <p:blipFill>
          <a:blip r:embed="rId2"/>
          <a:srcRect t="262" b="26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961120" cy="6858000"/>
          </a:xfrm>
          <a:prstGeom prst="rect">
            <a:avLst/>
          </a:prstGeom>
          <a:gradFill rotWithShape="1">
            <a:gsLst>
              <a:gs pos="0">
                <a:srgbClr val="F6F9FF">
                  <a:alpha val="97000"/>
                </a:srgbClr>
              </a:gs>
              <a:gs pos="55000">
                <a:srgbClr val="F6F9FF">
                  <a:alpha val="90000"/>
                </a:srgbClr>
              </a:gs>
              <a:gs pos="100000">
                <a:srgbClr val="F6F9FF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finora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731520"/>
            <a:ext cx="566928" cy="5669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17320" y="786384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>
                <a:solidFill>
                  <a:srgbClr val="0E1A4B"/>
                </a:solidFill>
                <a:latin typeface="Segoe UI Semibold"/>
              </a:rPr>
              <a:t>Finora </a:t>
            </a:r>
            <a:r>
              <a:rPr sz="2400" b="0">
                <a:solidFill>
                  <a:srgbClr val="3569F4"/>
                </a:solidFill>
                <a:latin typeface="Segoe UI Semibold"/>
              </a:rPr>
              <a:t>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74519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3569F4"/>
                </a:solidFill>
                <a:latin typeface="Segoe UI Semibold"/>
              </a:rPr>
              <a:t>CLIENT WALKTHROUGH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658368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4400" b="0">
                <a:solidFill>
                  <a:srgbClr val="0E1A4B"/>
                </a:solidFill>
                <a:latin typeface="Segoe UI Semibold"/>
              </a:rPr>
              <a:t>From estimate</a:t>
            </a:r>
          </a:p>
          <a:p>
            <a:pPr algn="l">
              <a:lnSpc>
                <a:spcPct val="95000"/>
              </a:lnSpc>
            </a:pPr>
            <a:r>
              <a:rPr sz="4400" b="0">
                <a:solidFill>
                  <a:srgbClr val="0E1A4B"/>
                </a:solidFill>
                <a:latin typeface="Segoe UI Semibold"/>
              </a:rPr>
              <a:t>to payment, </a:t>
            </a:r>
            <a:r>
              <a:rPr sz="4400" b="0">
                <a:solidFill>
                  <a:srgbClr val="3569F4"/>
                </a:solidFill>
                <a:latin typeface="Segoe UI Semibold"/>
              </a:rPr>
              <a:t>in flow.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931920"/>
            <a:ext cx="56692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5B6A92"/>
                </a:solidFill>
                <a:latin typeface="Segoe UI"/>
              </a:rPr>
              <a:t>A guided tour of the unified platform for intake, approvals, invoices, payments, reconciliation, reporting, audit and administration.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029200"/>
            <a:ext cx="1254556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0" bIns="0"/>
          <a:lstStyle/>
          <a:p>
            <a:pPr algn="ctr"/>
            <a:r>
              <a:rPr sz="1000">
                <a:solidFill>
                  <a:srgbClr val="3569F4"/>
                </a:solidFill>
                <a:latin typeface="Segoe UI Semibold"/>
              </a:rPr>
              <a:t>Controls first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60320" y="5029200"/>
            <a:ext cx="182514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0" bIns="0"/>
          <a:lstStyle/>
          <a:p>
            <a:pPr algn="ctr"/>
            <a:r>
              <a:rPr sz="1000">
                <a:solidFill>
                  <a:srgbClr val="3569F4"/>
                </a:solidFill>
                <a:latin typeface="Segoe UI Semibold"/>
              </a:rPr>
              <a:t>Every decision audited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5029200"/>
            <a:ext cx="2324404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0" bIns="0"/>
          <a:lstStyle/>
          <a:p>
            <a:pPr algn="ctr"/>
            <a:r>
              <a:rPr sz="1000">
                <a:solidFill>
                  <a:srgbClr val="3569F4"/>
                </a:solidFill>
                <a:latin typeface="Segoe UI Semibold"/>
              </a:rPr>
              <a:t>AI assistive, never in charge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1264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5B6A92"/>
                </a:solidFill>
                <a:latin typeface="Segoe UI"/>
              </a:rPr>
              <a:t>Product demonstration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atmosphere" descr="app-atmosphere.jpg"/>
          <p:cNvPicPr>
            <a:picLocks noChangeAspect="1"/>
          </p:cNvPicPr>
          <p:nvPr/>
        </p:nvPicPr>
        <p:blipFill>
          <a:blip r:embed="rId2"/>
          <a:srcRect t="262" b="26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3569F4"/>
                </a:solidFill>
                <a:latin typeface="Segoe UI Semibold"/>
              </a:rPr>
              <a:t>THE CLIENT JOURNEY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0E1A4B"/>
                </a:solidFill>
                <a:latin typeface="Segoe UI Semibold"/>
              </a:rPr>
              <a:t>What we will walk through today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70432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5B6A92"/>
                </a:solidFill>
                <a:latin typeface="Segoe UI"/>
              </a:rPr>
              <a:t>Nine stops, in the order money actually moves through your organisation.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74519"/>
            <a:ext cx="3566160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BE3F5"/>
            </a:solidFill>
          </a:ln>
          <a:effectLst>
            <a:outerShdw blurRad="190500" dist="38100" dir="5400000" algn="t" rotWithShape="0">
              <a:srgbClr val="2E4A9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04672" y="2112263"/>
            <a:ext cx="822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3569F4"/>
                </a:solidFill>
                <a:latin typeface="Segoe UI Semibold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2148839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0E1A4B"/>
                </a:solidFill>
                <a:latin typeface="Segoe UI Semibold"/>
              </a:rPr>
              <a:t>The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2478023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5B6A92"/>
                </a:solidFill>
                <a:latin typeface="Segoe UI"/>
              </a:rPr>
              <a:t>Why finance operations stall today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291839"/>
            <a:ext cx="3566160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BE3F5"/>
            </a:solidFill>
          </a:ln>
          <a:effectLst>
            <a:outerShdw blurRad="190500" dist="38100" dir="5400000" algn="t" rotWithShape="0">
              <a:srgbClr val="2E4A9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04672" y="3529583"/>
            <a:ext cx="822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3569F4"/>
                </a:solidFill>
                <a:latin typeface="Segoe UI Semibold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3566159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0E1A4B"/>
                </a:solidFill>
                <a:latin typeface="Segoe UI Semibold"/>
              </a:rPr>
              <a:t>The platform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3895343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5B6A92"/>
                </a:solidFill>
                <a:latin typeface="Segoe UI"/>
              </a:rPr>
              <a:t>One flow from estimate to payment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709159"/>
            <a:ext cx="3566160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BE3F5"/>
            </a:solidFill>
          </a:ln>
          <a:effectLst>
            <a:outerShdw blurRad="190500" dist="38100" dir="5400000" algn="t" rotWithShape="0">
              <a:srgbClr val="2E4A9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04672" y="4946903"/>
            <a:ext cx="822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3569F4"/>
                </a:solidFill>
                <a:latin typeface="Segoe UI Semibold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4983479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0E1A4B"/>
                </a:solidFill>
                <a:latin typeface="Segoe UI Semibold"/>
              </a:rPr>
              <a:t>People and roles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5312663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5B6A92"/>
                </a:solidFill>
                <a:latin typeface="Segoe UI"/>
              </a:rPr>
              <a:t>Who does what, and who may not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79" y="1874519"/>
            <a:ext cx="3566160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BE3F5"/>
            </a:solidFill>
          </a:ln>
          <a:effectLst>
            <a:outerShdw blurRad="190500" dist="38100" dir="5400000" algn="t" rotWithShape="0">
              <a:srgbClr val="2E4A9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4553711" y="2112263"/>
            <a:ext cx="822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3569F4"/>
                </a:solidFill>
                <a:latin typeface="Segoe UI Semibold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49239" y="2148839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0E1A4B"/>
                </a:solidFill>
                <a:latin typeface="Segoe UI Semibold"/>
              </a:rPr>
              <a:t>Intake to record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49239" y="2478023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5B6A92"/>
                </a:solidFill>
                <a:latin typeface="Segoe UI"/>
              </a:rPr>
              <a:t>Email and uploads become checked data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79" y="3291839"/>
            <a:ext cx="3566160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BE3F5"/>
            </a:solidFill>
          </a:ln>
          <a:effectLst>
            <a:outerShdw blurRad="190500" dist="38100" dir="5400000" algn="t" rotWithShape="0">
              <a:srgbClr val="2E4A9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4553711" y="3529583"/>
            <a:ext cx="822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3569F4"/>
                </a:solidFill>
                <a:latin typeface="Segoe UI Semibold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49239" y="3566159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0E1A4B"/>
                </a:solidFill>
                <a:latin typeface="Segoe UI Semibold"/>
              </a:rPr>
              <a:t>Approve spend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49239" y="3895343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5B6A92"/>
                </a:solidFill>
                <a:latin typeface="Segoe UI"/>
              </a:rPr>
              <a:t>Estimates, approvals and purchase orders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97679" y="4709159"/>
            <a:ext cx="3566160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BE3F5"/>
            </a:solidFill>
          </a:ln>
          <a:effectLst>
            <a:outerShdw blurRad="190500" dist="38100" dir="5400000" algn="t" rotWithShape="0">
              <a:srgbClr val="2E4A9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553711" y="4946903"/>
            <a:ext cx="822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3569F4"/>
                </a:solidFill>
                <a:latin typeface="Segoe UI Semibold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49239" y="4983479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0E1A4B"/>
                </a:solidFill>
                <a:latin typeface="Segoe UI Semibold"/>
              </a:rPr>
              <a:t>Invoice to payment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49239" y="5312663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5B6A92"/>
                </a:solidFill>
                <a:latin typeface="Segoe UI"/>
              </a:rPr>
              <a:t>Receipt, approval, bank and supplier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46718" y="1874519"/>
            <a:ext cx="3566160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BE3F5"/>
            </a:solidFill>
          </a:ln>
          <a:effectLst>
            <a:outerShdw blurRad="190500" dist="38100" dir="5400000" algn="t" rotWithShape="0">
              <a:srgbClr val="2E4A9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302750" y="2112263"/>
            <a:ext cx="822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3569F4"/>
                </a:solidFill>
                <a:latin typeface="Segoe UI Semibold"/>
              </a:rPr>
              <a:t>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98278" y="2148839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0E1A4B"/>
                </a:solidFill>
                <a:latin typeface="Segoe UI Semibold"/>
              </a:rPr>
              <a:t>Reconcile and close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98278" y="2478023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5B6A92"/>
                </a:solidFill>
                <a:latin typeface="Segoe UI"/>
              </a:rPr>
              <a:t>Credit cards and month-end accruals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46718" y="3291839"/>
            <a:ext cx="3566160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BE3F5"/>
            </a:solidFill>
          </a:ln>
          <a:effectLst>
            <a:outerShdw blurRad="190500" dist="38100" dir="5400000" algn="t" rotWithShape="0">
              <a:srgbClr val="2E4A9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8302750" y="3529583"/>
            <a:ext cx="822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3569F4"/>
                </a:solidFill>
                <a:latin typeface="Segoe UI Semibold"/>
              </a:rPr>
              <a:t>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98278" y="3566159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0E1A4B"/>
                </a:solidFill>
                <a:latin typeface="Segoe UI Semibold"/>
              </a:rPr>
              <a:t>Control and oversight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98278" y="3895343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5B6A92"/>
                </a:solidFill>
                <a:latin typeface="Segoe UI"/>
              </a:rPr>
              <a:t>Segregation, audit and operations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46718" y="4709159"/>
            <a:ext cx="3566160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BE3F5"/>
            </a:solidFill>
          </a:ln>
          <a:effectLst>
            <a:outerShdw blurRad="190500" dist="38100" dir="5400000" algn="t" rotWithShape="0">
              <a:srgbClr val="2E4A9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8302750" y="4946903"/>
            <a:ext cx="822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3569F4"/>
                </a:solidFill>
                <a:latin typeface="Segoe UI Semibold"/>
              </a:rPr>
              <a:t>09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98278" y="4983479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0E1A4B"/>
                </a:solidFill>
                <a:latin typeface="Segoe UI Semibold"/>
              </a:rPr>
              <a:t>Visibility and admin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98278" y="5312663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5B6A92"/>
                </a:solidFill>
                <a:latin typeface="Segoe UI"/>
              </a:rPr>
              <a:t>Reporting, configuration and value</a:t>
            </a:r>
          </a:p>
        </p:txBody>
      </p:sp>
      <p:pic>
        <p:nvPicPr>
          <p:cNvPr id="43" name="Picture 42" descr="finora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19088"/>
            <a:ext cx="201168" cy="201168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822960" y="6437376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0E1A4B"/>
                </a:solidFill>
                <a:latin typeface="Segoe UI Semibold"/>
              </a:rPr>
              <a:t>Finora Flow</a:t>
            </a:r>
            <a:r>
              <a:rPr sz="900" b="0">
                <a:solidFill>
                  <a:srgbClr val="5B6A92"/>
                </a:solidFill>
                <a:latin typeface="Segoe UI"/>
              </a:rPr>
              <a:t>   ·   Client walkthrough   ·   Agenda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881360" y="6437376"/>
            <a:ext cx="7589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B6A92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atmosphere" descr="app-atmosphere.jpg"/>
          <p:cNvPicPr>
            <a:picLocks noChangeAspect="1"/>
          </p:cNvPicPr>
          <p:nvPr/>
        </p:nvPicPr>
        <p:blipFill>
          <a:blip r:embed="rId2"/>
          <a:srcRect t="262" b="26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3569F4"/>
                </a:solidFill>
                <a:latin typeface="Segoe UI Semibold"/>
              </a:rPr>
              <a:t>01 · THE BUSINESS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0E1A4B"/>
                </a:solidFill>
                <a:latin typeface="Segoe UI Semibold"/>
              </a:rPr>
              <a:t>Finance work is scattered, slow and hard to 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70432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5B6A92"/>
                </a:solidFill>
                <a:latin typeface="Segoe UI"/>
              </a:rPr>
              <a:t>Most accounts-payable teams run on inboxes, spreadsheets and chasing. That costs time, control and confidence.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3563112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BE3F5"/>
            </a:solidFill>
          </a:ln>
          <a:effectLst>
            <a:outerShdw blurRad="190500" dist="38100" dir="5400000" algn="t" rotWithShape="0">
              <a:srgbClr val="2E4A9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749808" y="2048256"/>
            <a:ext cx="329184" cy="54864"/>
          </a:xfrm>
          <a:prstGeom prst="roundRect">
            <a:avLst>
              <a:gd name="adj" fmla="val 50000"/>
            </a:avLst>
          </a:prstGeom>
          <a:solidFill>
            <a:srgbClr val="E0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49808" y="2176272"/>
            <a:ext cx="31607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E06A2C"/>
                </a:solidFill>
                <a:latin typeface="Segoe UI Semibold"/>
              </a:rPr>
              <a:t>INTAKE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395728"/>
            <a:ext cx="316077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0E1A4B"/>
                </a:solidFill>
                <a:latin typeface="Segoe UI Semibold"/>
              </a:rPr>
              <a:t>Documents arrive everywhere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743200"/>
            <a:ext cx="3160776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sz="1050" b="0">
                <a:solidFill>
                  <a:srgbClr val="5B6A92"/>
                </a:solidFill>
                <a:latin typeface="Segoe UI"/>
              </a:rPr>
              <a:t>Quotes and invoices land in personal inboxes, get re-keyed by hand and lose their provenance on the way.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2920" y="1828800"/>
            <a:ext cx="3563112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BE3F5"/>
            </a:solidFill>
          </a:ln>
          <a:effectLst>
            <a:outerShdw blurRad="190500" dist="38100" dir="5400000" algn="t" rotWithShape="0">
              <a:srgbClr val="2E4A9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4514088" y="2048256"/>
            <a:ext cx="329184" cy="54864"/>
          </a:xfrm>
          <a:prstGeom prst="roundRect">
            <a:avLst>
              <a:gd name="adj" fmla="val 50000"/>
            </a:avLst>
          </a:prstGeom>
          <a:solidFill>
            <a:srgbClr val="E0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514088" y="2176272"/>
            <a:ext cx="31607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E06A2C"/>
                </a:solidFill>
                <a:latin typeface="Segoe UI Semibold"/>
              </a:rPr>
              <a:t>APPROVALS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4088" y="2395728"/>
            <a:ext cx="316077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0E1A4B"/>
                </a:solidFill>
                <a:latin typeface="Segoe UI Semibold"/>
              </a:rPr>
              <a:t>Approvals stall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14088" y="2743200"/>
            <a:ext cx="3160776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sz="1050" b="0">
                <a:solidFill>
                  <a:srgbClr val="5B6A92"/>
                </a:solidFill>
                <a:latin typeface="Segoe UI"/>
              </a:rPr>
              <a:t>Nobody can see who holds a request, how long it has waited, or whether the right level signed it.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77200" y="1828800"/>
            <a:ext cx="3563112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BE3F5"/>
            </a:solidFill>
          </a:ln>
          <a:effectLst>
            <a:outerShdw blurRad="190500" dist="38100" dir="5400000" algn="t" rotWithShape="0">
              <a:srgbClr val="2E4A9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8278368" y="2048256"/>
            <a:ext cx="329184" cy="54864"/>
          </a:xfrm>
          <a:prstGeom prst="roundRect">
            <a:avLst>
              <a:gd name="adj" fmla="val 50000"/>
            </a:avLst>
          </a:prstGeom>
          <a:solidFill>
            <a:srgbClr val="E0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278368" y="2176272"/>
            <a:ext cx="31607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E06A2C"/>
                </a:solidFill>
                <a:latin typeface="Segoe UI Semibold"/>
              </a:rPr>
              <a:t>RECEIPT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8368" y="2395728"/>
            <a:ext cx="316077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0E1A4B"/>
                </a:solidFill>
                <a:latin typeface="Segoe UI Semibold"/>
              </a:rPr>
              <a:t>Paying before receiving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8368" y="2743200"/>
            <a:ext cx="3160776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sz="1050" b="0">
                <a:solidFill>
                  <a:srgbClr val="5B6A92"/>
                </a:solidFill>
                <a:latin typeface="Segoe UI"/>
              </a:rPr>
              <a:t>Invoices get paid without anyone outside finance confirming the goods or services actually arrived.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041648"/>
            <a:ext cx="3563112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BE3F5"/>
            </a:solidFill>
          </a:ln>
          <a:effectLst>
            <a:outerShdw blurRad="190500" dist="38100" dir="5400000" algn="t" rotWithShape="0">
              <a:srgbClr val="2E4A9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ounded Rectangle 22"/>
          <p:cNvSpPr/>
          <p:nvPr/>
        </p:nvSpPr>
        <p:spPr>
          <a:xfrm>
            <a:off x="749808" y="4261104"/>
            <a:ext cx="329184" cy="54864"/>
          </a:xfrm>
          <a:prstGeom prst="roundRect">
            <a:avLst>
              <a:gd name="adj" fmla="val 50000"/>
            </a:avLst>
          </a:prstGeom>
          <a:solidFill>
            <a:srgbClr val="E0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49808" y="4389120"/>
            <a:ext cx="31607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E06A2C"/>
                </a:solidFill>
                <a:latin typeface="Segoe UI Semibold"/>
              </a:rPr>
              <a:t>CONTROLS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4608576"/>
            <a:ext cx="316077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0E1A4B"/>
                </a:solidFill>
                <a:latin typeface="Segoe UI Semibold"/>
              </a:rPr>
              <a:t>Duplicates and overruns slip through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4956048"/>
            <a:ext cx="3160776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sz="1050" b="0">
                <a:solidFill>
                  <a:srgbClr val="5B6A92"/>
                </a:solidFill>
                <a:latin typeface="Segoe UI"/>
              </a:rPr>
              <a:t>The same invoice paid twice, or spend quietly exceeding what was approved or ordered.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12920" y="4041648"/>
            <a:ext cx="3563112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BE3F5"/>
            </a:solidFill>
          </a:ln>
          <a:effectLst>
            <a:outerShdw blurRad="190500" dist="38100" dir="5400000" algn="t" rotWithShape="0">
              <a:srgbClr val="2E4A9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ounded Rectangle 27"/>
          <p:cNvSpPr/>
          <p:nvPr/>
        </p:nvSpPr>
        <p:spPr>
          <a:xfrm>
            <a:off x="4514088" y="4261104"/>
            <a:ext cx="329184" cy="54864"/>
          </a:xfrm>
          <a:prstGeom prst="roundRect">
            <a:avLst>
              <a:gd name="adj" fmla="val 50000"/>
            </a:avLst>
          </a:prstGeom>
          <a:solidFill>
            <a:srgbClr val="E0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4514088" y="4389120"/>
            <a:ext cx="31607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E06A2C"/>
                </a:solidFill>
                <a:latin typeface="Segoe UI Semibold"/>
              </a:rPr>
              <a:t>CLOSE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14088" y="4608576"/>
            <a:ext cx="316077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0E1A4B"/>
                </a:solidFill>
                <a:latin typeface="Segoe UI Semibold"/>
              </a:rPr>
              <a:t>Month-end is a scramble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14088" y="4956048"/>
            <a:ext cx="3160776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sz="1050" b="0">
                <a:solidFill>
                  <a:srgbClr val="5B6A92"/>
                </a:solidFill>
                <a:latin typeface="Segoe UI"/>
              </a:rPr>
              <a:t>Card statements, accruals and unpaid commitments are reconciled in spreadsheets under deadline.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77200" y="4041648"/>
            <a:ext cx="3563112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BE3F5"/>
            </a:solidFill>
          </a:ln>
          <a:effectLst>
            <a:outerShdw blurRad="190500" dist="38100" dir="5400000" algn="t" rotWithShape="0">
              <a:srgbClr val="2E4A9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278368" y="4261104"/>
            <a:ext cx="329184" cy="54864"/>
          </a:xfrm>
          <a:prstGeom prst="roundRect">
            <a:avLst>
              <a:gd name="adj" fmla="val 50000"/>
            </a:avLst>
          </a:prstGeom>
          <a:solidFill>
            <a:srgbClr val="E0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278368" y="4389120"/>
            <a:ext cx="31607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E06A2C"/>
                </a:solidFill>
                <a:latin typeface="Segoe UI Semibold"/>
              </a:rPr>
              <a:t>AUDIT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78368" y="4608576"/>
            <a:ext cx="316077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0E1A4B"/>
                </a:solidFill>
                <a:latin typeface="Segoe UI Semibold"/>
              </a:rPr>
              <a:t>Hard to prove to an auditor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78368" y="4956048"/>
            <a:ext cx="3160776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sz="1050" b="0">
                <a:solidFill>
                  <a:srgbClr val="5B6A92"/>
                </a:solidFill>
                <a:latin typeface="Segoe UI"/>
              </a:rPr>
              <a:t>Decisions live in emails and memories; a change of amount or approver cannot be reconstructed.</a:t>
            </a:r>
          </a:p>
        </p:txBody>
      </p:sp>
      <p:pic>
        <p:nvPicPr>
          <p:cNvPr id="37" name="Picture 36" descr="finora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19088"/>
            <a:ext cx="201168" cy="201168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822960" y="6437376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0E1A4B"/>
                </a:solidFill>
                <a:latin typeface="Segoe UI Semibold"/>
              </a:rPr>
              <a:t>Finora Flow</a:t>
            </a:r>
            <a:r>
              <a:rPr sz="900" b="0">
                <a:solidFill>
                  <a:srgbClr val="5B6A92"/>
                </a:solidFill>
                <a:latin typeface="Segoe UI"/>
              </a:rPr>
              <a:t>   ·   Client walkthrough   ·   The business problem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881360" y="6437376"/>
            <a:ext cx="7589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B6A92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atmosphere" descr="app-atmosphere.jpg"/>
          <p:cNvPicPr>
            <a:picLocks noChangeAspect="1"/>
          </p:cNvPicPr>
          <p:nvPr/>
        </p:nvPicPr>
        <p:blipFill>
          <a:blip r:embed="rId2"/>
          <a:srcRect t="262" b="26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3569F4"/>
                </a:solidFill>
                <a:latin typeface="Segoe UI Semibold"/>
              </a:rPr>
              <a:t>02 · THE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0E1A4B"/>
                </a:solidFill>
                <a:latin typeface="Segoe UI Semibold"/>
              </a:rPr>
              <a:t>One governed flow, from the first email to the audited payment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70432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5B6A92"/>
                </a:solidFill>
                <a:latin typeface="Segoe UI"/>
              </a:rPr>
              <a:t>Finora Flow replaces fragmented tools with a single system of record for every stage of accounts payable.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2622042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BE3F5"/>
            </a:solidFill>
          </a:ln>
          <a:effectLst>
            <a:outerShdw blurRad="190500" dist="38100" dir="5400000" algn="t" rotWithShape="0">
              <a:srgbClr val="2E4A9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749808" y="2048256"/>
            <a:ext cx="329184" cy="54864"/>
          </a:xfrm>
          <a:prstGeom prst="roundRect">
            <a:avLst>
              <a:gd name="adj" fmla="val 50000"/>
            </a:avLst>
          </a:prstGeom>
          <a:solidFill>
            <a:srgbClr val="356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49808" y="2176272"/>
            <a:ext cx="221970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3569F4"/>
                </a:solidFill>
                <a:latin typeface="Segoe UI Semibold"/>
              </a:rPr>
              <a:t>UNIFIED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395728"/>
            <a:ext cx="221970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0E1A4B"/>
                </a:solidFill>
                <a:latin typeface="Segoe UI Semibold"/>
              </a:rPr>
              <a:t>One view, end to 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743200"/>
            <a:ext cx="2219706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sz="1050" b="0">
                <a:solidFill>
                  <a:srgbClr val="5B6A92"/>
                </a:solidFill>
                <a:latin typeface="Segoe UI"/>
              </a:rPr>
              <a:t>Estimate, purchase order, invoice, payment package, supplier confirmation and accrual are linked records, not separate spreadsheets.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71850" y="1828800"/>
            <a:ext cx="2622042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BE3F5"/>
            </a:solidFill>
          </a:ln>
          <a:effectLst>
            <a:outerShdw blurRad="190500" dist="38100" dir="5400000" algn="t" rotWithShape="0">
              <a:srgbClr val="2E4A9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3573018" y="2048256"/>
            <a:ext cx="329184" cy="54864"/>
          </a:xfrm>
          <a:prstGeom prst="roundRect">
            <a:avLst>
              <a:gd name="adj" fmla="val 50000"/>
            </a:avLst>
          </a:prstGeom>
          <a:solidFill>
            <a:srgbClr val="6D4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573018" y="2176272"/>
            <a:ext cx="221970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6D4CF0"/>
                </a:solidFill>
                <a:latin typeface="Segoe UI Semibold"/>
              </a:rPr>
              <a:t>GOVERNED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73018" y="2395728"/>
            <a:ext cx="221970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0E1A4B"/>
                </a:solidFill>
                <a:latin typeface="Segoe UI Semibold"/>
              </a:rPr>
              <a:t>Controls enforced by the system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73018" y="2743200"/>
            <a:ext cx="2219706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sz="1050" b="0">
                <a:solidFill>
                  <a:srgbClr val="5B6A92"/>
                </a:solidFill>
                <a:latin typeface="Segoe UI"/>
              </a:rPr>
              <a:t>Approval routes, receipt confirmation, duplicate and overrun checks and segregation of duties are enforced on the server, not by hiding buttons.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5060" y="1828800"/>
            <a:ext cx="2622042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BE3F5"/>
            </a:solidFill>
          </a:ln>
          <a:effectLst>
            <a:outerShdw blurRad="190500" dist="38100" dir="5400000" algn="t" rotWithShape="0">
              <a:srgbClr val="2E4A9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6396228" y="2048256"/>
            <a:ext cx="329184" cy="54864"/>
          </a:xfrm>
          <a:prstGeom prst="roundRect">
            <a:avLst>
              <a:gd name="adj" fmla="val 50000"/>
            </a:avLst>
          </a:prstGeom>
          <a:solidFill>
            <a:srgbClr val="16A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396228" y="2176272"/>
            <a:ext cx="221970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16A66A"/>
                </a:solidFill>
                <a:latin typeface="Segoe UI Semibold"/>
              </a:rPr>
              <a:t>AUDITABLE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96228" y="2395728"/>
            <a:ext cx="221970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0E1A4B"/>
                </a:solidFill>
                <a:latin typeface="Segoe UI Semibold"/>
              </a:rPr>
              <a:t>Every decision on the record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6228" y="2743200"/>
            <a:ext cx="2219706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sz="1050" b="0">
                <a:solidFill>
                  <a:srgbClr val="5B6A92"/>
                </a:solidFill>
                <a:latin typeface="Segoe UI"/>
              </a:rPr>
              <a:t>A tamper-evident, hash-chained audit trail records who did what, when, why, and from where.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18270" y="1828800"/>
            <a:ext cx="2622042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BE3F5"/>
            </a:solidFill>
          </a:ln>
          <a:effectLst>
            <a:outerShdw blurRad="190500" dist="38100" dir="5400000" algn="t" rotWithShape="0">
              <a:srgbClr val="2E4A9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ounded Rectangle 22"/>
          <p:cNvSpPr/>
          <p:nvPr/>
        </p:nvSpPr>
        <p:spPr>
          <a:xfrm>
            <a:off x="9219438" y="2048256"/>
            <a:ext cx="329184" cy="54864"/>
          </a:xfrm>
          <a:prstGeom prst="roundRect">
            <a:avLst>
              <a:gd name="adj" fmla="val 50000"/>
            </a:avLst>
          </a:prstGeom>
          <a:solidFill>
            <a:srgbClr val="356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219438" y="2176272"/>
            <a:ext cx="221970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3569F4"/>
                </a:solidFill>
                <a:latin typeface="Segoe UI Semibold"/>
              </a:rPr>
              <a:t>ASSISTIVE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19438" y="2395728"/>
            <a:ext cx="221970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0E1A4B"/>
                </a:solidFill>
                <a:latin typeface="Segoe UI Semibold"/>
              </a:rPr>
              <a:t>AI that assists and never decides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19438" y="2743200"/>
            <a:ext cx="2219706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sz="1050" b="0">
                <a:solidFill>
                  <a:srgbClr val="5B6A92"/>
                </a:solidFill>
                <a:latin typeface="Segoe UI"/>
              </a:rPr>
              <a:t>Readings and suggestions are grounded in the document and always reviewed by a person. It can be switched off at any time and every workflow still completes.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12064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0E1A4B"/>
                </a:solidFill>
                <a:latin typeface="Segoe UI Semibold"/>
              </a:rPr>
              <a:t>Built for your infrastructure: </a:t>
            </a:r>
            <a:r>
              <a:rPr sz="1200" b="0">
                <a:solidFill>
                  <a:srgbClr val="5B6A92"/>
                </a:solidFill>
                <a:latin typeface="Segoe UI"/>
              </a:rPr>
              <a:t>runs in Linux containers on your own network, reads a mailbox you control over IMAPS, sends through your SMTP, and signs users in with your identity provider (OIDC). No dependency on Microsoft Graph or Outlook add-ins.</a:t>
            </a:r>
          </a:p>
        </p:txBody>
      </p:sp>
      <p:pic>
        <p:nvPicPr>
          <p:cNvPr id="28" name="Picture 27" descr="finora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19088"/>
            <a:ext cx="201168" cy="20116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22960" y="6437376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0E1A4B"/>
                </a:solidFill>
                <a:latin typeface="Segoe UI Semibold"/>
              </a:rPr>
              <a:t>Finora Flow</a:t>
            </a:r>
            <a:r>
              <a:rPr sz="900" b="0">
                <a:solidFill>
                  <a:srgbClr val="5B6A92"/>
                </a:solidFill>
                <a:latin typeface="Segoe UI"/>
              </a:rPr>
              <a:t>   ·   Client walkthrough   ·   The platform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81360" y="6437376"/>
            <a:ext cx="7589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B6A92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atmosphere" descr="app-atmosphere.jpg"/>
          <p:cNvPicPr>
            <a:picLocks noChangeAspect="1"/>
          </p:cNvPicPr>
          <p:nvPr/>
        </p:nvPicPr>
        <p:blipFill>
          <a:blip r:embed="rId2"/>
          <a:srcRect t="262" b="26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3569F4"/>
                </a:solidFill>
                <a:latin typeface="Segoe UI Semibold"/>
              </a:rPr>
              <a:t>02 · THE END-TO-END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0E1A4B"/>
                </a:solidFill>
                <a:latin typeface="Segoe UI Semibold"/>
              </a:rPr>
              <a:t>How money moves through Finora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70432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5B6A92"/>
                </a:solidFill>
                <a:latin typeface="Segoe UI"/>
              </a:rPr>
              <a:t>Ten stages, each with a named owner and a control that has to be satisfied before work moves 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920240"/>
            <a:ext cx="2084831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BE3F5"/>
            </a:solidFill>
          </a:ln>
          <a:effectLst>
            <a:outerShdw blurRad="190500" dist="38100" dir="5400000" algn="t" rotWithShape="0">
              <a:srgbClr val="2E4A9A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48640" y="1920240"/>
            <a:ext cx="2084831" cy="82296"/>
          </a:xfrm>
          <a:prstGeom prst="rect">
            <a:avLst/>
          </a:prstGeom>
          <a:solidFill>
            <a:srgbClr val="356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13232" y="212140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3569F4"/>
                </a:solidFill>
                <a:latin typeface="Segoe UI Semibold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377440"/>
            <a:ext cx="1810511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0E1A4B"/>
                </a:solidFill>
                <a:latin typeface="Segoe UI Semibold"/>
              </a:rPr>
              <a:t>Capture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706624"/>
            <a:ext cx="181051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5B6A92"/>
                </a:solidFill>
                <a:latin typeface="Segoe UI"/>
              </a:rPr>
              <a:t>Email or upload, malware-scanned, stored immutably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651759" y="2532888"/>
            <a:ext cx="128016" cy="146304"/>
          </a:xfrm>
          <a:prstGeom prst="rightArrow">
            <a:avLst/>
          </a:prstGeom>
          <a:solidFill>
            <a:srgbClr val="DBE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798063" y="1920240"/>
            <a:ext cx="2084831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BE3F5"/>
            </a:solidFill>
          </a:ln>
          <a:effectLst>
            <a:outerShdw blurRad="190500" dist="38100" dir="5400000" algn="t" rotWithShape="0">
              <a:srgbClr val="2E4A9A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2798063" y="1920240"/>
            <a:ext cx="2084831" cy="82296"/>
          </a:xfrm>
          <a:prstGeom prst="rect">
            <a:avLst/>
          </a:prstGeom>
          <a:solidFill>
            <a:srgbClr val="356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2962655" y="212140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3569F4"/>
                </a:solidFill>
                <a:latin typeface="Segoe UI Semibold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62655" y="2377440"/>
            <a:ext cx="1810511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0E1A4B"/>
                </a:solidFill>
                <a:latin typeface="Segoe UI Semibold"/>
              </a:rPr>
              <a:t>Read &amp; review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62655" y="2706624"/>
            <a:ext cx="181051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5B6A92"/>
                </a:solidFill>
                <a:latin typeface="Segoe UI"/>
              </a:rPr>
              <a:t>Values extracted with evidence; a person accepts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901182" y="2532888"/>
            <a:ext cx="128016" cy="146304"/>
          </a:xfrm>
          <a:prstGeom prst="rightArrow">
            <a:avLst/>
          </a:prstGeom>
          <a:solidFill>
            <a:srgbClr val="DBE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047486" y="1920240"/>
            <a:ext cx="2084831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BE3F5"/>
            </a:solidFill>
          </a:ln>
          <a:effectLst>
            <a:outerShdw blurRad="190500" dist="38100" dir="5400000" algn="t" rotWithShape="0">
              <a:srgbClr val="2E4A9A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5047486" y="1920240"/>
            <a:ext cx="2084831" cy="82296"/>
          </a:xfrm>
          <a:prstGeom prst="rect">
            <a:avLst/>
          </a:prstGeom>
          <a:solidFill>
            <a:srgbClr val="6D4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212078" y="212140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6D4CF0"/>
                </a:solidFill>
                <a:latin typeface="Segoe UI Semibold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78" y="2377440"/>
            <a:ext cx="1810511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0E1A4B"/>
                </a:solidFill>
                <a:latin typeface="Segoe UI Semibold"/>
              </a:rPr>
              <a:t>Estimate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78" y="2706624"/>
            <a:ext cx="181051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5B6A92"/>
                </a:solidFill>
                <a:latin typeface="Segoe UI"/>
              </a:rPr>
              <a:t>Request to spend, routed by amount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7150605" y="2532888"/>
            <a:ext cx="128016" cy="146304"/>
          </a:xfrm>
          <a:prstGeom prst="rightArrow">
            <a:avLst/>
          </a:prstGeom>
          <a:solidFill>
            <a:srgbClr val="DBE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296909" y="1920240"/>
            <a:ext cx="2084831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BE3F5"/>
            </a:solidFill>
          </a:ln>
          <a:effectLst>
            <a:outerShdw blurRad="190500" dist="38100" dir="5400000" algn="t" rotWithShape="0">
              <a:srgbClr val="2E4A9A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7296909" y="1920240"/>
            <a:ext cx="2084831" cy="82296"/>
          </a:xfrm>
          <a:prstGeom prst="rect">
            <a:avLst/>
          </a:prstGeom>
          <a:solidFill>
            <a:srgbClr val="6D4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461501" y="212140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6D4CF0"/>
                </a:solidFill>
                <a:latin typeface="Segoe UI Semibold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61501" y="2377440"/>
            <a:ext cx="1810511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0E1A4B"/>
                </a:solidFill>
                <a:latin typeface="Segoe UI Semibold"/>
              </a:rPr>
              <a:t>Approve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61501" y="2706624"/>
            <a:ext cx="181051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5B6A92"/>
                </a:solidFill>
                <a:latin typeface="Segoe UI"/>
              </a:rPr>
              <a:t>Matrix-driven route, oldest first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9400028" y="2532888"/>
            <a:ext cx="128016" cy="146304"/>
          </a:xfrm>
          <a:prstGeom prst="rightArrow">
            <a:avLst/>
          </a:prstGeom>
          <a:solidFill>
            <a:srgbClr val="DBE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546332" y="1920240"/>
            <a:ext cx="2084831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BE3F5"/>
            </a:solidFill>
          </a:ln>
          <a:effectLst>
            <a:outerShdw blurRad="190500" dist="38100" dir="5400000" algn="t" rotWithShape="0">
              <a:srgbClr val="2E4A9A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9546332" y="1920240"/>
            <a:ext cx="2084831" cy="82296"/>
          </a:xfrm>
          <a:prstGeom prst="rect">
            <a:avLst/>
          </a:prstGeom>
          <a:solidFill>
            <a:srgbClr val="6D4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9710924" y="212140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6D4CF0"/>
                </a:solidFill>
                <a:latin typeface="Segoe UI Semibold"/>
              </a:rPr>
              <a:t>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10924" y="2377440"/>
            <a:ext cx="1810511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0E1A4B"/>
                </a:solidFill>
                <a:latin typeface="Segoe UI Semibold"/>
              </a:rPr>
              <a:t>Commit (PO)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10924" y="2706624"/>
            <a:ext cx="181051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5B6A92"/>
                </a:solidFill>
                <a:latin typeface="Segoe UI"/>
              </a:rPr>
              <a:t>Purchase order above the threshold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3794760"/>
            <a:ext cx="2084831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BE3F5"/>
            </a:solidFill>
          </a:ln>
          <a:effectLst>
            <a:outerShdw blurRad="190500" dist="38100" dir="5400000" algn="t" rotWithShape="0">
              <a:srgbClr val="2E4A9A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ectangle 36"/>
          <p:cNvSpPr/>
          <p:nvPr/>
        </p:nvSpPr>
        <p:spPr>
          <a:xfrm>
            <a:off x="548640" y="3794760"/>
            <a:ext cx="2084831" cy="82296"/>
          </a:xfrm>
          <a:prstGeom prst="rect">
            <a:avLst/>
          </a:prstGeom>
          <a:solidFill>
            <a:srgbClr val="16A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713232" y="399592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16A66A"/>
                </a:solidFill>
                <a:latin typeface="Segoe UI Semibold"/>
              </a:rPr>
              <a:t>06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3232" y="4251960"/>
            <a:ext cx="1810511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0E1A4B"/>
                </a:solidFill>
                <a:latin typeface="Segoe UI Semibold"/>
              </a:rPr>
              <a:t>Invoice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3232" y="4581144"/>
            <a:ext cx="181051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5B6A92"/>
                </a:solidFill>
                <a:latin typeface="Segoe UI"/>
              </a:rPr>
              <a:t>Validated, linked, duplicate-checked</a:t>
            </a:r>
          </a:p>
        </p:txBody>
      </p:sp>
      <p:sp>
        <p:nvSpPr>
          <p:cNvPr id="41" name="Right Arrow 40"/>
          <p:cNvSpPr/>
          <p:nvPr/>
        </p:nvSpPr>
        <p:spPr>
          <a:xfrm>
            <a:off x="2651759" y="4407408"/>
            <a:ext cx="128016" cy="146304"/>
          </a:xfrm>
          <a:prstGeom prst="rightArrow">
            <a:avLst/>
          </a:prstGeom>
          <a:solidFill>
            <a:srgbClr val="DBE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2798063" y="3794760"/>
            <a:ext cx="2084831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BE3F5"/>
            </a:solidFill>
          </a:ln>
          <a:effectLst>
            <a:outerShdw blurRad="190500" dist="38100" dir="5400000" algn="t" rotWithShape="0">
              <a:srgbClr val="2E4A9A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ectangle 42"/>
          <p:cNvSpPr/>
          <p:nvPr/>
        </p:nvSpPr>
        <p:spPr>
          <a:xfrm>
            <a:off x="2798063" y="3794760"/>
            <a:ext cx="2084831" cy="82296"/>
          </a:xfrm>
          <a:prstGeom prst="rect">
            <a:avLst/>
          </a:prstGeom>
          <a:solidFill>
            <a:srgbClr val="16A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2962655" y="399592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16A66A"/>
                </a:solidFill>
                <a:latin typeface="Segoe UI Semibold"/>
              </a:rPr>
              <a:t>07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962655" y="4251960"/>
            <a:ext cx="1810511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0E1A4B"/>
                </a:solidFill>
                <a:latin typeface="Segoe UI Semibold"/>
              </a:rPr>
              <a:t>Confirm receipt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962655" y="4581144"/>
            <a:ext cx="181051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5B6A92"/>
                </a:solidFill>
                <a:latin typeface="Segoe UI"/>
              </a:rPr>
              <a:t>Named person outside finance signs off</a:t>
            </a:r>
          </a:p>
        </p:txBody>
      </p:sp>
      <p:sp>
        <p:nvSpPr>
          <p:cNvPr id="47" name="Right Arrow 46"/>
          <p:cNvSpPr/>
          <p:nvPr/>
        </p:nvSpPr>
        <p:spPr>
          <a:xfrm>
            <a:off x="4901182" y="4407408"/>
            <a:ext cx="128016" cy="146304"/>
          </a:xfrm>
          <a:prstGeom prst="rightArrow">
            <a:avLst/>
          </a:prstGeom>
          <a:solidFill>
            <a:srgbClr val="DBE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5047486" y="3794760"/>
            <a:ext cx="2084831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BE3F5"/>
            </a:solidFill>
          </a:ln>
          <a:effectLst>
            <a:outerShdw blurRad="190500" dist="38100" dir="5400000" algn="t" rotWithShape="0">
              <a:srgbClr val="2E4A9A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Rectangle 48"/>
          <p:cNvSpPr/>
          <p:nvPr/>
        </p:nvSpPr>
        <p:spPr>
          <a:xfrm>
            <a:off x="5047486" y="3794760"/>
            <a:ext cx="2084831" cy="82296"/>
          </a:xfrm>
          <a:prstGeom prst="rect">
            <a:avLst/>
          </a:prstGeom>
          <a:solidFill>
            <a:srgbClr val="E0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5212078" y="399592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E06A2C"/>
                </a:solidFill>
                <a:latin typeface="Segoe UI Semibold"/>
              </a:rPr>
              <a:t>08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212078" y="4251960"/>
            <a:ext cx="1810511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0E1A4B"/>
                </a:solidFill>
                <a:latin typeface="Segoe UI Semibold"/>
              </a:rPr>
              <a:t>Pay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212078" y="4581144"/>
            <a:ext cx="181051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5B6A92"/>
                </a:solidFill>
                <a:latin typeface="Segoe UI"/>
              </a:rPr>
              <a:t>Package, manifest, bank reference</a:t>
            </a:r>
          </a:p>
        </p:txBody>
      </p:sp>
      <p:sp>
        <p:nvSpPr>
          <p:cNvPr id="53" name="Right Arrow 52"/>
          <p:cNvSpPr/>
          <p:nvPr/>
        </p:nvSpPr>
        <p:spPr>
          <a:xfrm>
            <a:off x="7150605" y="4407408"/>
            <a:ext cx="128016" cy="146304"/>
          </a:xfrm>
          <a:prstGeom prst="rightArrow">
            <a:avLst/>
          </a:prstGeom>
          <a:solidFill>
            <a:srgbClr val="DBE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7296909" y="3794760"/>
            <a:ext cx="2084831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BE3F5"/>
            </a:solidFill>
          </a:ln>
          <a:effectLst>
            <a:outerShdw blurRad="190500" dist="38100" dir="5400000" algn="t" rotWithShape="0">
              <a:srgbClr val="2E4A9A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Rectangle 54"/>
          <p:cNvSpPr/>
          <p:nvPr/>
        </p:nvSpPr>
        <p:spPr>
          <a:xfrm>
            <a:off x="7296909" y="3794760"/>
            <a:ext cx="2084831" cy="82296"/>
          </a:xfrm>
          <a:prstGeom prst="rect">
            <a:avLst/>
          </a:prstGeom>
          <a:solidFill>
            <a:srgbClr val="E0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7461501" y="399592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E06A2C"/>
                </a:solidFill>
                <a:latin typeface="Segoe UI Semibold"/>
              </a:rPr>
              <a:t>09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461501" y="4251960"/>
            <a:ext cx="1810511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0E1A4B"/>
                </a:solidFill>
                <a:latin typeface="Segoe UI Semibold"/>
              </a:rPr>
              <a:t>Confirm payment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461501" y="4581144"/>
            <a:ext cx="181051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5B6A92"/>
                </a:solidFill>
                <a:latin typeface="Segoe UI"/>
              </a:rPr>
              <a:t>Supplier asked; a person concludes</a:t>
            </a:r>
          </a:p>
        </p:txBody>
      </p:sp>
      <p:sp>
        <p:nvSpPr>
          <p:cNvPr id="59" name="Right Arrow 58"/>
          <p:cNvSpPr/>
          <p:nvPr/>
        </p:nvSpPr>
        <p:spPr>
          <a:xfrm>
            <a:off x="9400028" y="4407408"/>
            <a:ext cx="128016" cy="146304"/>
          </a:xfrm>
          <a:prstGeom prst="rightArrow">
            <a:avLst/>
          </a:prstGeom>
          <a:solidFill>
            <a:srgbClr val="DBE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9546332" y="3794760"/>
            <a:ext cx="2084831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BE3F5"/>
            </a:solidFill>
          </a:ln>
          <a:effectLst>
            <a:outerShdw blurRad="190500" dist="38100" dir="5400000" algn="t" rotWithShape="0">
              <a:srgbClr val="2E4A9A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Rectangle 60"/>
          <p:cNvSpPr/>
          <p:nvPr/>
        </p:nvSpPr>
        <p:spPr>
          <a:xfrm>
            <a:off x="9546332" y="3794760"/>
            <a:ext cx="2084831" cy="82296"/>
          </a:xfrm>
          <a:prstGeom prst="rect">
            <a:avLst/>
          </a:prstGeom>
          <a:solidFill>
            <a:srgbClr val="0E1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9710924" y="399592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0E1A4B"/>
                </a:solidFill>
                <a:latin typeface="Segoe UI Semibold"/>
              </a:rPr>
              <a:t>10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710924" y="4251960"/>
            <a:ext cx="1810511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0E1A4B"/>
                </a:solidFill>
                <a:latin typeface="Segoe UI Semibold"/>
              </a:rPr>
              <a:t>Close &amp; report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710924" y="4581144"/>
            <a:ext cx="181051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5B6A92"/>
                </a:solidFill>
                <a:latin typeface="Segoe UI"/>
              </a:rPr>
              <a:t>Cards coded, accruals locked, audit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48640" y="578815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356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TextBox 65"/>
          <p:cNvSpPr txBox="1"/>
          <p:nvPr/>
        </p:nvSpPr>
        <p:spPr>
          <a:xfrm>
            <a:off x="749808" y="5742432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5B6A92"/>
                </a:solidFill>
                <a:latin typeface="Segoe UI"/>
              </a:rPr>
              <a:t>Intake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2560320" y="578815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6D4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TextBox 67"/>
          <p:cNvSpPr txBox="1"/>
          <p:nvPr/>
        </p:nvSpPr>
        <p:spPr>
          <a:xfrm>
            <a:off x="2761488" y="5742432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5B6A92"/>
                </a:solidFill>
                <a:latin typeface="Segoe UI"/>
              </a:rPr>
              <a:t>Spend approval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4572000" y="578815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6A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TextBox 69"/>
          <p:cNvSpPr txBox="1"/>
          <p:nvPr/>
        </p:nvSpPr>
        <p:spPr>
          <a:xfrm>
            <a:off x="4773168" y="5742432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5B6A92"/>
                </a:solidFill>
                <a:latin typeface="Segoe UI"/>
              </a:rPr>
              <a:t>Invoice control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583680" y="578815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E0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TextBox 71"/>
          <p:cNvSpPr txBox="1"/>
          <p:nvPr/>
        </p:nvSpPr>
        <p:spPr>
          <a:xfrm>
            <a:off x="6784848" y="5742432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5B6A92"/>
                </a:solidFill>
                <a:latin typeface="Segoe UI"/>
              </a:rPr>
              <a:t>Payment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8595360" y="578815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0E1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" name="TextBox 73"/>
          <p:cNvSpPr txBox="1"/>
          <p:nvPr/>
        </p:nvSpPr>
        <p:spPr>
          <a:xfrm>
            <a:off x="8796528" y="5742432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5B6A92"/>
                </a:solidFill>
                <a:latin typeface="Segoe UI"/>
              </a:rPr>
              <a:t>Close &amp; assurance</a:t>
            </a:r>
          </a:p>
        </p:txBody>
      </p:sp>
      <p:pic>
        <p:nvPicPr>
          <p:cNvPr id="75" name="Picture 74" descr="finora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19088"/>
            <a:ext cx="201168" cy="201168"/>
          </a:xfrm>
          <a:prstGeom prst="rect">
            <a:avLst/>
          </a:prstGeom>
        </p:spPr>
      </p:pic>
      <p:sp>
        <p:nvSpPr>
          <p:cNvPr id="76" name="TextBox 75"/>
          <p:cNvSpPr txBox="1"/>
          <p:nvPr/>
        </p:nvSpPr>
        <p:spPr>
          <a:xfrm>
            <a:off x="822960" y="6437376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0E1A4B"/>
                </a:solidFill>
                <a:latin typeface="Segoe UI Semibold"/>
              </a:rPr>
              <a:t>Finora Flow</a:t>
            </a:r>
            <a:r>
              <a:rPr sz="900" b="0">
                <a:solidFill>
                  <a:srgbClr val="5B6A92"/>
                </a:solidFill>
                <a:latin typeface="Segoe UI"/>
              </a:rPr>
              <a:t>   ·   Client walkthrough   ·   End-to-end workflow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881360" y="6437376"/>
            <a:ext cx="7589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B6A92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atmosphere" descr="app-atmosphere.jpg"/>
          <p:cNvPicPr>
            <a:picLocks noChangeAspect="1"/>
          </p:cNvPicPr>
          <p:nvPr/>
        </p:nvPicPr>
        <p:blipFill>
          <a:blip r:embed="rId2"/>
          <a:srcRect t="262" b="26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3569F4"/>
                </a:solidFill>
                <a:latin typeface="Segoe UI Semibold"/>
              </a:rPr>
              <a:t>03 · PEOPLE AND ROLES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0E1A4B"/>
                </a:solidFill>
                <a:latin typeface="Segoe UI Semibold"/>
              </a:rPr>
              <a:t>Seven roles, each with a clear job and clear limits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70432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5B6A92"/>
                </a:solidFill>
                <a:latin typeface="Segoe UI"/>
              </a:rPr>
              <a:t>Access is deny-by-default and granted per role. Every screen shows only what that person may do.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11091672" cy="384048"/>
          </a:xfrm>
          <a:prstGeom prst="roundRect">
            <a:avLst>
              <a:gd name="adj" fmla="val 12000"/>
            </a:avLst>
          </a:prstGeom>
          <a:solidFill>
            <a:srgbClr val="0E1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49808" y="1938528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FFFFFF"/>
                </a:solidFill>
                <a:latin typeface="Segoe UI Semibold"/>
              </a:rPr>
              <a:t>ROLE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44368" y="1938528"/>
            <a:ext cx="5394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FFFFFF"/>
                </a:solidFill>
                <a:latin typeface="Segoe UI Semibold"/>
              </a:rPr>
              <a:t>WHAT THEY 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39328" y="1938528"/>
            <a:ext cx="35021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FFFFFF"/>
                </a:solidFill>
                <a:latin typeface="Segoe UI Semibold"/>
              </a:rPr>
              <a:t>WHERE THEY WORK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267712"/>
            <a:ext cx="11091672" cy="51206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DB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49808" y="2267712"/>
            <a:ext cx="19202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0E1A4B"/>
                </a:solidFill>
                <a:latin typeface="Segoe UI Semibold"/>
              </a:rPr>
              <a:t>Requester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44368" y="2267712"/>
            <a:ext cx="51206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1F2A44"/>
                </a:solidFill>
                <a:latin typeface="Segoe UI"/>
              </a:rPr>
              <a:t>Raises estimates, confirms goods and services were received.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39328" y="2267712"/>
            <a:ext cx="3227832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3569F4"/>
                </a:solidFill>
                <a:latin typeface="Segoe UI Semibold"/>
              </a:rPr>
              <a:t>My work · Estimates · Invoices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825496"/>
            <a:ext cx="11091672" cy="51206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DB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49808" y="2825496"/>
            <a:ext cx="19202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0E1A4B"/>
                </a:solidFill>
                <a:latin typeface="Segoe UI Semibold"/>
              </a:rPr>
              <a:t>Approver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44368" y="2825496"/>
            <a:ext cx="51206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1F2A44"/>
                </a:solidFill>
                <a:latin typeface="Segoe UI"/>
              </a:rPr>
              <a:t>Decides requests routed to their level; arranges cover while away.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9328" y="2825496"/>
            <a:ext cx="3227832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3569F4"/>
                </a:solidFill>
                <a:latin typeface="Segoe UI Semibold"/>
              </a:rPr>
              <a:t>Approvals · Dashboard · Cover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383280"/>
            <a:ext cx="11091672" cy="51206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DB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49808" y="3383280"/>
            <a:ext cx="19202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0E1A4B"/>
                </a:solidFill>
                <a:latin typeface="Segoe UI Semibold"/>
              </a:rPr>
              <a:t>Finance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44368" y="3383280"/>
            <a:ext cx="51206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1F2A44"/>
                </a:solidFill>
                <a:latin typeface="Segoe UI"/>
              </a:rPr>
              <a:t>Reviews documents, records and codes invoices, manages POs, cards and accruals.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39328" y="3383280"/>
            <a:ext cx="3227832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3569F4"/>
                </a:solidFill>
                <a:latin typeface="Segoe UI Semibold"/>
              </a:rPr>
              <a:t>Documents · Invoices · Cards · Accruals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941064"/>
            <a:ext cx="11091672" cy="51206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DB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49808" y="3941064"/>
            <a:ext cx="19202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0E1A4B"/>
                </a:solidFill>
                <a:latin typeface="Segoe UI Semibold"/>
              </a:rPr>
              <a:t>Payment coordinator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44368" y="3941064"/>
            <a:ext cx="51206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1F2A44"/>
                </a:solidFill>
                <a:latin typeface="Segoe UI"/>
              </a:rPr>
              <a:t>Assembles and submits payment packages; asks suppliers to confirm.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39328" y="3941064"/>
            <a:ext cx="3227832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3569F4"/>
                </a:solidFill>
                <a:latin typeface="Segoe UI Semibold"/>
              </a:rPr>
              <a:t>Payment packages · Vendor confirms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498848"/>
            <a:ext cx="11091672" cy="51206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DB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49808" y="4498848"/>
            <a:ext cx="19202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0E1A4B"/>
                </a:solidFill>
                <a:latin typeface="Segoe UI Semibold"/>
              </a:rPr>
              <a:t>Operations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44368" y="4498848"/>
            <a:ext cx="51206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1F2A44"/>
                </a:solidFill>
                <a:latin typeface="Segoe UI"/>
              </a:rPr>
              <a:t>Keeps intake and services healthy; retries failures; manages quarantine.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39328" y="4498848"/>
            <a:ext cx="3227832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3569F4"/>
                </a:solidFill>
                <a:latin typeface="Segoe UI Semibold"/>
              </a:rPr>
              <a:t>Inbox · Operational health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5056632"/>
            <a:ext cx="11091672" cy="51206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DB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749808" y="5056632"/>
            <a:ext cx="19202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0E1A4B"/>
                </a:solidFill>
                <a:latin typeface="Segoe UI Semibold"/>
              </a:rPr>
              <a:t>Administrator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44368" y="5056632"/>
            <a:ext cx="51206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1F2A44"/>
                </a:solidFill>
                <a:latin typeface="Segoe UI"/>
              </a:rPr>
              <a:t>Configures users, routing, thresholds, reference data and retention. Cannot approve.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39328" y="5056632"/>
            <a:ext cx="3227832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3569F4"/>
                </a:solidFill>
                <a:latin typeface="Segoe UI Semibold"/>
              </a:rPr>
              <a:t>Settings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5614416"/>
            <a:ext cx="11091672" cy="51206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DB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749808" y="5614416"/>
            <a:ext cx="19202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0E1A4B"/>
                </a:solidFill>
                <a:latin typeface="Segoe UI Semibold"/>
              </a:rPr>
              <a:t>Auditor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944368" y="5614416"/>
            <a:ext cx="51206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1F2A44"/>
                </a:solidFill>
                <a:latin typeface="Segoe UI"/>
              </a:rPr>
              <a:t>Reads everything, changes nothing, verifies the audit chain.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39328" y="5614416"/>
            <a:ext cx="3227832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3569F4"/>
                </a:solidFill>
                <a:latin typeface="Segoe UI Semibold"/>
              </a:rPr>
              <a:t>Audit trail · Reports · Registers</a:t>
            </a:r>
          </a:p>
        </p:txBody>
      </p:sp>
      <p:pic>
        <p:nvPicPr>
          <p:cNvPr id="39" name="Picture 38" descr="finora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19088"/>
            <a:ext cx="201168" cy="201168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822960" y="6437376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0E1A4B"/>
                </a:solidFill>
                <a:latin typeface="Segoe UI Semibold"/>
              </a:rPr>
              <a:t>Finora Flow</a:t>
            </a:r>
            <a:r>
              <a:rPr sz="900" b="0">
                <a:solidFill>
                  <a:srgbClr val="5B6A92"/>
                </a:solidFill>
                <a:latin typeface="Segoe UI"/>
              </a:rPr>
              <a:t>   ·   Client walkthrough   ·   People and roles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81360" y="6437376"/>
            <a:ext cx="7589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B6A92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ignin-scene.jpg"/>
          <p:cNvPicPr>
            <a:picLocks noChangeAspect="1"/>
          </p:cNvPicPr>
          <p:nvPr/>
        </p:nvPicPr>
        <p:blipFill>
          <a:blip r:embed="rId2"/>
          <a:srcRect t="262" b="26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778240" cy="6858000"/>
          </a:xfrm>
          <a:prstGeom prst="rect">
            <a:avLst/>
          </a:prstGeom>
          <a:gradFill rotWithShape="1">
            <a:gsLst>
              <a:gs pos="0">
                <a:srgbClr val="F6F9FF">
                  <a:alpha val="97000"/>
                </a:srgbClr>
              </a:gs>
              <a:gs pos="55000">
                <a:srgbClr val="F6F9FF">
                  <a:alpha val="90000"/>
                </a:srgbClr>
              </a:gs>
              <a:gs pos="100000">
                <a:srgbClr val="F6F9FF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5486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600" b="0">
                <a:solidFill>
                  <a:srgbClr val="3569F4"/>
                </a:solidFill>
                <a:latin typeface="Segoe UI Semibold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57607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0">
                <a:solidFill>
                  <a:srgbClr val="0E1A4B"/>
                </a:solidFill>
                <a:latin typeface="Segoe UI Semibold"/>
              </a:rPr>
              <a:t>The everyday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069080"/>
            <a:ext cx="5486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5B6A92"/>
                </a:solidFill>
                <a:latin typeface="Segoe UI"/>
              </a:rPr>
              <a:t>Sign in once, see what needs you, and find anything in seconds.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120640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3569F4"/>
                </a:solidFill>
                <a:latin typeface="Segoe UI Semibold"/>
              </a:rPr>
              <a:t>Sign-in  ·  Home dashboard  ·  My work  ·  Global search</a:t>
            </a:r>
          </a:p>
        </p:txBody>
      </p:sp>
      <p:pic>
        <p:nvPicPr>
          <p:cNvPr id="8" name="Picture 7" descr="finora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19088"/>
            <a:ext cx="201168" cy="2011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" y="6437376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0E1A4B"/>
                </a:solidFill>
                <a:latin typeface="Segoe UI Semibold"/>
              </a:rPr>
              <a:t>Finora Flow</a:t>
            </a:r>
            <a:r>
              <a:rPr sz="900" b="0">
                <a:solidFill>
                  <a:srgbClr val="5B6A92"/>
                </a:solidFill>
                <a:latin typeface="Segoe UI"/>
              </a:rPr>
              <a:t>   ·   Client walkthrough   ·   The everyday experience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37376"/>
            <a:ext cx="7589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B6A92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atmosphere" descr="app-atmosphere.jpg"/>
          <p:cNvPicPr>
            <a:picLocks noChangeAspect="1"/>
          </p:cNvPicPr>
          <p:nvPr/>
        </p:nvPicPr>
        <p:blipFill>
          <a:blip r:embed="rId2"/>
          <a:srcRect t="262" b="26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3569F4"/>
                </a:solidFill>
                <a:latin typeface="Segoe UI Semibold"/>
              </a:rPr>
              <a:t>SECURE ACCESS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0E1A4B"/>
                </a:solidFill>
                <a:latin typeface="Segoe UI Semibold"/>
              </a:rPr>
              <a:t>A calm, branded front door with enterprise sign-in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70432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5B6A92"/>
                </a:solidFill>
                <a:latin typeface="Segoe UI"/>
              </a:rPr>
              <a:t>The workflow the platform runs is shown right on the sign-in page, and it moves.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2940" y="1755648"/>
            <a:ext cx="7132320" cy="449884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BE3F5"/>
            </a:solidFill>
          </a:ln>
          <a:effectLst>
            <a:outerShdw blurRad="190500" dist="38100" dir="5400000" algn="t" rotWithShape="0">
              <a:srgbClr val="2E4A9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signin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17804" y="1810512"/>
            <a:ext cx="7022592" cy="4389120"/>
          </a:xfrm>
          <a:prstGeom prst="rect">
            <a:avLst/>
          </a:prstGeom>
          <a:ln w="6350">
            <a:solidFill>
              <a:srgbClr val="DBE3F5"/>
            </a:solidFill>
          </a:ln>
        </p:spPr>
      </p:pic>
      <p:sp>
        <p:nvSpPr>
          <p:cNvPr id="9" name="Oval 8"/>
          <p:cNvSpPr/>
          <p:nvPr/>
        </p:nvSpPr>
        <p:spPr>
          <a:xfrm>
            <a:off x="3331768" y="2717596"/>
            <a:ext cx="292608" cy="292608"/>
          </a:xfrm>
          <a:prstGeom prst="ellipse">
            <a:avLst/>
          </a:prstGeom>
          <a:solidFill>
            <a:srgbClr val="3569F4"/>
          </a:solidFill>
          <a:ln w="25400">
            <a:solidFill>
              <a:srgbClr val="FFFFFF"/>
            </a:solidFill>
          </a:ln>
          <a:effectLst>
            <a:outerShdw blurRad="76200" dist="19050" dir="5400000" algn="t" rotWithShape="0">
              <a:srgbClr val="2E4A9A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0" name="Oval 9"/>
          <p:cNvSpPr/>
          <p:nvPr/>
        </p:nvSpPr>
        <p:spPr>
          <a:xfrm>
            <a:off x="5389778" y="4024579"/>
            <a:ext cx="292608" cy="292608"/>
          </a:xfrm>
          <a:prstGeom prst="ellipse">
            <a:avLst/>
          </a:prstGeom>
          <a:solidFill>
            <a:srgbClr val="3569F4"/>
          </a:solidFill>
          <a:ln w="25400">
            <a:solidFill>
              <a:srgbClr val="FFFFFF"/>
            </a:solidFill>
          </a:ln>
          <a:effectLst>
            <a:outerShdw blurRad="76200" dist="19050" dir="5400000" algn="t" rotWithShape="0">
              <a:srgbClr val="2E4A9A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1" name="Oval 10"/>
          <p:cNvSpPr/>
          <p:nvPr/>
        </p:nvSpPr>
        <p:spPr>
          <a:xfrm>
            <a:off x="5389778" y="4502505"/>
            <a:ext cx="292608" cy="292608"/>
          </a:xfrm>
          <a:prstGeom prst="ellipse">
            <a:avLst/>
          </a:prstGeom>
          <a:solidFill>
            <a:srgbClr val="3569F4"/>
          </a:solidFill>
          <a:ln w="25400">
            <a:solidFill>
              <a:srgbClr val="FFFFFF"/>
            </a:solidFill>
          </a:ln>
          <a:effectLst>
            <a:outerShdw blurRad="76200" dist="19050" dir="5400000" algn="t" rotWithShape="0">
              <a:srgbClr val="2E4A9A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12" name="Oval 11"/>
          <p:cNvSpPr/>
          <p:nvPr/>
        </p:nvSpPr>
        <p:spPr>
          <a:xfrm>
            <a:off x="815340" y="4024579"/>
            <a:ext cx="292608" cy="292608"/>
          </a:xfrm>
          <a:prstGeom prst="ellipse">
            <a:avLst/>
          </a:prstGeom>
          <a:solidFill>
            <a:srgbClr val="3569F4"/>
          </a:solidFill>
          <a:ln w="25400">
            <a:solidFill>
              <a:srgbClr val="FFFFFF"/>
            </a:solidFill>
          </a:ln>
          <a:effectLst>
            <a:outerShdw blurRad="76200" dist="19050" dir="5400000" algn="t" rotWithShape="0">
              <a:srgbClr val="2E4A9A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13" name="Oval 12"/>
          <p:cNvSpPr/>
          <p:nvPr/>
        </p:nvSpPr>
        <p:spPr>
          <a:xfrm>
            <a:off x="8321040" y="1773936"/>
            <a:ext cx="329184" cy="329184"/>
          </a:xfrm>
          <a:prstGeom prst="ellipse">
            <a:avLst/>
          </a:prstGeom>
          <a:solidFill>
            <a:srgbClr val="3569F4"/>
          </a:solidFill>
          <a:ln w="25400">
            <a:solidFill>
              <a:srgbClr val="FFFFFF"/>
            </a:solidFill>
          </a:ln>
          <a:effectLst>
            <a:outerShdw blurRad="76200" dist="19050" dir="5400000" algn="t" rotWithShape="0">
              <a:srgbClr val="2E4A9A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59952" y="1783080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0E1A4B"/>
                </a:solidFill>
                <a:latin typeface="Segoe UI Semibold"/>
              </a:rPr>
              <a:t>The whole flow at a glance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59952" y="2057400"/>
            <a:ext cx="28803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5B6A92"/>
                </a:solidFill>
                <a:latin typeface="Segoe UI"/>
              </a:rPr>
              <a:t>Estimates, Invoices, Approvals and Payments light up in sequence as the flow runs through them.</a:t>
            </a:r>
          </a:p>
        </p:txBody>
      </p:sp>
      <p:sp>
        <p:nvSpPr>
          <p:cNvPr id="16" name="Oval 15"/>
          <p:cNvSpPr/>
          <p:nvPr/>
        </p:nvSpPr>
        <p:spPr>
          <a:xfrm>
            <a:off x="8321040" y="2697480"/>
            <a:ext cx="329184" cy="329184"/>
          </a:xfrm>
          <a:prstGeom prst="ellipse">
            <a:avLst/>
          </a:prstGeom>
          <a:solidFill>
            <a:srgbClr val="3569F4"/>
          </a:solidFill>
          <a:ln w="25400">
            <a:solidFill>
              <a:srgbClr val="FFFFFF"/>
            </a:solidFill>
          </a:ln>
          <a:effectLst>
            <a:outerShdw blurRad="76200" dist="19050" dir="5400000" algn="t" rotWithShape="0">
              <a:srgbClr val="2E4A9A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59952" y="2706624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0E1A4B"/>
                </a:solidFill>
                <a:latin typeface="Segoe UI Semibold"/>
              </a:rPr>
              <a:t>Enterprise sign-in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59952" y="2980944"/>
            <a:ext cx="28803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5B6A92"/>
                </a:solidFill>
                <a:latin typeface="Segoe UI"/>
              </a:rPr>
              <a:t>Work-email sign-in for development; single sign-on through your identity provider in production.</a:t>
            </a:r>
          </a:p>
        </p:txBody>
      </p:sp>
      <p:sp>
        <p:nvSpPr>
          <p:cNvPr id="19" name="Oval 18"/>
          <p:cNvSpPr/>
          <p:nvPr/>
        </p:nvSpPr>
        <p:spPr>
          <a:xfrm>
            <a:off x="8321040" y="3621024"/>
            <a:ext cx="329184" cy="329184"/>
          </a:xfrm>
          <a:prstGeom prst="ellipse">
            <a:avLst/>
          </a:prstGeom>
          <a:solidFill>
            <a:srgbClr val="3569F4"/>
          </a:solidFill>
          <a:ln w="25400">
            <a:solidFill>
              <a:srgbClr val="FFFFFF"/>
            </a:solidFill>
          </a:ln>
          <a:effectLst>
            <a:outerShdw blurRad="76200" dist="19050" dir="5400000" algn="t" rotWithShape="0">
              <a:srgbClr val="2E4A9A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59952" y="3630168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0E1A4B"/>
                </a:solidFill>
                <a:latin typeface="Segoe UI Semibold"/>
              </a:rPr>
              <a:t>Trust, stated plainly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59952" y="3904488"/>
            <a:ext cx="28803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5B6A92"/>
                </a:solidFill>
                <a:latin typeface="Segoe UI"/>
              </a:rPr>
              <a:t>Every decision audited, AI on your own gateway, segregation of duties enforced.</a:t>
            </a:r>
          </a:p>
        </p:txBody>
      </p:sp>
      <p:sp>
        <p:nvSpPr>
          <p:cNvPr id="22" name="Oval 21"/>
          <p:cNvSpPr/>
          <p:nvPr/>
        </p:nvSpPr>
        <p:spPr>
          <a:xfrm>
            <a:off x="8321040" y="4370832"/>
            <a:ext cx="329184" cy="329184"/>
          </a:xfrm>
          <a:prstGeom prst="ellipse">
            <a:avLst/>
          </a:prstGeom>
          <a:solidFill>
            <a:srgbClr val="3569F4"/>
          </a:solidFill>
          <a:ln w="25400">
            <a:solidFill>
              <a:srgbClr val="FFFFFF"/>
            </a:solidFill>
          </a:ln>
          <a:effectLst>
            <a:outerShdw blurRad="76200" dist="19050" dir="5400000" algn="t" rotWithShape="0">
              <a:srgbClr val="2E4A9A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59952" y="4379976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0E1A4B"/>
                </a:solidFill>
                <a:latin typeface="Segoe UI Semibold"/>
              </a:rPr>
              <a:t>Why it exists, in three lines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59952" y="4654296"/>
            <a:ext cx="28803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5B6A92"/>
                </a:solidFill>
                <a:latin typeface="Segoe UI"/>
              </a:rPr>
              <a:t>Real-time visibility, enterprise controls and a complete audit trail.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21040" y="5166360"/>
            <a:ext cx="3319272" cy="850392"/>
          </a:xfrm>
          <a:prstGeom prst="roundRect">
            <a:avLst>
              <a:gd name="adj" fmla="val 12000"/>
            </a:avLst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85632" y="5257800"/>
            <a:ext cx="29900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3569F4"/>
                </a:solidFill>
                <a:latin typeface="Segoe UI Semibold"/>
              </a:rPr>
              <a:t>WHY IT MATTERS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85632" y="5477256"/>
            <a:ext cx="2990088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0E1A4B"/>
                </a:solidFill>
                <a:latin typeface="Segoe UI"/>
              </a:rPr>
              <a:t>First impressions set expectations: a professional, accessible entry point that respects reduced-motion settings and works on any device.</a:t>
            </a:r>
          </a:p>
        </p:txBody>
      </p:sp>
      <p:pic>
        <p:nvPicPr>
          <p:cNvPr id="28" name="Picture 27" descr="finora-ma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419088"/>
            <a:ext cx="201168" cy="20116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22960" y="6437376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0E1A4B"/>
                </a:solidFill>
                <a:latin typeface="Segoe UI Semibold"/>
              </a:rPr>
              <a:t>Finora Flow</a:t>
            </a:r>
            <a:r>
              <a:rPr sz="900" b="0">
                <a:solidFill>
                  <a:srgbClr val="5B6A92"/>
                </a:solidFill>
                <a:latin typeface="Segoe UI"/>
              </a:rPr>
              <a:t>   ·   Client walkthrough   ·   Everyday experience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81360" y="6437376"/>
            <a:ext cx="7589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B6A92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atmosphere" descr="app-atmosphere.jpg"/>
          <p:cNvPicPr>
            <a:picLocks noChangeAspect="1"/>
          </p:cNvPicPr>
          <p:nvPr/>
        </p:nvPicPr>
        <p:blipFill>
          <a:blip r:embed="rId2"/>
          <a:srcRect t="262" b="26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3569F4"/>
                </a:solidFill>
                <a:latin typeface="Segoe UI Semibold"/>
              </a:rPr>
              <a:t>HOME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0E1A4B"/>
                </a:solidFill>
                <a:latin typeface="Segoe UI Semibold"/>
              </a:rPr>
              <a:t>Everything that matters today, on one screen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70432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5B6A92"/>
                </a:solidFill>
                <a:latin typeface="Segoe UI"/>
              </a:rPr>
              <a:t>Every figure is counted from live records and opens the register behind it. Nothing is projected or invented.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2940" y="1755648"/>
            <a:ext cx="7132320" cy="449884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BE3F5"/>
            </a:solidFill>
          </a:ln>
          <a:effectLst>
            <a:outerShdw blurRad="190500" dist="38100" dir="5400000" algn="t" rotWithShape="0">
              <a:srgbClr val="2E4A9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dashboar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17804" y="1810512"/>
            <a:ext cx="7022592" cy="4389120"/>
          </a:xfrm>
          <a:prstGeom prst="rect">
            <a:avLst/>
          </a:prstGeom>
          <a:ln w="6350">
            <a:solidFill>
              <a:srgbClr val="DBE3F5"/>
            </a:solidFill>
          </a:ln>
        </p:spPr>
      </p:pic>
      <p:sp>
        <p:nvSpPr>
          <p:cNvPr id="9" name="Oval 8"/>
          <p:cNvSpPr/>
          <p:nvPr/>
        </p:nvSpPr>
        <p:spPr>
          <a:xfrm>
            <a:off x="5292242" y="2034844"/>
            <a:ext cx="292608" cy="292608"/>
          </a:xfrm>
          <a:prstGeom prst="ellipse">
            <a:avLst/>
          </a:prstGeom>
          <a:solidFill>
            <a:srgbClr val="3569F4"/>
          </a:solidFill>
          <a:ln w="25400">
            <a:solidFill>
              <a:srgbClr val="FFFFFF"/>
            </a:solidFill>
          </a:ln>
          <a:effectLst>
            <a:outerShdw blurRad="76200" dist="19050" dir="5400000" algn="t" rotWithShape="0">
              <a:srgbClr val="2E4A9A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0" name="Oval 9"/>
          <p:cNvSpPr/>
          <p:nvPr/>
        </p:nvSpPr>
        <p:spPr>
          <a:xfrm>
            <a:off x="1839468" y="3058972"/>
            <a:ext cx="292608" cy="292608"/>
          </a:xfrm>
          <a:prstGeom prst="ellipse">
            <a:avLst/>
          </a:prstGeom>
          <a:solidFill>
            <a:srgbClr val="3569F4"/>
          </a:solidFill>
          <a:ln w="25400">
            <a:solidFill>
              <a:srgbClr val="FFFFFF"/>
            </a:solidFill>
          </a:ln>
          <a:effectLst>
            <a:outerShdw blurRad="76200" dist="19050" dir="5400000" algn="t" rotWithShape="0">
              <a:srgbClr val="2E4A9A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1" name="Oval 10"/>
          <p:cNvSpPr/>
          <p:nvPr/>
        </p:nvSpPr>
        <p:spPr>
          <a:xfrm>
            <a:off x="1839468" y="3936796"/>
            <a:ext cx="292608" cy="292608"/>
          </a:xfrm>
          <a:prstGeom prst="ellipse">
            <a:avLst/>
          </a:prstGeom>
          <a:solidFill>
            <a:srgbClr val="3569F4"/>
          </a:solidFill>
          <a:ln w="25400">
            <a:solidFill>
              <a:srgbClr val="FFFFFF"/>
            </a:solidFill>
          </a:ln>
          <a:effectLst>
            <a:outerShdw blurRad="76200" dist="19050" dir="5400000" algn="t" rotWithShape="0">
              <a:srgbClr val="2E4A9A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12" name="Oval 11"/>
          <p:cNvSpPr/>
          <p:nvPr/>
        </p:nvSpPr>
        <p:spPr>
          <a:xfrm>
            <a:off x="5428792" y="3936796"/>
            <a:ext cx="292608" cy="292608"/>
          </a:xfrm>
          <a:prstGeom prst="ellipse">
            <a:avLst/>
          </a:prstGeom>
          <a:solidFill>
            <a:srgbClr val="3569F4"/>
          </a:solidFill>
          <a:ln w="25400">
            <a:solidFill>
              <a:srgbClr val="FFFFFF"/>
            </a:solidFill>
          </a:ln>
          <a:effectLst>
            <a:outerShdw blurRad="76200" dist="19050" dir="5400000" algn="t" rotWithShape="0">
              <a:srgbClr val="2E4A9A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13" name="Oval 12"/>
          <p:cNvSpPr/>
          <p:nvPr/>
        </p:nvSpPr>
        <p:spPr>
          <a:xfrm>
            <a:off x="8321040" y="1773936"/>
            <a:ext cx="329184" cy="329184"/>
          </a:xfrm>
          <a:prstGeom prst="ellipse">
            <a:avLst/>
          </a:prstGeom>
          <a:solidFill>
            <a:srgbClr val="3569F4"/>
          </a:solidFill>
          <a:ln w="25400">
            <a:solidFill>
              <a:srgbClr val="FFFFFF"/>
            </a:solidFill>
          </a:ln>
          <a:effectLst>
            <a:outerShdw blurRad="76200" dist="19050" dir="5400000" algn="t" rotWithShape="0">
              <a:srgbClr val="2E4A9A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59952" y="1783080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0E1A4B"/>
                </a:solidFill>
                <a:latin typeface="Segoe UI Semibold"/>
              </a:rPr>
              <a:t>Today's priorities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59952" y="2057400"/>
            <a:ext cx="28803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5B6A92"/>
                </a:solidFill>
                <a:latin typeface="Segoe UI"/>
              </a:rPr>
              <a:t>Approvals waiting, receipts to confirm, packages to submit and blockers, each one click from the work.</a:t>
            </a:r>
          </a:p>
        </p:txBody>
      </p:sp>
      <p:sp>
        <p:nvSpPr>
          <p:cNvPr id="16" name="Oval 15"/>
          <p:cNvSpPr/>
          <p:nvPr/>
        </p:nvSpPr>
        <p:spPr>
          <a:xfrm>
            <a:off x="8321040" y="2697480"/>
            <a:ext cx="329184" cy="329184"/>
          </a:xfrm>
          <a:prstGeom prst="ellipse">
            <a:avLst/>
          </a:prstGeom>
          <a:solidFill>
            <a:srgbClr val="3569F4"/>
          </a:solidFill>
          <a:ln w="25400">
            <a:solidFill>
              <a:srgbClr val="FFFFFF"/>
            </a:solidFill>
          </a:ln>
          <a:effectLst>
            <a:outerShdw blurRad="76200" dist="19050" dir="5400000" algn="t" rotWithShape="0">
              <a:srgbClr val="2E4A9A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59952" y="2706624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0E1A4B"/>
                </a:solidFill>
                <a:latin typeface="Segoe UI Semibold"/>
              </a:rPr>
              <a:t>Spend headlines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59952" y="2980944"/>
            <a:ext cx="28803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5B6A92"/>
                </a:solidFill>
                <a:latin typeface="Segoe UI"/>
              </a:rPr>
              <a:t>Total, approved and pending spend with honest month-over-month change and a monthly trend line.</a:t>
            </a:r>
          </a:p>
        </p:txBody>
      </p:sp>
      <p:sp>
        <p:nvSpPr>
          <p:cNvPr id="19" name="Oval 18"/>
          <p:cNvSpPr/>
          <p:nvPr/>
        </p:nvSpPr>
        <p:spPr>
          <a:xfrm>
            <a:off x="8321040" y="3621024"/>
            <a:ext cx="329184" cy="329184"/>
          </a:xfrm>
          <a:prstGeom prst="ellipse">
            <a:avLst/>
          </a:prstGeom>
          <a:solidFill>
            <a:srgbClr val="3569F4"/>
          </a:solidFill>
          <a:ln w="25400">
            <a:solidFill>
              <a:srgbClr val="FFFFFF"/>
            </a:solidFill>
          </a:ln>
          <a:effectLst>
            <a:outerShdw blurRad="76200" dist="19050" dir="5400000" algn="t" rotWithShape="0">
              <a:srgbClr val="2E4A9A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59952" y="3630168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0E1A4B"/>
                </a:solidFill>
                <a:latin typeface="Segoe UI Semibold"/>
              </a:rPr>
              <a:t>Spend by payment type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59952" y="3904488"/>
            <a:ext cx="28803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5B6A92"/>
                </a:solidFill>
                <a:latin typeface="Segoe UI"/>
              </a:rPr>
              <a:t>Invoices, purchase orders, credit cards and accruals per month, filterable over 6 or 12 months.</a:t>
            </a:r>
          </a:p>
        </p:txBody>
      </p:sp>
      <p:sp>
        <p:nvSpPr>
          <p:cNvPr id="22" name="Oval 21"/>
          <p:cNvSpPr/>
          <p:nvPr/>
        </p:nvSpPr>
        <p:spPr>
          <a:xfrm>
            <a:off x="8321040" y="4544568"/>
            <a:ext cx="329184" cy="329184"/>
          </a:xfrm>
          <a:prstGeom prst="ellipse">
            <a:avLst/>
          </a:prstGeom>
          <a:solidFill>
            <a:srgbClr val="3569F4"/>
          </a:solidFill>
          <a:ln w="25400">
            <a:solidFill>
              <a:srgbClr val="FFFFFF"/>
            </a:solidFill>
          </a:ln>
          <a:effectLst>
            <a:outerShdw blurRad="76200" dist="19050" dir="5400000" algn="t" rotWithShape="0">
              <a:srgbClr val="2E4A9A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59952" y="4553712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0E1A4B"/>
                </a:solidFill>
                <a:latin typeface="Segoe UI Semibold"/>
              </a:rPr>
              <a:t>Top vendors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59952" y="4828032"/>
            <a:ext cx="28803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5B6A92"/>
                </a:solidFill>
                <a:latin typeface="Segoe UI"/>
              </a:rPr>
              <a:t>Where approved spend is concentrated, as a share of the total.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21040" y="5340096"/>
            <a:ext cx="3319272" cy="850392"/>
          </a:xfrm>
          <a:prstGeom prst="roundRect">
            <a:avLst>
              <a:gd name="adj" fmla="val 12000"/>
            </a:avLst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85632" y="5431536"/>
            <a:ext cx="29900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3569F4"/>
                </a:solidFill>
                <a:latin typeface="Segoe UI Semibold"/>
              </a:rPr>
              <a:t>WHY IT MATTERS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85632" y="5650992"/>
            <a:ext cx="2990088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0E1A4B"/>
                </a:solidFill>
                <a:latin typeface="Segoe UI"/>
              </a:rPr>
              <a:t>Leaders see the state of the ledger without asking for a report, and every number can be traced back to a record.</a:t>
            </a:r>
          </a:p>
        </p:txBody>
      </p:sp>
      <p:pic>
        <p:nvPicPr>
          <p:cNvPr id="28" name="Picture 27" descr="finora-ma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419088"/>
            <a:ext cx="201168" cy="20116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22960" y="6437376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0E1A4B"/>
                </a:solidFill>
                <a:latin typeface="Segoe UI Semibold"/>
              </a:rPr>
              <a:t>Finora Flow</a:t>
            </a:r>
            <a:r>
              <a:rPr sz="900" b="0">
                <a:solidFill>
                  <a:srgbClr val="5B6A92"/>
                </a:solidFill>
                <a:latin typeface="Segoe UI"/>
              </a:rPr>
              <a:t>   ·   Client walkthrough   ·   Everyday experience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81360" y="6437376"/>
            <a:ext cx="7589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B6A92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atmosphere" descr="app-atmosphere.jpg"/>
          <p:cNvPicPr>
            <a:picLocks noChangeAspect="1"/>
          </p:cNvPicPr>
          <p:nvPr/>
        </p:nvPicPr>
        <p:blipFill>
          <a:blip r:embed="rId2"/>
          <a:srcRect t="262" b="26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3569F4"/>
                </a:solidFill>
                <a:latin typeface="Segoe UI Semibold"/>
              </a:rPr>
              <a:t>MY WORK AND 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0E1A4B"/>
                </a:solidFill>
                <a:latin typeface="Segoe UI Semibold"/>
              </a:rPr>
              <a:t>One queue for each person, and a search that finds anything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70432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5B6A92"/>
                </a:solidFill>
                <a:latin typeface="Segoe UI"/>
              </a:rPr>
              <a:t>Nothing hides in a register someone visits less often.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00784"/>
            <a:ext cx="5440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B6A92"/>
                </a:solidFill>
                <a:latin typeface="Segoe UI Semibold"/>
              </a:rPr>
              <a:t>MY WORK · APPROVER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3776" y="2345436"/>
            <a:ext cx="5550408" cy="248716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BE3F5"/>
            </a:solidFill>
          </a:ln>
          <a:effectLst>
            <a:outerShdw blurRad="190500" dist="38100" dir="5400000" algn="t" rotWithShape="0">
              <a:srgbClr val="2E4A9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my-work.png"/>
          <p:cNvPicPr>
            <a:picLocks noChangeAspect="1"/>
          </p:cNvPicPr>
          <p:nvPr/>
        </p:nvPicPr>
        <p:blipFill>
          <a:blip r:embed="rId3"/>
          <a:srcRect l="17361" t="4444" b="37778"/>
          <a:stretch>
            <a:fillRect/>
          </a:stretch>
        </p:blipFill>
        <p:spPr>
          <a:xfrm>
            <a:off x="548640" y="2400300"/>
            <a:ext cx="5440680" cy="2377440"/>
          </a:xfrm>
          <a:prstGeom prst="rect">
            <a:avLst/>
          </a:prstGeom>
          <a:ln w="6350">
            <a:solidFill>
              <a:srgbClr val="DBE3F5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6199632" y="1700784"/>
            <a:ext cx="5440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B6A92"/>
                </a:solidFill>
                <a:latin typeface="Segoe UI Semibold"/>
              </a:rPr>
              <a:t>GLOBAL SEARCH · CTRL/⌘ + 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44768" y="1979676"/>
            <a:ext cx="5550408" cy="321868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BE3F5"/>
            </a:solidFill>
          </a:ln>
          <a:effectLst>
            <a:outerShdw blurRad="190500" dist="38100" dir="5400000" algn="t" rotWithShape="0">
              <a:srgbClr val="2E4A9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search.png"/>
          <p:cNvPicPr>
            <a:picLocks noChangeAspect="1"/>
          </p:cNvPicPr>
          <p:nvPr/>
        </p:nvPicPr>
        <p:blipFill>
          <a:blip r:embed="rId4"/>
          <a:srcRect l="17361" t="4444" b="20000"/>
          <a:stretch>
            <a:fillRect/>
          </a:stretch>
        </p:blipFill>
        <p:spPr>
          <a:xfrm>
            <a:off x="6199632" y="2034540"/>
            <a:ext cx="5440680" cy="3108960"/>
          </a:xfrm>
          <a:prstGeom prst="rect">
            <a:avLst/>
          </a:prstGeom>
          <a:ln w="6350">
            <a:solidFill>
              <a:srgbClr val="DBE3F5"/>
            </a:solidFill>
          </a:ln>
        </p:spPr>
      </p:pic>
      <p:sp>
        <p:nvSpPr>
          <p:cNvPr id="13" name="Oval 12"/>
          <p:cNvSpPr/>
          <p:nvPr/>
        </p:nvSpPr>
        <p:spPr>
          <a:xfrm>
            <a:off x="470916" y="3081528"/>
            <a:ext cx="246888" cy="246888"/>
          </a:xfrm>
          <a:prstGeom prst="ellipse">
            <a:avLst/>
          </a:prstGeom>
          <a:solidFill>
            <a:srgbClr val="3569F4"/>
          </a:solidFill>
          <a:ln w="25400">
            <a:solidFill>
              <a:srgbClr val="FFFFFF"/>
            </a:solidFill>
          </a:ln>
          <a:effectLst>
            <a:outerShdw blurRad="76200" dist="19050" dir="5400000" algn="t" rotWithShape="0">
              <a:srgbClr val="2E4A9A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4" name="Oval 13"/>
          <p:cNvSpPr/>
          <p:nvPr/>
        </p:nvSpPr>
        <p:spPr>
          <a:xfrm>
            <a:off x="1046988" y="2788920"/>
            <a:ext cx="246888" cy="246888"/>
          </a:xfrm>
          <a:prstGeom prst="ellipse">
            <a:avLst/>
          </a:prstGeom>
          <a:solidFill>
            <a:srgbClr val="3569F4"/>
          </a:solidFill>
          <a:ln w="25400">
            <a:solidFill>
              <a:srgbClr val="FFFFFF"/>
            </a:solidFill>
          </a:ln>
          <a:effectLst>
            <a:outerShdw blurRad="76200" dist="19050" dir="5400000" algn="t" rotWithShape="0">
              <a:srgbClr val="2E4A9A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5" name="Oval 14"/>
          <p:cNvSpPr/>
          <p:nvPr/>
        </p:nvSpPr>
        <p:spPr>
          <a:xfrm>
            <a:off x="6880860" y="2578608"/>
            <a:ext cx="246888" cy="246888"/>
          </a:xfrm>
          <a:prstGeom prst="ellipse">
            <a:avLst/>
          </a:prstGeom>
          <a:solidFill>
            <a:srgbClr val="3569F4"/>
          </a:solidFill>
          <a:ln w="25400">
            <a:solidFill>
              <a:srgbClr val="FFFFFF"/>
            </a:solidFill>
          </a:ln>
          <a:effectLst>
            <a:outerShdw blurRad="76200" dist="19050" dir="5400000" algn="t" rotWithShape="0">
              <a:srgbClr val="2E4A9A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16" name="Oval 15"/>
          <p:cNvSpPr/>
          <p:nvPr/>
        </p:nvSpPr>
        <p:spPr>
          <a:xfrm>
            <a:off x="557784" y="5367528"/>
            <a:ext cx="274320" cy="274320"/>
          </a:xfrm>
          <a:prstGeom prst="ellipse">
            <a:avLst/>
          </a:prstGeom>
          <a:solidFill>
            <a:srgbClr val="3569F4"/>
          </a:solidFill>
          <a:ln w="25400">
            <a:solidFill>
              <a:srgbClr val="FFFFFF"/>
            </a:solidFill>
          </a:ln>
          <a:effectLst>
            <a:outerShdw blurRad="76200" dist="19050" dir="5400000" algn="t" rotWithShape="0">
              <a:srgbClr val="2E4A9A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5394960"/>
            <a:ext cx="22517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0E1A4B"/>
                </a:solidFill>
                <a:latin typeface="Segoe UI Semibold"/>
              </a:rPr>
              <a:t>Oldest first, always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5632704"/>
            <a:ext cx="225171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5B6A92"/>
                </a:solidFill>
                <a:latin typeface="Segoe UI"/>
              </a:rPr>
              <a:t>Approvals, receipt confirmations, document reviews and supplier answers in one list that cannot be re-sorted to bury awkward items.</a:t>
            </a:r>
          </a:p>
        </p:txBody>
      </p:sp>
      <p:sp>
        <p:nvSpPr>
          <p:cNvPr id="19" name="Oval 18"/>
          <p:cNvSpPr/>
          <p:nvPr/>
        </p:nvSpPr>
        <p:spPr>
          <a:xfrm>
            <a:off x="3376422" y="5367528"/>
            <a:ext cx="274320" cy="274320"/>
          </a:xfrm>
          <a:prstGeom prst="ellipse">
            <a:avLst/>
          </a:prstGeom>
          <a:solidFill>
            <a:srgbClr val="3569F4"/>
          </a:solidFill>
          <a:ln w="25400">
            <a:solidFill>
              <a:srgbClr val="FFFFFF"/>
            </a:solidFill>
          </a:ln>
          <a:effectLst>
            <a:outerShdw blurRad="76200" dist="19050" dir="5400000" algn="t" rotWithShape="0">
              <a:srgbClr val="2E4A9A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51326" y="5394960"/>
            <a:ext cx="22517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0E1A4B"/>
                </a:solidFill>
                <a:latin typeface="Segoe UI Semibold"/>
              </a:rPr>
              <a:t>Named saved views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51326" y="5632704"/>
            <a:ext cx="225171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5B6A92"/>
                </a:solidFill>
                <a:latin typeface="Segoe UI"/>
              </a:rPr>
              <a:t>Filters subtract kinds of work and can be saved per person.</a:t>
            </a:r>
          </a:p>
        </p:txBody>
      </p:sp>
      <p:sp>
        <p:nvSpPr>
          <p:cNvPr id="22" name="Oval 21"/>
          <p:cNvSpPr/>
          <p:nvPr/>
        </p:nvSpPr>
        <p:spPr>
          <a:xfrm>
            <a:off x="6195060" y="5367528"/>
            <a:ext cx="274320" cy="274320"/>
          </a:xfrm>
          <a:prstGeom prst="ellipse">
            <a:avLst/>
          </a:prstGeom>
          <a:solidFill>
            <a:srgbClr val="3569F4"/>
          </a:solidFill>
          <a:ln w="25400">
            <a:solidFill>
              <a:srgbClr val="FFFFFF"/>
            </a:solidFill>
          </a:ln>
          <a:effectLst>
            <a:outerShdw blurRad="76200" dist="19050" dir="5400000" algn="t" rotWithShape="0">
              <a:srgbClr val="2E4A9A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69964" y="5394960"/>
            <a:ext cx="22517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0E1A4B"/>
                </a:solidFill>
                <a:latin typeface="Segoe UI Semibold"/>
              </a:rPr>
              <a:t>Federated search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69964" y="5632704"/>
            <a:ext cx="225171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5B6A92"/>
                </a:solidFill>
                <a:latin typeface="Segoe UI"/>
              </a:rPr>
              <a:t>Estimates, invoices, POs, packages, documents and suppliers in one palette, with state and amount.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04554" y="5340096"/>
            <a:ext cx="2635758" cy="987552"/>
          </a:xfrm>
          <a:prstGeom prst="roundRect">
            <a:avLst>
              <a:gd name="adj" fmla="val 12000"/>
            </a:avLst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150858" y="5422392"/>
            <a:ext cx="234315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3569F4"/>
                </a:solidFill>
                <a:latin typeface="Segoe UI Semibold"/>
              </a:rPr>
              <a:t>WHY IT MATTERS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50858" y="5614416"/>
            <a:ext cx="23431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0E1A4B"/>
                </a:solidFill>
                <a:latin typeface="Segoe UI"/>
              </a:rPr>
              <a:t>Faster turnaround comes from making waiting work impossible to miss, for the person who has to act on it.</a:t>
            </a:r>
          </a:p>
        </p:txBody>
      </p:sp>
      <p:pic>
        <p:nvPicPr>
          <p:cNvPr id="28" name="Picture 27" descr="finora-mar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6419088"/>
            <a:ext cx="201168" cy="20116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22960" y="6437376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0E1A4B"/>
                </a:solidFill>
                <a:latin typeface="Segoe UI Semibold"/>
              </a:rPr>
              <a:t>Finora Flow</a:t>
            </a:r>
            <a:r>
              <a:rPr sz="900" b="0">
                <a:solidFill>
                  <a:srgbClr val="5B6A92"/>
                </a:solidFill>
                <a:latin typeface="Segoe UI"/>
              </a:rPr>
              <a:t>   ·   Client walkthrough   ·   Everyday experience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81360" y="6437376"/>
            <a:ext cx="7589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B6A92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ignin-scene.jpg"/>
          <p:cNvPicPr>
            <a:picLocks noChangeAspect="1"/>
          </p:cNvPicPr>
          <p:nvPr/>
        </p:nvPicPr>
        <p:blipFill>
          <a:blip r:embed="rId2"/>
          <a:srcRect t="262" b="26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778240" cy="6858000"/>
          </a:xfrm>
          <a:prstGeom prst="rect">
            <a:avLst/>
          </a:prstGeom>
          <a:gradFill rotWithShape="1">
            <a:gsLst>
              <a:gs pos="0">
                <a:srgbClr val="F6F9FF">
                  <a:alpha val="97000"/>
                </a:srgbClr>
              </a:gs>
              <a:gs pos="55000">
                <a:srgbClr val="F6F9FF">
                  <a:alpha val="90000"/>
                </a:srgbClr>
              </a:gs>
              <a:gs pos="100000">
                <a:srgbClr val="F6F9FF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5486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600" b="0">
                <a:solidFill>
                  <a:srgbClr val="3569F4"/>
                </a:solidFill>
                <a:latin typeface="Segoe UI Semibold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57607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0">
                <a:solidFill>
                  <a:srgbClr val="0E1A4B"/>
                </a:solidFill>
                <a:latin typeface="Segoe UI Semibold"/>
              </a:rPr>
              <a:t>Intake to record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069080"/>
            <a:ext cx="5486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5B6A92"/>
                </a:solidFill>
                <a:latin typeface="Segoe UI"/>
              </a:rPr>
              <a:t>Supplier email and uploads become checked, evidenced data, safely.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120640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3569F4"/>
                </a:solidFill>
                <a:latin typeface="Segoe UI Semibold"/>
              </a:rPr>
              <a:t>Inbox  ·  Malware scanning  ·  Immutable originals  ·  Document review</a:t>
            </a:r>
          </a:p>
        </p:txBody>
      </p:sp>
      <p:pic>
        <p:nvPicPr>
          <p:cNvPr id="8" name="Picture 7" descr="finora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19088"/>
            <a:ext cx="201168" cy="2011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" y="6437376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0E1A4B"/>
                </a:solidFill>
                <a:latin typeface="Segoe UI Semibold"/>
              </a:rPr>
              <a:t>Finora Flow</a:t>
            </a:r>
            <a:r>
              <a:rPr sz="900" b="0">
                <a:solidFill>
                  <a:srgbClr val="5B6A92"/>
                </a:solidFill>
                <a:latin typeface="Segoe UI"/>
              </a:rPr>
              <a:t>   ·   Client walkthrough   ·   Intake to record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37376"/>
            <a:ext cx="7589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B6A92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atmosphere" descr="app-atmosphere.jpg"/>
          <p:cNvPicPr>
            <a:picLocks noChangeAspect="1"/>
          </p:cNvPicPr>
          <p:nvPr/>
        </p:nvPicPr>
        <p:blipFill>
          <a:blip r:embed="rId2"/>
          <a:srcRect t="262" b="26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3569F4"/>
                </a:solidFill>
                <a:latin typeface="Segoe UI Semibold"/>
              </a:rPr>
              <a:t>SECURE INTAKE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0E1A4B"/>
                </a:solidFill>
                <a:latin typeface="Segoe UI Semibold"/>
              </a:rPr>
              <a:t>Supplier email and uploads, scanned and stored as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70432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5B6A92"/>
                </a:solidFill>
                <a:latin typeface="Segoe UI"/>
              </a:rPr>
              <a:t>The platform reads a mailbox you control over IMAPS. Manual uploads follow exactly the same path.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00784"/>
            <a:ext cx="5440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B6A92"/>
                </a:solidFill>
                <a:latin typeface="Segoe UI Semibold"/>
              </a:rPr>
              <a:t>INBOX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3776" y="2436876"/>
            <a:ext cx="5550408" cy="230428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BE3F5"/>
            </a:solidFill>
          </a:ln>
          <a:effectLst>
            <a:outerShdw blurRad="190500" dist="38100" dir="5400000" algn="t" rotWithShape="0">
              <a:srgbClr val="2E4A9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inbox.png"/>
          <p:cNvPicPr>
            <a:picLocks noChangeAspect="1"/>
          </p:cNvPicPr>
          <p:nvPr/>
        </p:nvPicPr>
        <p:blipFill>
          <a:blip r:embed="rId3"/>
          <a:srcRect l="17361" t="4444" b="42222"/>
          <a:stretch>
            <a:fillRect/>
          </a:stretch>
        </p:blipFill>
        <p:spPr>
          <a:xfrm>
            <a:off x="548640" y="2491740"/>
            <a:ext cx="5440680" cy="2194560"/>
          </a:xfrm>
          <a:prstGeom prst="rect">
            <a:avLst/>
          </a:prstGeom>
          <a:ln w="6350">
            <a:solidFill>
              <a:srgbClr val="DBE3F5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6199632" y="1700784"/>
            <a:ext cx="5440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B6A92"/>
                </a:solidFill>
                <a:latin typeface="Segoe UI Semibold"/>
              </a:rPr>
              <a:t>AN EMAILED SUPPLIER INVOICE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44768" y="1979676"/>
            <a:ext cx="5550408" cy="321868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BE3F5"/>
            </a:solidFill>
          </a:ln>
          <a:effectLst>
            <a:outerShdw blurRad="190500" dist="38100" dir="5400000" algn="t" rotWithShape="0">
              <a:srgbClr val="2E4A9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message.png"/>
          <p:cNvPicPr>
            <a:picLocks noChangeAspect="1"/>
          </p:cNvPicPr>
          <p:nvPr/>
        </p:nvPicPr>
        <p:blipFill>
          <a:blip r:embed="rId4"/>
          <a:srcRect l="17361" t="4444" b="20000"/>
          <a:stretch>
            <a:fillRect/>
          </a:stretch>
        </p:blipFill>
        <p:spPr>
          <a:xfrm>
            <a:off x="6199632" y="2034540"/>
            <a:ext cx="5440680" cy="3108960"/>
          </a:xfrm>
          <a:prstGeom prst="rect">
            <a:avLst/>
          </a:prstGeom>
          <a:ln w="6350">
            <a:solidFill>
              <a:srgbClr val="DBE3F5"/>
            </a:solidFill>
          </a:ln>
        </p:spPr>
      </p:pic>
      <p:sp>
        <p:nvSpPr>
          <p:cNvPr id="13" name="Oval 12"/>
          <p:cNvSpPr/>
          <p:nvPr/>
        </p:nvSpPr>
        <p:spPr>
          <a:xfrm>
            <a:off x="452628" y="2889504"/>
            <a:ext cx="246888" cy="246888"/>
          </a:xfrm>
          <a:prstGeom prst="ellipse">
            <a:avLst/>
          </a:prstGeom>
          <a:solidFill>
            <a:srgbClr val="3569F4"/>
          </a:solidFill>
          <a:ln w="25400">
            <a:solidFill>
              <a:srgbClr val="FFFFFF"/>
            </a:solidFill>
          </a:ln>
          <a:effectLst>
            <a:outerShdw blurRad="76200" dist="19050" dir="5400000" algn="t" rotWithShape="0">
              <a:srgbClr val="2E4A9A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4" name="Oval 13"/>
          <p:cNvSpPr/>
          <p:nvPr/>
        </p:nvSpPr>
        <p:spPr>
          <a:xfrm>
            <a:off x="6135624" y="3026664"/>
            <a:ext cx="246888" cy="246888"/>
          </a:xfrm>
          <a:prstGeom prst="ellipse">
            <a:avLst/>
          </a:prstGeom>
          <a:solidFill>
            <a:srgbClr val="3569F4"/>
          </a:solidFill>
          <a:ln w="25400">
            <a:solidFill>
              <a:srgbClr val="FFFFFF"/>
            </a:solidFill>
          </a:ln>
          <a:effectLst>
            <a:outerShdw blurRad="76200" dist="19050" dir="5400000" algn="t" rotWithShape="0">
              <a:srgbClr val="2E4A9A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5" name="Oval 14"/>
          <p:cNvSpPr/>
          <p:nvPr/>
        </p:nvSpPr>
        <p:spPr>
          <a:xfrm>
            <a:off x="9930384" y="3026664"/>
            <a:ext cx="246888" cy="246888"/>
          </a:xfrm>
          <a:prstGeom prst="ellipse">
            <a:avLst/>
          </a:prstGeom>
          <a:solidFill>
            <a:srgbClr val="3569F4"/>
          </a:solidFill>
          <a:ln w="25400">
            <a:solidFill>
              <a:srgbClr val="FFFFFF"/>
            </a:solidFill>
          </a:ln>
          <a:effectLst>
            <a:outerShdw blurRad="76200" dist="19050" dir="5400000" algn="t" rotWithShape="0">
              <a:srgbClr val="2E4A9A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16" name="Oval 15"/>
          <p:cNvSpPr/>
          <p:nvPr/>
        </p:nvSpPr>
        <p:spPr>
          <a:xfrm>
            <a:off x="557784" y="5367528"/>
            <a:ext cx="274320" cy="274320"/>
          </a:xfrm>
          <a:prstGeom prst="ellipse">
            <a:avLst/>
          </a:prstGeom>
          <a:solidFill>
            <a:srgbClr val="3569F4"/>
          </a:solidFill>
          <a:ln w="25400">
            <a:solidFill>
              <a:srgbClr val="FFFFFF"/>
            </a:solidFill>
          </a:ln>
          <a:effectLst>
            <a:outerShdw blurRad="76200" dist="19050" dir="5400000" algn="t" rotWithShape="0">
              <a:srgbClr val="2E4A9A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5394960"/>
            <a:ext cx="22517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0E1A4B"/>
                </a:solidFill>
                <a:latin typeface="Segoe UI Semibold"/>
              </a:rPr>
              <a:t>Every arrival accounted for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5632704"/>
            <a:ext cx="225171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5B6A92"/>
                </a:solidFill>
                <a:latin typeface="Segoe UI"/>
              </a:rPr>
              <a:t>Mailbox and uploads side by side; filter by ready, quarantined, needs attention or scanning.</a:t>
            </a:r>
          </a:p>
        </p:txBody>
      </p:sp>
      <p:sp>
        <p:nvSpPr>
          <p:cNvPr id="19" name="Oval 18"/>
          <p:cNvSpPr/>
          <p:nvPr/>
        </p:nvSpPr>
        <p:spPr>
          <a:xfrm>
            <a:off x="3376422" y="5367528"/>
            <a:ext cx="274320" cy="274320"/>
          </a:xfrm>
          <a:prstGeom prst="ellipse">
            <a:avLst/>
          </a:prstGeom>
          <a:solidFill>
            <a:srgbClr val="3569F4"/>
          </a:solidFill>
          <a:ln w="25400">
            <a:solidFill>
              <a:srgbClr val="FFFFFF"/>
            </a:solidFill>
          </a:ln>
          <a:effectLst>
            <a:outerShdw blurRad="76200" dist="19050" dir="5400000" algn="t" rotWithShape="0">
              <a:srgbClr val="2E4A9A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51326" y="5394960"/>
            <a:ext cx="22517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0E1A4B"/>
                </a:solidFill>
                <a:latin typeface="Segoe UI Semibold"/>
              </a:rPr>
              <a:t>Scanned before anyone opens 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51326" y="5632704"/>
            <a:ext cx="225171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5B6A92"/>
                </a:solidFill>
                <a:latin typeface="Segoe UI"/>
              </a:rPr>
              <a:t>Each attachment is malware-scanned; anything suspicious is quarantined and never previewed.</a:t>
            </a:r>
          </a:p>
        </p:txBody>
      </p:sp>
      <p:sp>
        <p:nvSpPr>
          <p:cNvPr id="22" name="Oval 21"/>
          <p:cNvSpPr/>
          <p:nvPr/>
        </p:nvSpPr>
        <p:spPr>
          <a:xfrm>
            <a:off x="6195060" y="5367528"/>
            <a:ext cx="274320" cy="274320"/>
          </a:xfrm>
          <a:prstGeom prst="ellipse">
            <a:avLst/>
          </a:prstGeom>
          <a:solidFill>
            <a:srgbClr val="3569F4"/>
          </a:solidFill>
          <a:ln w="25400">
            <a:solidFill>
              <a:srgbClr val="FFFFFF"/>
            </a:solidFill>
          </a:ln>
          <a:effectLst>
            <a:outerShdw blurRad="76200" dist="19050" dir="5400000" algn="t" rotWithShape="0">
              <a:srgbClr val="2E4A9A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69964" y="5394960"/>
            <a:ext cx="22517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0E1A4B"/>
                </a:solidFill>
                <a:latin typeface="Segoe UI Semibold"/>
              </a:rPr>
              <a:t>Provenance and fingerprints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69964" y="5632704"/>
            <a:ext cx="225171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5B6A92"/>
                </a:solidFill>
                <a:latin typeface="Segoe UI"/>
              </a:rPr>
              <a:t>Sender, recipient, sizes and a SHA-256 hash of the original, recorded and immutable.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04554" y="5340096"/>
            <a:ext cx="2635758" cy="987552"/>
          </a:xfrm>
          <a:prstGeom prst="roundRect">
            <a:avLst>
              <a:gd name="adj" fmla="val 12000"/>
            </a:avLst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150858" y="5422392"/>
            <a:ext cx="234315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3569F4"/>
                </a:solidFill>
                <a:latin typeface="Segoe UI Semibold"/>
              </a:rPr>
              <a:t>WHY IT MATTERS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50858" y="5614416"/>
            <a:ext cx="23431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0E1A4B"/>
                </a:solidFill>
                <a:latin typeface="Segoe UI"/>
              </a:rPr>
              <a:t>Untrusted documents are handled as untrusted data, and you can always prove what arrived, when, and from whom.</a:t>
            </a:r>
          </a:p>
        </p:txBody>
      </p:sp>
      <p:pic>
        <p:nvPicPr>
          <p:cNvPr id="28" name="Picture 27" descr="finora-mar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6419088"/>
            <a:ext cx="201168" cy="20116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22960" y="6437376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0E1A4B"/>
                </a:solidFill>
                <a:latin typeface="Segoe UI Semibold"/>
              </a:rPr>
              <a:t>Finora Flow</a:t>
            </a:r>
            <a:r>
              <a:rPr sz="900" b="0">
                <a:solidFill>
                  <a:srgbClr val="5B6A92"/>
                </a:solidFill>
                <a:latin typeface="Segoe UI"/>
              </a:rPr>
              <a:t>   ·   Client walkthrough   ·   Intake to record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81360" y="6437376"/>
            <a:ext cx="7589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B6A92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atmosphere" descr="app-atmosphere.jpg"/>
          <p:cNvPicPr>
            <a:picLocks noChangeAspect="1"/>
          </p:cNvPicPr>
          <p:nvPr/>
        </p:nvPicPr>
        <p:blipFill>
          <a:blip r:embed="rId2"/>
          <a:srcRect t="262" b="26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3569F4"/>
                </a:solidFill>
                <a:latin typeface="Segoe UI Semibold"/>
              </a:rPr>
              <a:t>DOCUMENT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0E1A4B"/>
                </a:solidFill>
                <a:latin typeface="Segoe UI Semibold"/>
              </a:rPr>
              <a:t>Values read from the document, checked by a person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70432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5B6A92"/>
                </a:solidFill>
                <a:latin typeface="Segoe UI"/>
              </a:rPr>
              <a:t>Every value carries its evidence, a confidence level and a one-click way to confirm or correct 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13916" y="1755648"/>
            <a:ext cx="5230368" cy="449884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BE3F5"/>
            </a:solidFill>
          </a:ln>
          <a:effectLst>
            <a:outerShdw blurRad="190500" dist="38100" dir="5400000" algn="t" rotWithShape="0">
              <a:srgbClr val="2E4A9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document-review.png"/>
          <p:cNvPicPr>
            <a:picLocks noChangeAspect="1"/>
          </p:cNvPicPr>
          <p:nvPr/>
        </p:nvPicPr>
        <p:blipFill>
          <a:blip r:embed="rId3"/>
          <a:srcRect l="17361" t="982" b="73988"/>
          <a:stretch>
            <a:fillRect/>
          </a:stretch>
        </p:blipFill>
        <p:spPr>
          <a:xfrm>
            <a:off x="1668780" y="1810512"/>
            <a:ext cx="5120640" cy="4389120"/>
          </a:xfrm>
          <a:prstGeom prst="rect">
            <a:avLst/>
          </a:prstGeom>
          <a:ln w="6350">
            <a:solidFill>
              <a:srgbClr val="DBE3F5"/>
            </a:solidFill>
          </a:ln>
        </p:spPr>
      </p:pic>
      <p:sp>
        <p:nvSpPr>
          <p:cNvPr id="9" name="Oval 8"/>
          <p:cNvSpPr/>
          <p:nvPr/>
        </p:nvSpPr>
        <p:spPr>
          <a:xfrm>
            <a:off x="1578415" y="2791609"/>
            <a:ext cx="292608" cy="292608"/>
          </a:xfrm>
          <a:prstGeom prst="ellipse">
            <a:avLst/>
          </a:prstGeom>
          <a:solidFill>
            <a:srgbClr val="3569F4"/>
          </a:solidFill>
          <a:ln w="25400">
            <a:solidFill>
              <a:srgbClr val="FFFFFF"/>
            </a:solidFill>
          </a:ln>
          <a:effectLst>
            <a:outerShdw blurRad="76200" dist="19050" dir="5400000" algn="t" rotWithShape="0">
              <a:srgbClr val="2E4A9A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0" name="Oval 9"/>
          <p:cNvSpPr/>
          <p:nvPr/>
        </p:nvSpPr>
        <p:spPr>
          <a:xfrm>
            <a:off x="1578415" y="4030890"/>
            <a:ext cx="292608" cy="292608"/>
          </a:xfrm>
          <a:prstGeom prst="ellipse">
            <a:avLst/>
          </a:prstGeom>
          <a:solidFill>
            <a:srgbClr val="3569F4"/>
          </a:solidFill>
          <a:ln w="25400">
            <a:solidFill>
              <a:srgbClr val="FFFFFF"/>
            </a:solidFill>
          </a:ln>
          <a:effectLst>
            <a:outerShdw blurRad="76200" dist="19050" dir="5400000" algn="t" rotWithShape="0">
              <a:srgbClr val="2E4A9A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1" name="Oval 10"/>
          <p:cNvSpPr/>
          <p:nvPr/>
        </p:nvSpPr>
        <p:spPr>
          <a:xfrm>
            <a:off x="4203281" y="4030890"/>
            <a:ext cx="292608" cy="292608"/>
          </a:xfrm>
          <a:prstGeom prst="ellipse">
            <a:avLst/>
          </a:prstGeom>
          <a:solidFill>
            <a:srgbClr val="3569F4"/>
          </a:solidFill>
          <a:ln w="25400">
            <a:solidFill>
              <a:srgbClr val="FFFFFF"/>
            </a:solidFill>
          </a:ln>
          <a:effectLst>
            <a:outerShdw blurRad="76200" dist="19050" dir="5400000" algn="t" rotWithShape="0">
              <a:srgbClr val="2E4A9A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12" name="Oval 11"/>
          <p:cNvSpPr/>
          <p:nvPr/>
        </p:nvSpPr>
        <p:spPr>
          <a:xfrm>
            <a:off x="4203281" y="4951744"/>
            <a:ext cx="292608" cy="292608"/>
          </a:xfrm>
          <a:prstGeom prst="ellipse">
            <a:avLst/>
          </a:prstGeom>
          <a:solidFill>
            <a:srgbClr val="3569F4"/>
          </a:solidFill>
          <a:ln w="25400">
            <a:solidFill>
              <a:srgbClr val="FFFFFF"/>
            </a:solidFill>
          </a:ln>
          <a:effectLst>
            <a:outerShdw blurRad="76200" dist="19050" dir="5400000" algn="t" rotWithShape="0">
              <a:srgbClr val="2E4A9A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13" name="Oval 12"/>
          <p:cNvSpPr/>
          <p:nvPr/>
        </p:nvSpPr>
        <p:spPr>
          <a:xfrm>
            <a:off x="8321040" y="1773936"/>
            <a:ext cx="329184" cy="329184"/>
          </a:xfrm>
          <a:prstGeom prst="ellipse">
            <a:avLst/>
          </a:prstGeom>
          <a:solidFill>
            <a:srgbClr val="3569F4"/>
          </a:solidFill>
          <a:ln w="25400">
            <a:solidFill>
              <a:srgbClr val="FFFFFF"/>
            </a:solidFill>
          </a:ln>
          <a:effectLst>
            <a:outerShdw blurRad="76200" dist="19050" dir="5400000" algn="t" rotWithShape="0">
              <a:srgbClr val="2E4A9A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59952" y="1783080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0E1A4B"/>
                </a:solidFill>
                <a:latin typeface="Segoe UI Semibold"/>
              </a:rPr>
              <a:t>Warnings that need a human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59952" y="2057400"/>
            <a:ext cx="28803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5B6A92"/>
                </a:solidFill>
                <a:latin typeface="Segoe UI"/>
              </a:rPr>
              <a:t>Bank details on a document and other risk signals are flagged and must be acknowledged by a person.</a:t>
            </a:r>
          </a:p>
        </p:txBody>
      </p:sp>
      <p:sp>
        <p:nvSpPr>
          <p:cNvPr id="16" name="Oval 15"/>
          <p:cNvSpPr/>
          <p:nvPr/>
        </p:nvSpPr>
        <p:spPr>
          <a:xfrm>
            <a:off x="8321040" y="2697480"/>
            <a:ext cx="329184" cy="329184"/>
          </a:xfrm>
          <a:prstGeom prst="ellipse">
            <a:avLst/>
          </a:prstGeom>
          <a:solidFill>
            <a:srgbClr val="3569F4"/>
          </a:solidFill>
          <a:ln w="25400">
            <a:solidFill>
              <a:srgbClr val="FFFFFF"/>
            </a:solidFill>
          </a:ln>
          <a:effectLst>
            <a:outerShdw blurRad="76200" dist="19050" dir="5400000" algn="t" rotWithShape="0">
              <a:srgbClr val="2E4A9A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59952" y="2706624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0E1A4B"/>
                </a:solidFill>
                <a:latin typeface="Segoe UI Semibold"/>
              </a:rPr>
              <a:t>The original, side by side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59952" y="2980944"/>
            <a:ext cx="28803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5B6A92"/>
                </a:solidFill>
                <a:latin typeface="Segoe UI"/>
              </a:rPr>
              <a:t>A safe in-browser preview with scripting disabled, served by short-lived signed links.</a:t>
            </a:r>
          </a:p>
        </p:txBody>
      </p:sp>
      <p:sp>
        <p:nvSpPr>
          <p:cNvPr id="19" name="Oval 18"/>
          <p:cNvSpPr/>
          <p:nvPr/>
        </p:nvSpPr>
        <p:spPr>
          <a:xfrm>
            <a:off x="8321040" y="3447288"/>
            <a:ext cx="329184" cy="329184"/>
          </a:xfrm>
          <a:prstGeom prst="ellipse">
            <a:avLst/>
          </a:prstGeom>
          <a:solidFill>
            <a:srgbClr val="3569F4"/>
          </a:solidFill>
          <a:ln w="25400">
            <a:solidFill>
              <a:srgbClr val="FFFFFF"/>
            </a:solidFill>
          </a:ln>
          <a:effectLst>
            <a:outerShdw blurRad="76200" dist="19050" dir="5400000" algn="t" rotWithShape="0">
              <a:srgbClr val="2E4A9A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59952" y="3456432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0E1A4B"/>
                </a:solidFill>
                <a:latin typeface="Segoe UI Semibold"/>
              </a:rPr>
              <a:t>Blockers before acceptance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59952" y="3730752"/>
            <a:ext cx="28803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5B6A92"/>
                </a:solidFill>
                <a:latin typeface="Segoe UI"/>
              </a:rPr>
              <a:t>Everything that stops the reading being accepted, listed in plain language.</a:t>
            </a:r>
          </a:p>
        </p:txBody>
      </p:sp>
      <p:sp>
        <p:nvSpPr>
          <p:cNvPr id="22" name="Oval 21"/>
          <p:cNvSpPr/>
          <p:nvPr/>
        </p:nvSpPr>
        <p:spPr>
          <a:xfrm>
            <a:off x="8321040" y="4197096"/>
            <a:ext cx="329184" cy="329184"/>
          </a:xfrm>
          <a:prstGeom prst="ellipse">
            <a:avLst/>
          </a:prstGeom>
          <a:solidFill>
            <a:srgbClr val="3569F4"/>
          </a:solidFill>
          <a:ln w="25400">
            <a:solidFill>
              <a:srgbClr val="FFFFFF"/>
            </a:solidFill>
          </a:ln>
          <a:effectLst>
            <a:outerShdw blurRad="76200" dist="19050" dir="5400000" algn="t" rotWithShape="0">
              <a:srgbClr val="2E4A9A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59952" y="4206240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0E1A4B"/>
                </a:solidFill>
                <a:latin typeface="Segoe UI Semibold"/>
              </a:rPr>
              <a:t>Confidence and evidence per field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59952" y="4480560"/>
            <a:ext cx="28803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5B6A92"/>
                </a:solidFill>
                <a:latin typeface="Segoe UI"/>
              </a:rPr>
              <a:t>Show on the document, mark as correct, or change it with a reason.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21040" y="4992624"/>
            <a:ext cx="3319272" cy="850392"/>
          </a:xfrm>
          <a:prstGeom prst="roundRect">
            <a:avLst>
              <a:gd name="adj" fmla="val 12000"/>
            </a:avLst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85632" y="5084064"/>
            <a:ext cx="29900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3569F4"/>
                </a:solidFill>
                <a:latin typeface="Segoe UI Semibold"/>
              </a:rPr>
              <a:t>WHY IT MATTERS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85632" y="5303520"/>
            <a:ext cx="2990088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0E1A4B"/>
                </a:solidFill>
                <a:latin typeface="Segoe UI"/>
              </a:rPr>
              <a:t>Automation removes re-keying, but a named person still accepts the reading, so nothing a model proposes reaches the ledger unchecked.</a:t>
            </a:r>
          </a:p>
        </p:txBody>
      </p:sp>
      <p:pic>
        <p:nvPicPr>
          <p:cNvPr id="28" name="Picture 27" descr="finora-ma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419088"/>
            <a:ext cx="201168" cy="20116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22960" y="6437376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0E1A4B"/>
                </a:solidFill>
                <a:latin typeface="Segoe UI Semibold"/>
              </a:rPr>
              <a:t>Finora Flow</a:t>
            </a:r>
            <a:r>
              <a:rPr sz="900" b="0">
                <a:solidFill>
                  <a:srgbClr val="5B6A92"/>
                </a:solidFill>
                <a:latin typeface="Segoe UI"/>
              </a:rPr>
              <a:t>   ·   Client walkthrough   ·   Intake to record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81360" y="6437376"/>
            <a:ext cx="7589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B6A92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ignin-scene.jpg"/>
          <p:cNvPicPr>
            <a:picLocks noChangeAspect="1"/>
          </p:cNvPicPr>
          <p:nvPr/>
        </p:nvPicPr>
        <p:blipFill>
          <a:blip r:embed="rId2"/>
          <a:srcRect t="262" b="26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778240" cy="6858000"/>
          </a:xfrm>
          <a:prstGeom prst="rect">
            <a:avLst/>
          </a:prstGeom>
          <a:gradFill rotWithShape="1">
            <a:gsLst>
              <a:gs pos="0">
                <a:srgbClr val="F6F9FF">
                  <a:alpha val="97000"/>
                </a:srgbClr>
              </a:gs>
              <a:gs pos="55000">
                <a:srgbClr val="F6F9FF">
                  <a:alpha val="90000"/>
                </a:srgbClr>
              </a:gs>
              <a:gs pos="100000">
                <a:srgbClr val="F6F9FF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5486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600" b="0">
                <a:solidFill>
                  <a:srgbClr val="3569F4"/>
                </a:solidFill>
                <a:latin typeface="Segoe UI Semibold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57607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0">
                <a:solidFill>
                  <a:srgbClr val="0E1A4B"/>
                </a:solidFill>
                <a:latin typeface="Segoe UI Semibold"/>
              </a:rPr>
              <a:t>Approve spend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069080"/>
            <a:ext cx="5486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5B6A92"/>
                </a:solidFill>
                <a:latin typeface="Segoe UI"/>
              </a:rPr>
              <a:t>Requests are routed by amount to the right people, and nobody approves their own.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120640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3569F4"/>
                </a:solidFill>
                <a:latin typeface="Segoe UI Semibold"/>
              </a:rPr>
              <a:t>Estimates  ·  Approval queue  ·  Decisions  ·  Purchase orders</a:t>
            </a:r>
          </a:p>
        </p:txBody>
      </p:sp>
      <p:pic>
        <p:nvPicPr>
          <p:cNvPr id="8" name="Picture 7" descr="finora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19088"/>
            <a:ext cx="201168" cy="2011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" y="6437376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0E1A4B"/>
                </a:solidFill>
                <a:latin typeface="Segoe UI Semibold"/>
              </a:rPr>
              <a:t>Finora Flow</a:t>
            </a:r>
            <a:r>
              <a:rPr sz="900" b="0">
                <a:solidFill>
                  <a:srgbClr val="5B6A92"/>
                </a:solidFill>
                <a:latin typeface="Segoe UI"/>
              </a:rPr>
              <a:t>   ·   Client walkthrough   ·   Approve spend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37376"/>
            <a:ext cx="7589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B6A92"/>
                </a:solidFill>
                <a:latin typeface="Segoe U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atmosphere" descr="app-atmosphere.jpg"/>
          <p:cNvPicPr>
            <a:picLocks noChangeAspect="1"/>
          </p:cNvPicPr>
          <p:nvPr/>
        </p:nvPicPr>
        <p:blipFill>
          <a:blip r:embed="rId2"/>
          <a:srcRect t="262" b="26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3569F4"/>
                </a:solidFill>
                <a:latin typeface="Segoe UI Semibold"/>
              </a:rPr>
              <a:t>ESTIMATES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0E1A4B"/>
                </a:solidFill>
                <a:latin typeface="Segoe UI Semibold"/>
              </a:rPr>
              <a:t>Permission to spend, requested before the money is committed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70432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5B6A92"/>
                </a:solidFill>
                <a:latin typeface="Segoe UI"/>
              </a:rPr>
              <a:t>A requester raises an estimate blank or from an accepted document and sees its route before sending 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3776" y="1755648"/>
            <a:ext cx="7470648" cy="4192255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BE3F5"/>
            </a:solidFill>
          </a:ln>
          <a:effectLst>
            <a:outerShdw blurRad="190500" dist="38100" dir="5400000" algn="t" rotWithShape="0">
              <a:srgbClr val="2E4A9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estimates.png"/>
          <p:cNvPicPr>
            <a:picLocks noChangeAspect="1"/>
          </p:cNvPicPr>
          <p:nvPr/>
        </p:nvPicPr>
        <p:blipFill>
          <a:blip r:embed="rId3"/>
          <a:srcRect l="17361" t="4444" b="22222"/>
          <a:stretch>
            <a:fillRect/>
          </a:stretch>
        </p:blipFill>
        <p:spPr>
          <a:xfrm>
            <a:off x="548640" y="1810512"/>
            <a:ext cx="7360920" cy="4082527"/>
          </a:xfrm>
          <a:prstGeom prst="rect">
            <a:avLst/>
          </a:prstGeom>
          <a:ln w="6350">
            <a:solidFill>
              <a:srgbClr val="DBE3F5"/>
            </a:solidFill>
          </a:ln>
        </p:spPr>
      </p:pic>
      <p:sp>
        <p:nvSpPr>
          <p:cNvPr id="9" name="Oval 8"/>
          <p:cNvSpPr/>
          <p:nvPr/>
        </p:nvSpPr>
        <p:spPr>
          <a:xfrm>
            <a:off x="464192" y="2369371"/>
            <a:ext cx="292608" cy="292608"/>
          </a:xfrm>
          <a:prstGeom prst="ellipse">
            <a:avLst/>
          </a:prstGeom>
          <a:solidFill>
            <a:srgbClr val="3569F4"/>
          </a:solidFill>
          <a:ln w="25400">
            <a:solidFill>
              <a:srgbClr val="FFFFFF"/>
            </a:solidFill>
          </a:ln>
          <a:effectLst>
            <a:outerShdw blurRad="76200" dist="19050" dir="5400000" algn="t" rotWithShape="0">
              <a:srgbClr val="2E4A9A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0" name="Oval 9"/>
          <p:cNvSpPr/>
          <p:nvPr/>
        </p:nvSpPr>
        <p:spPr>
          <a:xfrm>
            <a:off x="4441563" y="2839480"/>
            <a:ext cx="292608" cy="292608"/>
          </a:xfrm>
          <a:prstGeom prst="ellipse">
            <a:avLst/>
          </a:prstGeom>
          <a:solidFill>
            <a:srgbClr val="3569F4"/>
          </a:solidFill>
          <a:ln w="25400">
            <a:solidFill>
              <a:srgbClr val="FFFFFF"/>
            </a:solidFill>
          </a:ln>
          <a:effectLst>
            <a:outerShdw blurRad="76200" dist="19050" dir="5400000" algn="t" rotWithShape="0">
              <a:srgbClr val="2E4A9A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1" name="Oval 10"/>
          <p:cNvSpPr/>
          <p:nvPr/>
        </p:nvSpPr>
        <p:spPr>
          <a:xfrm>
            <a:off x="5474566" y="2839480"/>
            <a:ext cx="292608" cy="292608"/>
          </a:xfrm>
          <a:prstGeom prst="ellipse">
            <a:avLst/>
          </a:prstGeom>
          <a:solidFill>
            <a:srgbClr val="3569F4"/>
          </a:solidFill>
          <a:ln w="25400">
            <a:solidFill>
              <a:srgbClr val="FFFFFF"/>
            </a:solidFill>
          </a:ln>
          <a:effectLst>
            <a:outerShdw blurRad="76200" dist="19050" dir="5400000" algn="t" rotWithShape="0">
              <a:srgbClr val="2E4A9A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12" name="Oval 11"/>
          <p:cNvSpPr/>
          <p:nvPr/>
        </p:nvSpPr>
        <p:spPr>
          <a:xfrm>
            <a:off x="6625096" y="2369371"/>
            <a:ext cx="292608" cy="292608"/>
          </a:xfrm>
          <a:prstGeom prst="ellipse">
            <a:avLst/>
          </a:prstGeom>
          <a:solidFill>
            <a:srgbClr val="3569F4"/>
          </a:solidFill>
          <a:ln w="25400">
            <a:solidFill>
              <a:srgbClr val="FFFFFF"/>
            </a:solidFill>
          </a:ln>
          <a:effectLst>
            <a:outerShdw blurRad="76200" dist="19050" dir="5400000" algn="t" rotWithShape="0">
              <a:srgbClr val="2E4A9A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13" name="Oval 12"/>
          <p:cNvSpPr/>
          <p:nvPr/>
        </p:nvSpPr>
        <p:spPr>
          <a:xfrm>
            <a:off x="8321040" y="1773936"/>
            <a:ext cx="329184" cy="329184"/>
          </a:xfrm>
          <a:prstGeom prst="ellipse">
            <a:avLst/>
          </a:prstGeom>
          <a:solidFill>
            <a:srgbClr val="3569F4"/>
          </a:solidFill>
          <a:ln w="25400">
            <a:solidFill>
              <a:srgbClr val="FFFFFF"/>
            </a:solidFill>
          </a:ln>
          <a:effectLst>
            <a:outerShdw blurRad="76200" dist="19050" dir="5400000" algn="t" rotWithShape="0">
              <a:srgbClr val="2E4A9A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59952" y="1783080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0E1A4B"/>
                </a:solidFill>
                <a:latin typeface="Segoe UI Semibold"/>
              </a:rPr>
              <a:t>Views built around the job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59952" y="2057400"/>
            <a:ext cx="28803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5B6A92"/>
                </a:solidFill>
                <a:latin typeface="Segoe UI"/>
              </a:rPr>
              <a:t>My drafts, mine awaiting approval, everything I raised.</a:t>
            </a:r>
          </a:p>
        </p:txBody>
      </p:sp>
      <p:sp>
        <p:nvSpPr>
          <p:cNvPr id="16" name="Oval 15"/>
          <p:cNvSpPr/>
          <p:nvPr/>
        </p:nvSpPr>
        <p:spPr>
          <a:xfrm>
            <a:off x="8321040" y="2523744"/>
            <a:ext cx="329184" cy="329184"/>
          </a:xfrm>
          <a:prstGeom prst="ellipse">
            <a:avLst/>
          </a:prstGeom>
          <a:solidFill>
            <a:srgbClr val="3569F4"/>
          </a:solidFill>
          <a:ln w="25400">
            <a:solidFill>
              <a:srgbClr val="FFFFFF"/>
            </a:solidFill>
          </a:ln>
          <a:effectLst>
            <a:outerShdw blurRad="76200" dist="19050" dir="5400000" algn="t" rotWithShape="0">
              <a:srgbClr val="2E4A9A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59952" y="2532888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0E1A4B"/>
                </a:solidFill>
                <a:latin typeface="Segoe UI Semibold"/>
              </a:rPr>
              <a:t>Who it is waiting 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59952" y="2807208"/>
            <a:ext cx="28803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5B6A92"/>
                </a:solidFill>
                <a:latin typeface="Segoe UI"/>
              </a:rPr>
              <a:t>The live approval step for every request that is still moving.</a:t>
            </a:r>
          </a:p>
        </p:txBody>
      </p:sp>
      <p:sp>
        <p:nvSpPr>
          <p:cNvPr id="19" name="Oval 18"/>
          <p:cNvSpPr/>
          <p:nvPr/>
        </p:nvSpPr>
        <p:spPr>
          <a:xfrm>
            <a:off x="8321040" y="3273552"/>
            <a:ext cx="329184" cy="329184"/>
          </a:xfrm>
          <a:prstGeom prst="ellipse">
            <a:avLst/>
          </a:prstGeom>
          <a:solidFill>
            <a:srgbClr val="3569F4"/>
          </a:solidFill>
          <a:ln w="25400">
            <a:solidFill>
              <a:srgbClr val="FFFFFF"/>
            </a:solidFill>
          </a:ln>
          <a:effectLst>
            <a:outerShdw blurRad="76200" dist="19050" dir="5400000" algn="t" rotWithShape="0">
              <a:srgbClr val="2E4A9A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59952" y="3282696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0E1A4B"/>
                </a:solidFill>
                <a:latin typeface="Segoe UI Semibold"/>
              </a:rPr>
              <a:t>Clear status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59952" y="3557016"/>
            <a:ext cx="28803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5B6A92"/>
                </a:solidFill>
                <a:latin typeface="Segoe UI"/>
              </a:rPr>
              <a:t>Draft, pending approval, approved, rejected, always as a labelled pill.</a:t>
            </a:r>
          </a:p>
        </p:txBody>
      </p:sp>
      <p:sp>
        <p:nvSpPr>
          <p:cNvPr id="22" name="Oval 21"/>
          <p:cNvSpPr/>
          <p:nvPr/>
        </p:nvSpPr>
        <p:spPr>
          <a:xfrm>
            <a:off x="8321040" y="4023360"/>
            <a:ext cx="329184" cy="329184"/>
          </a:xfrm>
          <a:prstGeom prst="ellipse">
            <a:avLst/>
          </a:prstGeom>
          <a:solidFill>
            <a:srgbClr val="3569F4"/>
          </a:solidFill>
          <a:ln w="25400">
            <a:solidFill>
              <a:srgbClr val="FFFFFF"/>
            </a:solidFill>
          </a:ln>
          <a:effectLst>
            <a:outerShdw blurRad="76200" dist="19050" dir="5400000" algn="t" rotWithShape="0">
              <a:srgbClr val="2E4A9A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59952" y="4032504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0E1A4B"/>
                </a:solidFill>
                <a:latin typeface="Segoe UI Semibold"/>
              </a:rPr>
              <a:t>Raise in one click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59952" y="4306824"/>
            <a:ext cx="28803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5B6A92"/>
                </a:solidFill>
                <a:latin typeface="Segoe UI"/>
              </a:rPr>
              <a:t>Start blank, or from a quotation already read and accepted in Documents.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21040" y="4818888"/>
            <a:ext cx="3319272" cy="850392"/>
          </a:xfrm>
          <a:prstGeom prst="roundRect">
            <a:avLst>
              <a:gd name="adj" fmla="val 12000"/>
            </a:avLst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85632" y="4910328"/>
            <a:ext cx="29900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3569F4"/>
                </a:solidFill>
                <a:latin typeface="Segoe UI Semibold"/>
              </a:rPr>
              <a:t>WHY IT MATTERS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85632" y="5129784"/>
            <a:ext cx="2990088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0E1A4B"/>
                </a:solidFill>
                <a:latin typeface="Segoe UI"/>
              </a:rPr>
              <a:t>Requesters stop chasing approvers by email, because the request itself says where it is and what it is waiting on.</a:t>
            </a:r>
          </a:p>
        </p:txBody>
      </p:sp>
      <p:pic>
        <p:nvPicPr>
          <p:cNvPr id="28" name="Picture 27" descr="finora-ma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419088"/>
            <a:ext cx="201168" cy="20116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22960" y="6437376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0E1A4B"/>
                </a:solidFill>
                <a:latin typeface="Segoe UI Semibold"/>
              </a:rPr>
              <a:t>Finora Flow</a:t>
            </a:r>
            <a:r>
              <a:rPr sz="900" b="0">
                <a:solidFill>
                  <a:srgbClr val="5B6A92"/>
                </a:solidFill>
                <a:latin typeface="Segoe UI"/>
              </a:rPr>
              <a:t>   ·   Client walkthrough   ·   Approve spend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81360" y="6437376"/>
            <a:ext cx="7589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B6A92"/>
                </a:solidFill>
                <a:latin typeface="Segoe U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atmosphere" descr="app-atmosphere.jpg"/>
          <p:cNvPicPr>
            <a:picLocks noChangeAspect="1"/>
          </p:cNvPicPr>
          <p:nvPr/>
        </p:nvPicPr>
        <p:blipFill>
          <a:blip r:embed="rId2"/>
          <a:srcRect t="262" b="26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3569F4"/>
                </a:solidFill>
                <a:latin typeface="Segoe UI Semibold"/>
              </a:rPr>
              <a:t>APPROVALS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0E1A4B"/>
                </a:solidFill>
                <a:latin typeface="Segoe UI Semibold"/>
              </a:rPr>
              <a:t>A single queue for approvers, and a decision with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70432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5B6A92"/>
                </a:solidFill>
                <a:latin typeface="Segoe UI"/>
              </a:rPr>
              <a:t>Estimates, invoices and purchase orders routed to this approver, oldest first.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00784"/>
            <a:ext cx="5440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B6A92"/>
                </a:solidFill>
                <a:latin typeface="Segoe UI Semibold"/>
              </a:rPr>
              <a:t>APPROVAL QUEUE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3776" y="2345436"/>
            <a:ext cx="5550408" cy="248716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BE3F5"/>
            </a:solidFill>
          </a:ln>
          <a:effectLst>
            <a:outerShdw blurRad="190500" dist="38100" dir="5400000" algn="t" rotWithShape="0">
              <a:srgbClr val="2E4A9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approvals.png"/>
          <p:cNvPicPr>
            <a:picLocks noChangeAspect="1"/>
          </p:cNvPicPr>
          <p:nvPr/>
        </p:nvPicPr>
        <p:blipFill>
          <a:blip r:embed="rId3"/>
          <a:srcRect l="17361" t="4444" b="37778"/>
          <a:stretch>
            <a:fillRect/>
          </a:stretch>
        </p:blipFill>
        <p:spPr>
          <a:xfrm>
            <a:off x="548640" y="2400300"/>
            <a:ext cx="5440680" cy="2377440"/>
          </a:xfrm>
          <a:prstGeom prst="rect">
            <a:avLst/>
          </a:prstGeom>
          <a:ln w="6350">
            <a:solidFill>
              <a:srgbClr val="DBE3F5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6199632" y="1700784"/>
            <a:ext cx="5440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B6A92"/>
                </a:solidFill>
                <a:latin typeface="Segoe UI Semibold"/>
              </a:rPr>
              <a:t>DECIDING AN ESTIMATE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58653" y="1956816"/>
            <a:ext cx="4922637" cy="326440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BE3F5"/>
            </a:solidFill>
          </a:ln>
          <a:effectLst>
            <a:outerShdw blurRad="190500" dist="38100" dir="5400000" algn="t" rotWithShape="0">
              <a:srgbClr val="2E4A9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approval-decision.png"/>
          <p:cNvPicPr>
            <a:picLocks noChangeAspect="1"/>
          </p:cNvPicPr>
          <p:nvPr/>
        </p:nvPicPr>
        <p:blipFill>
          <a:blip r:embed="rId4"/>
          <a:srcRect l="17361" t="4444" b="8889"/>
          <a:stretch>
            <a:fillRect/>
          </a:stretch>
        </p:blipFill>
        <p:spPr>
          <a:xfrm>
            <a:off x="6513517" y="2011680"/>
            <a:ext cx="4812909" cy="3154680"/>
          </a:xfrm>
          <a:prstGeom prst="rect">
            <a:avLst/>
          </a:prstGeom>
          <a:ln w="6350">
            <a:solidFill>
              <a:srgbClr val="DBE3F5"/>
            </a:solidFill>
          </a:ln>
        </p:spPr>
      </p:pic>
      <p:sp>
        <p:nvSpPr>
          <p:cNvPr id="13" name="Oval 12"/>
          <p:cNvSpPr/>
          <p:nvPr/>
        </p:nvSpPr>
        <p:spPr>
          <a:xfrm>
            <a:off x="3204972" y="3218688"/>
            <a:ext cx="246888" cy="246888"/>
          </a:xfrm>
          <a:prstGeom prst="ellipse">
            <a:avLst/>
          </a:prstGeom>
          <a:solidFill>
            <a:srgbClr val="3569F4"/>
          </a:solidFill>
          <a:ln w="25400">
            <a:solidFill>
              <a:srgbClr val="FFFFFF"/>
            </a:solidFill>
          </a:ln>
          <a:effectLst>
            <a:outerShdw blurRad="76200" dist="19050" dir="5400000" algn="t" rotWithShape="0">
              <a:srgbClr val="2E4A9A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4" name="Oval 13"/>
          <p:cNvSpPr/>
          <p:nvPr/>
        </p:nvSpPr>
        <p:spPr>
          <a:xfrm>
            <a:off x="9253551" y="2794195"/>
            <a:ext cx="246888" cy="246888"/>
          </a:xfrm>
          <a:prstGeom prst="ellipse">
            <a:avLst/>
          </a:prstGeom>
          <a:solidFill>
            <a:srgbClr val="3569F4"/>
          </a:solidFill>
          <a:ln w="25400">
            <a:solidFill>
              <a:srgbClr val="FFFFFF"/>
            </a:solidFill>
          </a:ln>
          <a:effectLst>
            <a:outerShdw blurRad="76200" dist="19050" dir="5400000" algn="t" rotWithShape="0">
              <a:srgbClr val="2E4A9A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5" name="Oval 14"/>
          <p:cNvSpPr/>
          <p:nvPr/>
        </p:nvSpPr>
        <p:spPr>
          <a:xfrm>
            <a:off x="9528575" y="3586909"/>
            <a:ext cx="246888" cy="246888"/>
          </a:xfrm>
          <a:prstGeom prst="ellipse">
            <a:avLst/>
          </a:prstGeom>
          <a:solidFill>
            <a:srgbClr val="3569F4"/>
          </a:solidFill>
          <a:ln w="25400">
            <a:solidFill>
              <a:srgbClr val="FFFFFF"/>
            </a:solidFill>
          </a:ln>
          <a:effectLst>
            <a:outerShdw blurRad="76200" dist="19050" dir="5400000" algn="t" rotWithShape="0">
              <a:srgbClr val="2E4A9A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16" name="Oval 15"/>
          <p:cNvSpPr/>
          <p:nvPr/>
        </p:nvSpPr>
        <p:spPr>
          <a:xfrm>
            <a:off x="557784" y="5367528"/>
            <a:ext cx="274320" cy="274320"/>
          </a:xfrm>
          <a:prstGeom prst="ellipse">
            <a:avLst/>
          </a:prstGeom>
          <a:solidFill>
            <a:srgbClr val="3569F4"/>
          </a:solidFill>
          <a:ln w="25400">
            <a:solidFill>
              <a:srgbClr val="FFFFFF"/>
            </a:solidFill>
          </a:ln>
          <a:effectLst>
            <a:outerShdw blurRad="76200" dist="19050" dir="5400000" algn="t" rotWithShape="0">
              <a:srgbClr val="2E4A9A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5394960"/>
            <a:ext cx="22517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0E1A4B"/>
                </a:solidFill>
                <a:latin typeface="Segoe UI Semibold"/>
              </a:rPr>
              <a:t>Only what is theirs now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5632704"/>
            <a:ext cx="225171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5B6A92"/>
                </a:solidFill>
                <a:latin typeface="Segoe UI"/>
              </a:rPr>
              <a:t>A step whose turn has not come is not offered, so the queue is always actionable.</a:t>
            </a:r>
          </a:p>
        </p:txBody>
      </p:sp>
      <p:sp>
        <p:nvSpPr>
          <p:cNvPr id="19" name="Oval 18"/>
          <p:cNvSpPr/>
          <p:nvPr/>
        </p:nvSpPr>
        <p:spPr>
          <a:xfrm>
            <a:off x="3376422" y="5367528"/>
            <a:ext cx="274320" cy="274320"/>
          </a:xfrm>
          <a:prstGeom prst="ellipse">
            <a:avLst/>
          </a:prstGeom>
          <a:solidFill>
            <a:srgbClr val="3569F4"/>
          </a:solidFill>
          <a:ln w="25400">
            <a:solidFill>
              <a:srgbClr val="FFFFFF"/>
            </a:solidFill>
          </a:ln>
          <a:effectLst>
            <a:outerShdw blurRad="76200" dist="19050" dir="5400000" algn="t" rotWithShape="0">
              <a:srgbClr val="2E4A9A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51326" y="5394960"/>
            <a:ext cx="22517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0E1A4B"/>
                </a:solidFill>
                <a:latin typeface="Segoe UI Semibold"/>
              </a:rPr>
              <a:t>The route, visible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51326" y="5632704"/>
            <a:ext cx="225171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5B6A92"/>
                </a:solidFill>
                <a:latin typeface="Segoe UI"/>
              </a:rPr>
              <a:t>Each level in order, who is waiting, and whose turn it is.</a:t>
            </a:r>
          </a:p>
        </p:txBody>
      </p:sp>
      <p:sp>
        <p:nvSpPr>
          <p:cNvPr id="22" name="Oval 21"/>
          <p:cNvSpPr/>
          <p:nvPr/>
        </p:nvSpPr>
        <p:spPr>
          <a:xfrm>
            <a:off x="6195060" y="5367528"/>
            <a:ext cx="274320" cy="274320"/>
          </a:xfrm>
          <a:prstGeom prst="ellipse">
            <a:avLst/>
          </a:prstGeom>
          <a:solidFill>
            <a:srgbClr val="3569F4"/>
          </a:solidFill>
          <a:ln w="25400">
            <a:solidFill>
              <a:srgbClr val="FFFFFF"/>
            </a:solidFill>
          </a:ln>
          <a:effectLst>
            <a:outerShdw blurRad="76200" dist="19050" dir="5400000" algn="t" rotWithShape="0">
              <a:srgbClr val="2E4A9A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69964" y="5394960"/>
            <a:ext cx="22517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0E1A4B"/>
                </a:solidFill>
                <a:latin typeface="Segoe UI Semibold"/>
              </a:rPr>
              <a:t>A recorded decision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69964" y="5632704"/>
            <a:ext cx="225171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5B6A92"/>
                </a:solidFill>
                <a:latin typeface="Segoe UI"/>
              </a:rPr>
              <a:t>Approve or reject; a rejection needs a reason. Name and time are fixed to the step.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04554" y="5340096"/>
            <a:ext cx="2635758" cy="987552"/>
          </a:xfrm>
          <a:prstGeom prst="roundRect">
            <a:avLst>
              <a:gd name="adj" fmla="val 12000"/>
            </a:avLst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150858" y="5422392"/>
            <a:ext cx="234315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3569F4"/>
                </a:solidFill>
                <a:latin typeface="Segoe UI Semibold"/>
              </a:rPr>
              <a:t>WHY IT MATTERS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50858" y="5614416"/>
            <a:ext cx="23431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0E1A4B"/>
                </a:solidFill>
                <a:latin typeface="Segoe UI"/>
              </a:rPr>
              <a:t>Approvers act faster and with less risk: the right person, at the right level, with the record in front of them.</a:t>
            </a:r>
          </a:p>
        </p:txBody>
      </p:sp>
      <p:pic>
        <p:nvPicPr>
          <p:cNvPr id="28" name="Picture 27" descr="finora-mar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6419088"/>
            <a:ext cx="201168" cy="20116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22960" y="6437376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0E1A4B"/>
                </a:solidFill>
                <a:latin typeface="Segoe UI Semibold"/>
              </a:rPr>
              <a:t>Finora Flow</a:t>
            </a:r>
            <a:r>
              <a:rPr sz="900" b="0">
                <a:solidFill>
                  <a:srgbClr val="5B6A92"/>
                </a:solidFill>
                <a:latin typeface="Segoe UI"/>
              </a:rPr>
              <a:t>   ·   Client walkthrough   ·   Approve spend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81360" y="6437376"/>
            <a:ext cx="7589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B6A92"/>
                </a:solidFill>
                <a:latin typeface="Segoe U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atmosphere" descr="app-atmosphere.jpg"/>
          <p:cNvPicPr>
            <a:picLocks noChangeAspect="1"/>
          </p:cNvPicPr>
          <p:nvPr/>
        </p:nvPicPr>
        <p:blipFill>
          <a:blip r:embed="rId2"/>
          <a:srcRect t="262" b="26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3569F4"/>
                </a:solidFill>
                <a:latin typeface="Segoe UI Semibold"/>
              </a:rPr>
              <a:t>PURCHASE ORDERS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0E1A4B"/>
                </a:solidFill>
                <a:latin typeface="Segoe UI Semibold"/>
              </a:rPr>
              <a:t>Commitments suppliers can bill against, with live capacity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70432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5B6A92"/>
                </a:solidFill>
                <a:latin typeface="Segoe UI"/>
              </a:rPr>
              <a:t>Orders are required above a configurable threshold (initially JMD 50,000) and approved through the same matrix.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00784"/>
            <a:ext cx="5440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B6A92"/>
                </a:solidFill>
                <a:latin typeface="Segoe UI Semibold"/>
              </a:rPr>
              <a:t>PURCHASE ORDER REGISTER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3776" y="2345436"/>
            <a:ext cx="5550408" cy="248716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BE3F5"/>
            </a:solidFill>
          </a:ln>
          <a:effectLst>
            <a:outerShdw blurRad="190500" dist="38100" dir="5400000" algn="t" rotWithShape="0">
              <a:srgbClr val="2E4A9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purchase-orders.png"/>
          <p:cNvPicPr>
            <a:picLocks noChangeAspect="1"/>
          </p:cNvPicPr>
          <p:nvPr/>
        </p:nvPicPr>
        <p:blipFill>
          <a:blip r:embed="rId3"/>
          <a:srcRect l="17361" t="4444" b="37778"/>
          <a:stretch>
            <a:fillRect/>
          </a:stretch>
        </p:blipFill>
        <p:spPr>
          <a:xfrm>
            <a:off x="548640" y="2400300"/>
            <a:ext cx="5440680" cy="2377440"/>
          </a:xfrm>
          <a:prstGeom prst="rect">
            <a:avLst/>
          </a:prstGeom>
          <a:ln w="6350">
            <a:solidFill>
              <a:srgbClr val="DBE3F5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6199632" y="1700784"/>
            <a:ext cx="5440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B6A92"/>
                </a:solidFill>
                <a:latin typeface="Segoe UI Semibold"/>
              </a:rPr>
              <a:t>AN OPEN PURCHASE ORDER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3630" y="1956816"/>
            <a:ext cx="5472684" cy="326440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BE3F5"/>
            </a:solidFill>
          </a:ln>
          <a:effectLst>
            <a:outerShdw blurRad="190500" dist="38100" dir="5400000" algn="t" rotWithShape="0">
              <a:srgbClr val="2E4A9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po-detail.png"/>
          <p:cNvPicPr>
            <a:picLocks noChangeAspect="1"/>
          </p:cNvPicPr>
          <p:nvPr/>
        </p:nvPicPr>
        <p:blipFill>
          <a:blip r:embed="rId4"/>
          <a:srcRect l="17361" t="4444" b="17778"/>
          <a:stretch>
            <a:fillRect/>
          </a:stretch>
        </p:blipFill>
        <p:spPr>
          <a:xfrm>
            <a:off x="6238494" y="2011680"/>
            <a:ext cx="5362956" cy="3154680"/>
          </a:xfrm>
          <a:prstGeom prst="rect">
            <a:avLst/>
          </a:prstGeom>
          <a:ln w="6350">
            <a:solidFill>
              <a:srgbClr val="DBE3F5"/>
            </a:solidFill>
          </a:ln>
        </p:spPr>
      </p:pic>
      <p:sp>
        <p:nvSpPr>
          <p:cNvPr id="13" name="Oval 12"/>
          <p:cNvSpPr/>
          <p:nvPr/>
        </p:nvSpPr>
        <p:spPr>
          <a:xfrm>
            <a:off x="9305783" y="2897733"/>
            <a:ext cx="246888" cy="246888"/>
          </a:xfrm>
          <a:prstGeom prst="ellipse">
            <a:avLst/>
          </a:prstGeom>
          <a:solidFill>
            <a:srgbClr val="3569F4"/>
          </a:solidFill>
          <a:ln w="25400">
            <a:solidFill>
              <a:srgbClr val="FFFFFF"/>
            </a:solidFill>
          </a:ln>
          <a:effectLst>
            <a:outerShdw blurRad="76200" dist="19050" dir="5400000" algn="t" rotWithShape="0">
              <a:srgbClr val="2E4A9A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4" name="Oval 13"/>
          <p:cNvSpPr/>
          <p:nvPr/>
        </p:nvSpPr>
        <p:spPr>
          <a:xfrm>
            <a:off x="6160116" y="2897733"/>
            <a:ext cx="246888" cy="246888"/>
          </a:xfrm>
          <a:prstGeom prst="ellipse">
            <a:avLst/>
          </a:prstGeom>
          <a:solidFill>
            <a:srgbClr val="3569F4"/>
          </a:solidFill>
          <a:ln w="25400">
            <a:solidFill>
              <a:srgbClr val="FFFFFF"/>
            </a:solidFill>
          </a:ln>
          <a:effectLst>
            <a:outerShdw blurRad="76200" dist="19050" dir="5400000" algn="t" rotWithShape="0">
              <a:srgbClr val="2E4A9A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15" name="Oval 14"/>
          <p:cNvSpPr/>
          <p:nvPr/>
        </p:nvSpPr>
        <p:spPr>
          <a:xfrm>
            <a:off x="557784" y="5367528"/>
            <a:ext cx="274320" cy="274320"/>
          </a:xfrm>
          <a:prstGeom prst="ellipse">
            <a:avLst/>
          </a:prstGeom>
          <a:solidFill>
            <a:srgbClr val="3569F4"/>
          </a:solidFill>
          <a:ln w="25400">
            <a:solidFill>
              <a:srgbClr val="FFFFFF"/>
            </a:solidFill>
          </a:ln>
          <a:effectLst>
            <a:outerShdw blurRad="76200" dist="19050" dir="5400000" algn="t" rotWithShape="0">
              <a:srgbClr val="2E4A9A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5394960"/>
            <a:ext cx="22517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0E1A4B"/>
                </a:solidFill>
                <a:latin typeface="Segoe UI Semibold"/>
              </a:rPr>
              <a:t>A register of commitments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5632704"/>
            <a:ext cx="225171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5B6A92"/>
                </a:solidFill>
                <a:latin typeface="Segoe UI"/>
              </a:rPr>
              <a:t>Open, awaiting approval and closed orders, with what remains to bill on each.</a:t>
            </a:r>
          </a:p>
        </p:txBody>
      </p:sp>
      <p:sp>
        <p:nvSpPr>
          <p:cNvPr id="18" name="Oval 17"/>
          <p:cNvSpPr/>
          <p:nvPr/>
        </p:nvSpPr>
        <p:spPr>
          <a:xfrm>
            <a:off x="3376422" y="5367528"/>
            <a:ext cx="274320" cy="274320"/>
          </a:xfrm>
          <a:prstGeom prst="ellipse">
            <a:avLst/>
          </a:prstGeom>
          <a:solidFill>
            <a:srgbClr val="3569F4"/>
          </a:solidFill>
          <a:ln w="25400">
            <a:solidFill>
              <a:srgbClr val="FFFFFF"/>
            </a:solidFill>
          </a:ln>
          <a:effectLst>
            <a:outerShdw blurRad="76200" dist="19050" dir="5400000" algn="t" rotWithShape="0">
              <a:srgbClr val="2E4A9A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51326" y="5394960"/>
            <a:ext cx="22517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0E1A4B"/>
                </a:solidFill>
                <a:latin typeface="Segoe UI Semibold"/>
              </a:rPr>
              <a:t>What is left, derived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51326" y="5632704"/>
            <a:ext cx="225171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5B6A92"/>
                </a:solidFill>
                <a:latin typeface="Segoe UI"/>
              </a:rPr>
              <a:t>Committed, billed so far and still available, calculated from the invoices linked to it.</a:t>
            </a:r>
          </a:p>
        </p:txBody>
      </p:sp>
      <p:sp>
        <p:nvSpPr>
          <p:cNvPr id="21" name="Oval 20"/>
          <p:cNvSpPr/>
          <p:nvPr/>
        </p:nvSpPr>
        <p:spPr>
          <a:xfrm>
            <a:off x="6195060" y="5367528"/>
            <a:ext cx="274320" cy="274320"/>
          </a:xfrm>
          <a:prstGeom prst="ellipse">
            <a:avLst/>
          </a:prstGeom>
          <a:solidFill>
            <a:srgbClr val="3569F4"/>
          </a:solidFill>
          <a:ln w="25400">
            <a:solidFill>
              <a:srgbClr val="FFFFFF"/>
            </a:solidFill>
          </a:ln>
          <a:effectLst>
            <a:outerShdw blurRad="76200" dist="19050" dir="5400000" algn="t" rotWithShape="0">
              <a:srgbClr val="2E4A9A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9964" y="5394960"/>
            <a:ext cx="22517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0E1A4B"/>
                </a:solidFill>
                <a:latin typeface="Segoe UI Semibold"/>
              </a:rPr>
              <a:t>Overruns refused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69964" y="5632704"/>
            <a:ext cx="225171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5B6A92"/>
                </a:solidFill>
                <a:latin typeface="Segoe UI"/>
              </a:rPr>
              <a:t>An invoice that would exceed the order is stopped, with the shortfall named.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04554" y="5340096"/>
            <a:ext cx="2635758" cy="987552"/>
          </a:xfrm>
          <a:prstGeom prst="roundRect">
            <a:avLst>
              <a:gd name="adj" fmla="val 12000"/>
            </a:avLst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150858" y="5422392"/>
            <a:ext cx="234315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3569F4"/>
                </a:solidFill>
                <a:latin typeface="Segoe UI Semibold"/>
              </a:rPr>
              <a:t>WHY IT MATTERS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0858" y="5614416"/>
            <a:ext cx="23431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0E1A4B"/>
                </a:solidFill>
                <a:latin typeface="Segoe UI"/>
              </a:rPr>
              <a:t>Committed spend is controlled before the invoice arrives, not discovered after it is paid.</a:t>
            </a:r>
          </a:p>
        </p:txBody>
      </p:sp>
      <p:pic>
        <p:nvPicPr>
          <p:cNvPr id="27" name="Picture 26" descr="finora-mar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6419088"/>
            <a:ext cx="201168" cy="201168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822960" y="6437376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0E1A4B"/>
                </a:solidFill>
                <a:latin typeface="Segoe UI Semibold"/>
              </a:rPr>
              <a:t>Finora Flow</a:t>
            </a:r>
            <a:r>
              <a:rPr sz="900" b="0">
                <a:solidFill>
                  <a:srgbClr val="5B6A92"/>
                </a:solidFill>
                <a:latin typeface="Segoe UI"/>
              </a:rPr>
              <a:t>   ·   Client walkthrough   ·   Approve spend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81360" y="6437376"/>
            <a:ext cx="7589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B6A92"/>
                </a:solidFill>
                <a:latin typeface="Segoe U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ignin-scene.jpg"/>
          <p:cNvPicPr>
            <a:picLocks noChangeAspect="1"/>
          </p:cNvPicPr>
          <p:nvPr/>
        </p:nvPicPr>
        <p:blipFill>
          <a:blip r:embed="rId2"/>
          <a:srcRect t="262" b="26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778240" cy="6858000"/>
          </a:xfrm>
          <a:prstGeom prst="rect">
            <a:avLst/>
          </a:prstGeom>
          <a:gradFill rotWithShape="1">
            <a:gsLst>
              <a:gs pos="0">
                <a:srgbClr val="F6F9FF">
                  <a:alpha val="97000"/>
                </a:srgbClr>
              </a:gs>
              <a:gs pos="55000">
                <a:srgbClr val="F6F9FF">
                  <a:alpha val="90000"/>
                </a:srgbClr>
              </a:gs>
              <a:gs pos="100000">
                <a:srgbClr val="F6F9FF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5486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600" b="0">
                <a:solidFill>
                  <a:srgbClr val="3569F4"/>
                </a:solidFill>
                <a:latin typeface="Segoe UI Semibold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57607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0">
                <a:solidFill>
                  <a:srgbClr val="0E1A4B"/>
                </a:solidFill>
                <a:latin typeface="Segoe UI Semibold"/>
              </a:rPr>
              <a:t>Invoice to payment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069080"/>
            <a:ext cx="5486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5B6A92"/>
                </a:solidFill>
                <a:latin typeface="Segoe UI"/>
              </a:rPr>
              <a:t>Validate, confirm receipt, approve, pay, and ask the supplier.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120640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3569F4"/>
                </a:solidFill>
                <a:latin typeface="Segoe UI Semibold"/>
              </a:rPr>
              <a:t>Invoices  ·  Receipt sign-off  ·  Payment packages  ·  Vendor confirmation</a:t>
            </a:r>
          </a:p>
        </p:txBody>
      </p:sp>
      <p:pic>
        <p:nvPicPr>
          <p:cNvPr id="8" name="Picture 7" descr="finora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19088"/>
            <a:ext cx="201168" cy="2011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" y="6437376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0E1A4B"/>
                </a:solidFill>
                <a:latin typeface="Segoe UI Semibold"/>
              </a:rPr>
              <a:t>Finora Flow</a:t>
            </a:r>
            <a:r>
              <a:rPr sz="900" b="0">
                <a:solidFill>
                  <a:srgbClr val="5B6A92"/>
                </a:solidFill>
                <a:latin typeface="Segoe UI"/>
              </a:rPr>
              <a:t>   ·   Client walkthrough   ·   Invoice to payment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37376"/>
            <a:ext cx="7589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B6A92"/>
                </a:solidFill>
                <a:latin typeface="Segoe U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atmosphere" descr="app-atmosphere.jpg"/>
          <p:cNvPicPr>
            <a:picLocks noChangeAspect="1"/>
          </p:cNvPicPr>
          <p:nvPr/>
        </p:nvPicPr>
        <p:blipFill>
          <a:blip r:embed="rId2"/>
          <a:srcRect t="262" b="26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3569F4"/>
                </a:solidFill>
                <a:latin typeface="Segoe UI Semibold"/>
              </a:rPr>
              <a:t>INVOICE REGISTER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0E1A4B"/>
                </a:solidFill>
                <a:latin typeface="Segoe UI Semibold"/>
              </a:rPr>
              <a:t>Every supplier bill, what it is billed against, and who acts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70432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5B6A92"/>
                </a:solidFill>
                <a:latin typeface="Segoe UI"/>
              </a:rPr>
              <a:t>Headline figures are counted across the whole register, not just the page on screen.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37577" y="1755648"/>
            <a:ext cx="6183045" cy="449884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BE3F5"/>
            </a:solidFill>
          </a:ln>
          <a:effectLst>
            <a:outerShdw blurRad="190500" dist="38100" dir="5400000" algn="t" rotWithShape="0">
              <a:srgbClr val="2E4A9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invoices.png"/>
          <p:cNvPicPr>
            <a:picLocks noChangeAspect="1"/>
          </p:cNvPicPr>
          <p:nvPr/>
        </p:nvPicPr>
        <p:blipFill>
          <a:blip r:embed="rId3"/>
          <a:srcRect l="17361" t="4444"/>
          <a:stretch>
            <a:fillRect/>
          </a:stretch>
        </p:blipFill>
        <p:spPr>
          <a:xfrm>
            <a:off x="1192441" y="1810512"/>
            <a:ext cx="6073317" cy="4389120"/>
          </a:xfrm>
          <a:prstGeom prst="rect">
            <a:avLst/>
          </a:prstGeom>
          <a:ln w="6350">
            <a:solidFill>
              <a:srgbClr val="DBE3F5"/>
            </a:solidFill>
          </a:ln>
        </p:spPr>
      </p:pic>
      <p:sp>
        <p:nvSpPr>
          <p:cNvPr id="9" name="Oval 8"/>
          <p:cNvSpPr/>
          <p:nvPr/>
        </p:nvSpPr>
        <p:spPr>
          <a:xfrm>
            <a:off x="1056344" y="2562446"/>
            <a:ext cx="292608" cy="292608"/>
          </a:xfrm>
          <a:prstGeom prst="ellipse">
            <a:avLst/>
          </a:prstGeom>
          <a:solidFill>
            <a:srgbClr val="3569F4"/>
          </a:solidFill>
          <a:ln w="25400">
            <a:solidFill>
              <a:srgbClr val="FFFFFF"/>
            </a:solidFill>
          </a:ln>
          <a:effectLst>
            <a:outerShdw blurRad="76200" dist="19050" dir="5400000" algn="t" rotWithShape="0">
              <a:srgbClr val="2E4A9A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0" name="Oval 9"/>
          <p:cNvSpPr/>
          <p:nvPr/>
        </p:nvSpPr>
        <p:spPr>
          <a:xfrm>
            <a:off x="4072588" y="3225918"/>
            <a:ext cx="292608" cy="292608"/>
          </a:xfrm>
          <a:prstGeom prst="ellipse">
            <a:avLst/>
          </a:prstGeom>
          <a:solidFill>
            <a:srgbClr val="3569F4"/>
          </a:solidFill>
          <a:ln w="25400">
            <a:solidFill>
              <a:srgbClr val="FFFFFF"/>
            </a:solidFill>
          </a:ln>
          <a:effectLst>
            <a:outerShdw blurRad="76200" dist="19050" dir="5400000" algn="t" rotWithShape="0">
              <a:srgbClr val="2E4A9A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1" name="Oval 10"/>
          <p:cNvSpPr/>
          <p:nvPr/>
        </p:nvSpPr>
        <p:spPr>
          <a:xfrm>
            <a:off x="5129039" y="3225918"/>
            <a:ext cx="292608" cy="292608"/>
          </a:xfrm>
          <a:prstGeom prst="ellipse">
            <a:avLst/>
          </a:prstGeom>
          <a:solidFill>
            <a:srgbClr val="3569F4"/>
          </a:solidFill>
          <a:ln w="25400">
            <a:solidFill>
              <a:srgbClr val="FFFFFF"/>
            </a:solidFill>
          </a:ln>
          <a:effectLst>
            <a:outerShdw blurRad="76200" dist="19050" dir="5400000" algn="t" rotWithShape="0">
              <a:srgbClr val="2E4A9A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12" name="Oval 11"/>
          <p:cNvSpPr/>
          <p:nvPr/>
        </p:nvSpPr>
        <p:spPr>
          <a:xfrm>
            <a:off x="8321040" y="1773936"/>
            <a:ext cx="329184" cy="329184"/>
          </a:xfrm>
          <a:prstGeom prst="ellipse">
            <a:avLst/>
          </a:prstGeom>
          <a:solidFill>
            <a:srgbClr val="3569F4"/>
          </a:solidFill>
          <a:ln w="25400">
            <a:solidFill>
              <a:srgbClr val="FFFFFF"/>
            </a:solidFill>
          </a:ln>
          <a:effectLst>
            <a:outerShdw blurRad="76200" dist="19050" dir="5400000" algn="t" rotWithShape="0">
              <a:srgbClr val="2E4A9A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59952" y="1783080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0E1A4B"/>
                </a:solidFill>
                <a:latin typeface="Segoe UI Semibold"/>
              </a:rPr>
              <a:t>Register-wide figures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59952" y="2057400"/>
            <a:ext cx="28803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5B6A92"/>
                </a:solidFill>
                <a:latin typeface="Segoe UI"/>
              </a:rPr>
              <a:t>Total invoices, outstanding to pay, settled and pending, from one aggregate.</a:t>
            </a:r>
          </a:p>
        </p:txBody>
      </p:sp>
      <p:sp>
        <p:nvSpPr>
          <p:cNvPr id="15" name="Oval 14"/>
          <p:cNvSpPr/>
          <p:nvPr/>
        </p:nvSpPr>
        <p:spPr>
          <a:xfrm>
            <a:off x="8321040" y="2523744"/>
            <a:ext cx="329184" cy="329184"/>
          </a:xfrm>
          <a:prstGeom prst="ellipse">
            <a:avLst/>
          </a:prstGeom>
          <a:solidFill>
            <a:srgbClr val="3569F4"/>
          </a:solidFill>
          <a:ln w="25400">
            <a:solidFill>
              <a:srgbClr val="FFFFFF"/>
            </a:solidFill>
          </a:ln>
          <a:effectLst>
            <a:outerShdw blurRad="76200" dist="19050" dir="5400000" algn="t" rotWithShape="0">
              <a:srgbClr val="2E4A9A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59952" y="2532888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0E1A4B"/>
                </a:solidFill>
                <a:latin typeface="Segoe UI Semibold"/>
              </a:rPr>
              <a:t>Waiting on, and overdue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59952" y="2807208"/>
            <a:ext cx="28803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5B6A92"/>
                </a:solidFill>
                <a:latin typeface="Segoe UI"/>
              </a:rPr>
              <a:t>The person or step it is waiting on, with overdue and incomplete items flagged.</a:t>
            </a:r>
          </a:p>
        </p:txBody>
      </p:sp>
      <p:sp>
        <p:nvSpPr>
          <p:cNvPr id="18" name="Oval 17"/>
          <p:cNvSpPr/>
          <p:nvPr/>
        </p:nvSpPr>
        <p:spPr>
          <a:xfrm>
            <a:off x="8321040" y="3273552"/>
            <a:ext cx="329184" cy="329184"/>
          </a:xfrm>
          <a:prstGeom prst="ellipse">
            <a:avLst/>
          </a:prstGeom>
          <a:solidFill>
            <a:srgbClr val="3569F4"/>
          </a:solidFill>
          <a:ln w="25400">
            <a:solidFill>
              <a:srgbClr val="FFFFFF"/>
            </a:solidFill>
          </a:ln>
          <a:effectLst>
            <a:outerShdw blurRad="76200" dist="19050" dir="5400000" algn="t" rotWithShape="0">
              <a:srgbClr val="2E4A9A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59952" y="3282696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0E1A4B"/>
                </a:solidFill>
                <a:latin typeface="Segoe UI Semibold"/>
              </a:rPr>
              <a:t>Status and owner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59952" y="3557016"/>
            <a:ext cx="28803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5B6A92"/>
                </a:solidFill>
                <a:latin typeface="Segoe UI"/>
              </a:rPr>
              <a:t>Workflow state and the requester accountable for confirming receipt.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21040" y="4069080"/>
            <a:ext cx="3319272" cy="676656"/>
          </a:xfrm>
          <a:prstGeom prst="roundRect">
            <a:avLst>
              <a:gd name="adj" fmla="val 12000"/>
            </a:avLst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85632" y="4160520"/>
            <a:ext cx="29900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3569F4"/>
                </a:solidFill>
                <a:latin typeface="Segoe UI Semibold"/>
              </a:rPr>
              <a:t>WHY IT MATTERS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85632" y="4379976"/>
            <a:ext cx="299008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0E1A4B"/>
                </a:solidFill>
                <a:latin typeface="Segoe UI"/>
              </a:rPr>
              <a:t>Accounts payable sees at a glance what is stuck, what is late and who can unblock it.</a:t>
            </a:r>
          </a:p>
        </p:txBody>
      </p:sp>
      <p:pic>
        <p:nvPicPr>
          <p:cNvPr id="24" name="Picture 23" descr="finora-ma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419088"/>
            <a:ext cx="201168" cy="20116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22960" y="6437376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0E1A4B"/>
                </a:solidFill>
                <a:latin typeface="Segoe UI Semibold"/>
              </a:rPr>
              <a:t>Finora Flow</a:t>
            </a:r>
            <a:r>
              <a:rPr sz="900" b="0">
                <a:solidFill>
                  <a:srgbClr val="5B6A92"/>
                </a:solidFill>
                <a:latin typeface="Segoe UI"/>
              </a:rPr>
              <a:t>   ·   Client walkthrough   ·   Invoice to payment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81360" y="6437376"/>
            <a:ext cx="7589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B6A92"/>
                </a:solidFill>
                <a:latin typeface="Segoe U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atmosphere" descr="app-atmosphere.jpg"/>
          <p:cNvPicPr>
            <a:picLocks noChangeAspect="1"/>
          </p:cNvPicPr>
          <p:nvPr/>
        </p:nvPicPr>
        <p:blipFill>
          <a:blip r:embed="rId2"/>
          <a:srcRect t="262" b="26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3569F4"/>
                </a:solidFill>
                <a:latin typeface="Segoe UI Semibold"/>
              </a:rPr>
              <a:t>INVOICE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0E1A4B"/>
                </a:solidFill>
                <a:latin typeface="Segoe UI Semibold"/>
              </a:rPr>
              <a:t>Nothing is paid until someone outside finance confirms it arrived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70432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5B6A92"/>
                </a:solidFill>
                <a:latin typeface="Segoe UI"/>
              </a:rPr>
              <a:t>The invoice itself lists every reason it cannot move yet, and the server enforces the same list.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37577" y="1755648"/>
            <a:ext cx="6183045" cy="449884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BE3F5"/>
            </a:solidFill>
          </a:ln>
          <a:effectLst>
            <a:outerShdw blurRad="190500" dist="38100" dir="5400000" algn="t" rotWithShape="0">
              <a:srgbClr val="2E4A9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invoice-detail.png"/>
          <p:cNvPicPr>
            <a:picLocks noChangeAspect="1"/>
          </p:cNvPicPr>
          <p:nvPr/>
        </p:nvPicPr>
        <p:blipFill>
          <a:blip r:embed="rId3"/>
          <a:srcRect l="17361" t="4283" b="3640"/>
          <a:stretch>
            <a:fillRect/>
          </a:stretch>
        </p:blipFill>
        <p:spPr>
          <a:xfrm>
            <a:off x="1192441" y="1810512"/>
            <a:ext cx="6073317" cy="4389120"/>
          </a:xfrm>
          <a:prstGeom prst="rect">
            <a:avLst/>
          </a:prstGeom>
          <a:ln w="6350">
            <a:solidFill>
              <a:srgbClr val="DBE3F5"/>
            </a:solidFill>
          </a:ln>
        </p:spPr>
      </p:pic>
      <p:sp>
        <p:nvSpPr>
          <p:cNvPr id="9" name="Oval 8"/>
          <p:cNvSpPr/>
          <p:nvPr/>
        </p:nvSpPr>
        <p:spPr>
          <a:xfrm>
            <a:off x="4659505" y="2807420"/>
            <a:ext cx="292608" cy="292608"/>
          </a:xfrm>
          <a:prstGeom prst="ellipse">
            <a:avLst/>
          </a:prstGeom>
          <a:solidFill>
            <a:srgbClr val="3569F4"/>
          </a:solidFill>
          <a:ln w="25400">
            <a:solidFill>
              <a:srgbClr val="FFFFFF"/>
            </a:solidFill>
          </a:ln>
          <a:effectLst>
            <a:outerShdw blurRad="76200" dist="19050" dir="5400000" algn="t" rotWithShape="0">
              <a:srgbClr val="2E4A9A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0" name="Oval 9"/>
          <p:cNvSpPr/>
          <p:nvPr/>
        </p:nvSpPr>
        <p:spPr>
          <a:xfrm>
            <a:off x="4659505" y="3879182"/>
            <a:ext cx="292608" cy="292608"/>
          </a:xfrm>
          <a:prstGeom prst="ellipse">
            <a:avLst/>
          </a:prstGeom>
          <a:solidFill>
            <a:srgbClr val="3569F4"/>
          </a:solidFill>
          <a:ln w="25400">
            <a:solidFill>
              <a:srgbClr val="FFFFFF"/>
            </a:solidFill>
          </a:ln>
          <a:effectLst>
            <a:outerShdw blurRad="76200" dist="19050" dir="5400000" algn="t" rotWithShape="0">
              <a:srgbClr val="2E4A9A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1" name="Oval 10"/>
          <p:cNvSpPr/>
          <p:nvPr/>
        </p:nvSpPr>
        <p:spPr>
          <a:xfrm>
            <a:off x="4659505" y="4920322"/>
            <a:ext cx="292608" cy="292608"/>
          </a:xfrm>
          <a:prstGeom prst="ellipse">
            <a:avLst/>
          </a:prstGeom>
          <a:solidFill>
            <a:srgbClr val="3569F4"/>
          </a:solidFill>
          <a:ln w="25400">
            <a:solidFill>
              <a:srgbClr val="FFFFFF"/>
            </a:solidFill>
          </a:ln>
          <a:effectLst>
            <a:outerShdw blurRad="76200" dist="19050" dir="5400000" algn="t" rotWithShape="0">
              <a:srgbClr val="2E4A9A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12" name="Oval 11"/>
          <p:cNvSpPr/>
          <p:nvPr/>
        </p:nvSpPr>
        <p:spPr>
          <a:xfrm>
            <a:off x="1097173" y="4338509"/>
            <a:ext cx="292608" cy="292608"/>
          </a:xfrm>
          <a:prstGeom prst="ellipse">
            <a:avLst/>
          </a:prstGeom>
          <a:solidFill>
            <a:srgbClr val="3569F4"/>
          </a:solidFill>
          <a:ln w="25400">
            <a:solidFill>
              <a:srgbClr val="FFFFFF"/>
            </a:solidFill>
          </a:ln>
          <a:effectLst>
            <a:outerShdw blurRad="76200" dist="19050" dir="5400000" algn="t" rotWithShape="0">
              <a:srgbClr val="2E4A9A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13" name="Oval 12"/>
          <p:cNvSpPr/>
          <p:nvPr/>
        </p:nvSpPr>
        <p:spPr>
          <a:xfrm>
            <a:off x="8321040" y="1773936"/>
            <a:ext cx="329184" cy="329184"/>
          </a:xfrm>
          <a:prstGeom prst="ellipse">
            <a:avLst/>
          </a:prstGeom>
          <a:solidFill>
            <a:srgbClr val="3569F4"/>
          </a:solidFill>
          <a:ln w="25400">
            <a:solidFill>
              <a:srgbClr val="FFFFFF"/>
            </a:solidFill>
          </a:ln>
          <a:effectLst>
            <a:outerShdw blurRad="76200" dist="19050" dir="5400000" algn="t" rotWithShape="0">
              <a:srgbClr val="2E4A9A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59952" y="1783080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0E1A4B"/>
                </a:solidFill>
                <a:latin typeface="Segoe UI Semibold"/>
              </a:rPr>
              <a:t>Receipt confirmation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59952" y="2057400"/>
            <a:ext cx="28803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5B6A92"/>
                </a:solidFill>
                <a:latin typeface="Segoe UI"/>
              </a:rPr>
              <a:t>A named requester is asked to confirm the goods or services, and reminded every three working hours.</a:t>
            </a:r>
          </a:p>
        </p:txBody>
      </p:sp>
      <p:sp>
        <p:nvSpPr>
          <p:cNvPr id="16" name="Oval 15"/>
          <p:cNvSpPr/>
          <p:nvPr/>
        </p:nvSpPr>
        <p:spPr>
          <a:xfrm>
            <a:off x="8321040" y="2697480"/>
            <a:ext cx="329184" cy="329184"/>
          </a:xfrm>
          <a:prstGeom prst="ellipse">
            <a:avLst/>
          </a:prstGeom>
          <a:solidFill>
            <a:srgbClr val="3569F4"/>
          </a:solidFill>
          <a:ln w="25400">
            <a:solidFill>
              <a:srgbClr val="FFFFFF"/>
            </a:solidFill>
          </a:ln>
          <a:effectLst>
            <a:outerShdw blurRad="76200" dist="19050" dir="5400000" algn="t" rotWithShape="0">
              <a:srgbClr val="2E4A9A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59952" y="2706624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0E1A4B"/>
                </a:solidFill>
                <a:latin typeface="Segoe UI Semibold"/>
              </a:rPr>
              <a:t>Billed against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59952" y="2980944"/>
            <a:ext cx="28803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5B6A92"/>
                </a:solidFill>
                <a:latin typeface="Segoe UI"/>
              </a:rPr>
              <a:t>Linked estimate or purchase order, with any overrun measured against a configurable tolerance.</a:t>
            </a:r>
          </a:p>
        </p:txBody>
      </p:sp>
      <p:sp>
        <p:nvSpPr>
          <p:cNvPr id="19" name="Oval 18"/>
          <p:cNvSpPr/>
          <p:nvPr/>
        </p:nvSpPr>
        <p:spPr>
          <a:xfrm>
            <a:off x="8321040" y="3621024"/>
            <a:ext cx="329184" cy="329184"/>
          </a:xfrm>
          <a:prstGeom prst="ellipse">
            <a:avLst/>
          </a:prstGeom>
          <a:solidFill>
            <a:srgbClr val="3569F4"/>
          </a:solidFill>
          <a:ln w="25400">
            <a:solidFill>
              <a:srgbClr val="FFFFFF"/>
            </a:solidFill>
          </a:ln>
          <a:effectLst>
            <a:outerShdw blurRad="76200" dist="19050" dir="5400000" algn="t" rotWithShape="0">
              <a:srgbClr val="2E4A9A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59952" y="3630168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0E1A4B"/>
                </a:solidFill>
                <a:latin typeface="Segoe UI Semibold"/>
              </a:rPr>
              <a:t>Approval route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59952" y="3904488"/>
            <a:ext cx="28803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5B6A92"/>
                </a:solidFill>
                <a:latin typeface="Segoe UI"/>
              </a:rPr>
              <a:t>Worked out from the amount and cost centre, shown before it starts.</a:t>
            </a:r>
          </a:p>
        </p:txBody>
      </p:sp>
      <p:sp>
        <p:nvSpPr>
          <p:cNvPr id="22" name="Oval 21"/>
          <p:cNvSpPr/>
          <p:nvPr/>
        </p:nvSpPr>
        <p:spPr>
          <a:xfrm>
            <a:off x="8321040" y="4370832"/>
            <a:ext cx="329184" cy="329184"/>
          </a:xfrm>
          <a:prstGeom prst="ellipse">
            <a:avLst/>
          </a:prstGeom>
          <a:solidFill>
            <a:srgbClr val="3569F4"/>
          </a:solidFill>
          <a:ln w="25400">
            <a:solidFill>
              <a:srgbClr val="FFFFFF"/>
            </a:solidFill>
          </a:ln>
          <a:effectLst>
            <a:outerShdw blurRad="76200" dist="19050" dir="5400000" algn="t" rotWithShape="0">
              <a:srgbClr val="2E4A9A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59952" y="4379976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0E1A4B"/>
                </a:solidFill>
                <a:latin typeface="Segoe UI Semibold"/>
              </a:rPr>
              <a:t>Due-date pressure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59952" y="4654296"/>
            <a:ext cx="28803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5B6A92"/>
                </a:solidFill>
                <a:latin typeface="Segoe UI"/>
              </a:rPr>
              <a:t>Overdue invoices are called out where they are listed and where they are opened.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21040" y="5166360"/>
            <a:ext cx="3319272" cy="1024128"/>
          </a:xfrm>
          <a:prstGeom prst="roundRect">
            <a:avLst>
              <a:gd name="adj" fmla="val 12000"/>
            </a:avLst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85632" y="5257800"/>
            <a:ext cx="29900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3569F4"/>
                </a:solidFill>
                <a:latin typeface="Segoe UI Semibold"/>
              </a:rPr>
              <a:t>WHY IT MATTERS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85632" y="5477256"/>
            <a:ext cx="2990088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0E1A4B"/>
                </a:solidFill>
                <a:latin typeface="Segoe UI"/>
              </a:rPr>
              <a:t>Duplicate invoice numbers from the same supplier are refused by the database itself, so the most expensive mistake in accounts payable cannot happen by accident.</a:t>
            </a:r>
          </a:p>
        </p:txBody>
      </p:sp>
      <p:pic>
        <p:nvPicPr>
          <p:cNvPr id="28" name="Picture 27" descr="finora-ma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419088"/>
            <a:ext cx="201168" cy="20116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22960" y="6437376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0E1A4B"/>
                </a:solidFill>
                <a:latin typeface="Segoe UI Semibold"/>
              </a:rPr>
              <a:t>Finora Flow</a:t>
            </a:r>
            <a:r>
              <a:rPr sz="900" b="0">
                <a:solidFill>
                  <a:srgbClr val="5B6A92"/>
                </a:solidFill>
                <a:latin typeface="Segoe UI"/>
              </a:rPr>
              <a:t>   ·   Client walkthrough   ·   Invoice to payment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81360" y="6437376"/>
            <a:ext cx="7589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B6A92"/>
                </a:solidFill>
                <a:latin typeface="Segoe U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atmosphere" descr="app-atmosphere.jpg"/>
          <p:cNvPicPr>
            <a:picLocks noChangeAspect="1"/>
          </p:cNvPicPr>
          <p:nvPr/>
        </p:nvPicPr>
        <p:blipFill>
          <a:blip r:embed="rId2"/>
          <a:srcRect t="262" b="26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3569F4"/>
                </a:solidFill>
                <a:latin typeface="Segoe UI Semibold"/>
              </a:rPr>
              <a:t>PAYMENT PACKAGES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0E1A4B"/>
                </a:solidFill>
                <a:latin typeface="Segoe UI Semibold"/>
              </a:rPr>
              <a:t>Approved invoices gathered, sent once, and fingerprinted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70432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5B6A92"/>
                </a:solidFill>
                <a:latin typeface="Segoe UI"/>
              </a:rPr>
              <a:t>Assembling, submitting and marking paid are separate permissions held by different people.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00784"/>
            <a:ext cx="5440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B6A92"/>
                </a:solidFill>
                <a:latin typeface="Segoe UI Semibold"/>
              </a:rPr>
              <a:t>PAYMENT PACKAGE REGISTER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3776" y="2619756"/>
            <a:ext cx="5550408" cy="193852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BE3F5"/>
            </a:solidFill>
          </a:ln>
          <a:effectLst>
            <a:outerShdw blurRad="190500" dist="38100" dir="5400000" algn="t" rotWithShape="0">
              <a:srgbClr val="2E4A9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payments.png"/>
          <p:cNvPicPr>
            <a:picLocks noChangeAspect="1"/>
          </p:cNvPicPr>
          <p:nvPr/>
        </p:nvPicPr>
        <p:blipFill>
          <a:blip r:embed="rId3"/>
          <a:srcRect l="17361" t="4444" b="51111"/>
          <a:stretch>
            <a:fillRect/>
          </a:stretch>
        </p:blipFill>
        <p:spPr>
          <a:xfrm>
            <a:off x="548640" y="2674620"/>
            <a:ext cx="5440680" cy="1828800"/>
          </a:xfrm>
          <a:prstGeom prst="rect">
            <a:avLst/>
          </a:prstGeom>
          <a:ln w="6350">
            <a:solidFill>
              <a:srgbClr val="DBE3F5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6199632" y="1700784"/>
            <a:ext cx="5440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B6A92"/>
                </a:solidFill>
                <a:latin typeface="Segoe UI Semibold"/>
              </a:rPr>
              <a:t>A SUBMITTED PACKAGE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09864" y="1956816"/>
            <a:ext cx="4020216" cy="326440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BE3F5"/>
            </a:solidFill>
          </a:ln>
          <a:effectLst>
            <a:outerShdw blurRad="190500" dist="38100" dir="5400000" algn="t" rotWithShape="0">
              <a:srgbClr val="2E4A9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package-detail.png"/>
          <p:cNvPicPr>
            <a:picLocks noChangeAspect="1"/>
          </p:cNvPicPr>
          <p:nvPr/>
        </p:nvPicPr>
        <p:blipFill>
          <a:blip r:embed="rId4"/>
          <a:srcRect l="17361" t="2996" b="25094"/>
          <a:stretch>
            <a:fillRect/>
          </a:stretch>
        </p:blipFill>
        <p:spPr>
          <a:xfrm>
            <a:off x="6964728" y="2011680"/>
            <a:ext cx="3910488" cy="3154680"/>
          </a:xfrm>
          <a:prstGeom prst="rect">
            <a:avLst/>
          </a:prstGeom>
          <a:ln w="6350">
            <a:solidFill>
              <a:srgbClr val="DBE3F5"/>
            </a:solidFill>
          </a:ln>
        </p:spPr>
      </p:pic>
      <p:sp>
        <p:nvSpPr>
          <p:cNvPr id="13" name="Oval 12"/>
          <p:cNvSpPr/>
          <p:nvPr/>
        </p:nvSpPr>
        <p:spPr>
          <a:xfrm>
            <a:off x="452628" y="3072384"/>
            <a:ext cx="246888" cy="246888"/>
          </a:xfrm>
          <a:prstGeom prst="ellipse">
            <a:avLst/>
          </a:prstGeom>
          <a:solidFill>
            <a:srgbClr val="3569F4"/>
          </a:solidFill>
          <a:ln w="25400">
            <a:solidFill>
              <a:srgbClr val="FFFFFF"/>
            </a:solidFill>
          </a:ln>
          <a:effectLst>
            <a:outerShdw blurRad="76200" dist="19050" dir="5400000" algn="t" rotWithShape="0">
              <a:srgbClr val="2E4A9A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4" name="Oval 13"/>
          <p:cNvSpPr/>
          <p:nvPr/>
        </p:nvSpPr>
        <p:spPr>
          <a:xfrm>
            <a:off x="6874145" y="3452431"/>
            <a:ext cx="246888" cy="246888"/>
          </a:xfrm>
          <a:prstGeom prst="ellipse">
            <a:avLst/>
          </a:prstGeom>
          <a:solidFill>
            <a:srgbClr val="3569F4"/>
          </a:solidFill>
          <a:ln w="25400">
            <a:solidFill>
              <a:srgbClr val="FFFFFF"/>
            </a:solidFill>
          </a:ln>
          <a:effectLst>
            <a:outerShdw blurRad="76200" dist="19050" dir="5400000" algn="t" rotWithShape="0">
              <a:srgbClr val="2E4A9A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5" name="Oval 14"/>
          <p:cNvSpPr/>
          <p:nvPr/>
        </p:nvSpPr>
        <p:spPr>
          <a:xfrm>
            <a:off x="9167860" y="4103084"/>
            <a:ext cx="246888" cy="246888"/>
          </a:xfrm>
          <a:prstGeom prst="ellipse">
            <a:avLst/>
          </a:prstGeom>
          <a:solidFill>
            <a:srgbClr val="3569F4"/>
          </a:solidFill>
          <a:ln w="25400">
            <a:solidFill>
              <a:srgbClr val="FFFFFF"/>
            </a:solidFill>
          </a:ln>
          <a:effectLst>
            <a:outerShdw blurRad="76200" dist="19050" dir="5400000" algn="t" rotWithShape="0">
              <a:srgbClr val="2E4A9A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16" name="Oval 15"/>
          <p:cNvSpPr/>
          <p:nvPr/>
        </p:nvSpPr>
        <p:spPr>
          <a:xfrm>
            <a:off x="557784" y="5367528"/>
            <a:ext cx="274320" cy="274320"/>
          </a:xfrm>
          <a:prstGeom prst="ellipse">
            <a:avLst/>
          </a:prstGeom>
          <a:solidFill>
            <a:srgbClr val="3569F4"/>
          </a:solidFill>
          <a:ln w="25400">
            <a:solidFill>
              <a:srgbClr val="FFFFFF"/>
            </a:solidFill>
          </a:ln>
          <a:effectLst>
            <a:outerShdw blurRad="76200" dist="19050" dir="5400000" algn="t" rotWithShape="0">
              <a:srgbClr val="2E4A9A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5394960"/>
            <a:ext cx="22517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0E1A4B"/>
                </a:solidFill>
                <a:latin typeface="Segoe UI Semibold"/>
              </a:rPr>
              <a:t>Being assembled, or sent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5632704"/>
            <a:ext cx="225171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5B6A92"/>
                </a:solidFill>
                <a:latin typeface="Segoe UI"/>
              </a:rPr>
              <a:t>Open packages lead; totals are kept per currency and never added across currencies.</a:t>
            </a:r>
          </a:p>
        </p:txBody>
      </p:sp>
      <p:sp>
        <p:nvSpPr>
          <p:cNvPr id="19" name="Oval 18"/>
          <p:cNvSpPr/>
          <p:nvPr/>
        </p:nvSpPr>
        <p:spPr>
          <a:xfrm>
            <a:off x="3376422" y="5367528"/>
            <a:ext cx="274320" cy="274320"/>
          </a:xfrm>
          <a:prstGeom prst="ellipse">
            <a:avLst/>
          </a:prstGeom>
          <a:solidFill>
            <a:srgbClr val="3569F4"/>
          </a:solidFill>
          <a:ln w="25400">
            <a:solidFill>
              <a:srgbClr val="FFFFFF"/>
            </a:solidFill>
          </a:ln>
          <a:effectLst>
            <a:outerShdw blurRad="76200" dist="19050" dir="5400000" algn="t" rotWithShape="0">
              <a:srgbClr val="2E4A9A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51326" y="5394960"/>
            <a:ext cx="22517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0E1A4B"/>
                </a:solidFill>
                <a:latin typeface="Segoe UI Semibold"/>
              </a:rPr>
              <a:t>The file the bank received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51326" y="5632704"/>
            <a:ext cx="225171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5B6A92"/>
                </a:solidFill>
                <a:latin typeface="Segoe UI"/>
              </a:rPr>
              <a:t>A deterministic manifest with a SHA-256 fingerprint recorded at submission.</a:t>
            </a:r>
          </a:p>
        </p:txBody>
      </p:sp>
      <p:sp>
        <p:nvSpPr>
          <p:cNvPr id="22" name="Oval 21"/>
          <p:cNvSpPr/>
          <p:nvPr/>
        </p:nvSpPr>
        <p:spPr>
          <a:xfrm>
            <a:off x="6195060" y="5367528"/>
            <a:ext cx="274320" cy="274320"/>
          </a:xfrm>
          <a:prstGeom prst="ellipse">
            <a:avLst/>
          </a:prstGeom>
          <a:solidFill>
            <a:srgbClr val="3569F4"/>
          </a:solidFill>
          <a:ln w="25400">
            <a:solidFill>
              <a:srgbClr val="FFFFFF"/>
            </a:solidFill>
          </a:ln>
          <a:effectLst>
            <a:outerShdw blurRad="76200" dist="19050" dir="5400000" algn="t" rotWithShape="0">
              <a:srgbClr val="2E4A9A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69964" y="5394960"/>
            <a:ext cx="22517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0E1A4B"/>
                </a:solidFill>
                <a:latin typeface="Segoe UI Semibold"/>
              </a:rPr>
              <a:t>Evidence of submission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69964" y="5632704"/>
            <a:ext cx="225171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5B6A92"/>
                </a:solidFill>
                <a:latin typeface="Segoe UI"/>
              </a:rPr>
              <a:t>Bank reference, who sent it and when: what a payment is traced back to.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04554" y="5340096"/>
            <a:ext cx="2635758" cy="987552"/>
          </a:xfrm>
          <a:prstGeom prst="roundRect">
            <a:avLst>
              <a:gd name="adj" fmla="val 12000"/>
            </a:avLst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150858" y="5422392"/>
            <a:ext cx="234315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3569F4"/>
                </a:solidFill>
                <a:latin typeface="Segoe UI Semibold"/>
              </a:rPr>
              <a:t>WHY IT MATTERS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50858" y="5614416"/>
            <a:ext cx="23431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0E1A4B"/>
                </a:solidFill>
                <a:latin typeface="Segoe UI"/>
              </a:rPr>
              <a:t>The same invoice cannot enter two packages, and nobody can both send money and declare it received.</a:t>
            </a:r>
          </a:p>
        </p:txBody>
      </p:sp>
      <p:pic>
        <p:nvPicPr>
          <p:cNvPr id="28" name="Picture 27" descr="finora-mar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6419088"/>
            <a:ext cx="201168" cy="20116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22960" y="6437376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0E1A4B"/>
                </a:solidFill>
                <a:latin typeface="Segoe UI Semibold"/>
              </a:rPr>
              <a:t>Finora Flow</a:t>
            </a:r>
            <a:r>
              <a:rPr sz="900" b="0">
                <a:solidFill>
                  <a:srgbClr val="5B6A92"/>
                </a:solidFill>
                <a:latin typeface="Segoe UI"/>
              </a:rPr>
              <a:t>   ·   Client walkthrough   ·   Invoice to payment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81360" y="6437376"/>
            <a:ext cx="7589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B6A92"/>
                </a:solidFill>
                <a:latin typeface="Segoe U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atmosphere" descr="app-atmosphere.jpg"/>
          <p:cNvPicPr>
            <a:picLocks noChangeAspect="1"/>
          </p:cNvPicPr>
          <p:nvPr/>
        </p:nvPicPr>
        <p:blipFill>
          <a:blip r:embed="rId2"/>
          <a:srcRect t="262" b="26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3569F4"/>
                </a:solidFill>
                <a:latin typeface="Segoe UI Semibold"/>
              </a:rPr>
              <a:t>VENDOR CONFIRMATION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0E1A4B"/>
                </a:solidFill>
                <a:latin typeface="Segoe UI Semibold"/>
              </a:rPr>
              <a:t>A supplier's answer is a claim; a person here concludes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70432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5B6A92"/>
                </a:solidFill>
                <a:latin typeface="Segoe UI"/>
              </a:rPr>
              <a:t>After a package is sent, each supplier is asked whether the money arrived, by secure link or recorded by phone.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00784"/>
            <a:ext cx="5440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B6A92"/>
                </a:solidFill>
                <a:latin typeface="Segoe UI Semibold"/>
              </a:rPr>
              <a:t>CONFIRMATION QUEUE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3776" y="2619756"/>
            <a:ext cx="5550408" cy="193852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BE3F5"/>
            </a:solidFill>
          </a:ln>
          <a:effectLst>
            <a:outerShdw blurRad="190500" dist="38100" dir="5400000" algn="t" rotWithShape="0">
              <a:srgbClr val="2E4A9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vendor-confirmations.png"/>
          <p:cNvPicPr>
            <a:picLocks noChangeAspect="1"/>
          </p:cNvPicPr>
          <p:nvPr/>
        </p:nvPicPr>
        <p:blipFill>
          <a:blip r:embed="rId3"/>
          <a:srcRect l="17361" t="4444" b="51111"/>
          <a:stretch>
            <a:fillRect/>
          </a:stretch>
        </p:blipFill>
        <p:spPr>
          <a:xfrm>
            <a:off x="548640" y="2674620"/>
            <a:ext cx="5440680" cy="1828800"/>
          </a:xfrm>
          <a:prstGeom prst="rect">
            <a:avLst/>
          </a:prstGeom>
          <a:ln w="6350">
            <a:solidFill>
              <a:srgbClr val="DBE3F5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6199632" y="1700784"/>
            <a:ext cx="5440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B6A92"/>
                </a:solidFill>
                <a:latin typeface="Segoe UI Semibold"/>
              </a:rPr>
              <a:t>ONE SUPPLIER'S CHECK-IN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09864" y="1956816"/>
            <a:ext cx="4020216" cy="326440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BE3F5"/>
            </a:solidFill>
          </a:ln>
          <a:effectLst>
            <a:outerShdw blurRad="190500" dist="38100" dir="5400000" algn="t" rotWithShape="0">
              <a:srgbClr val="2E4A9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check-in-detail.png"/>
          <p:cNvPicPr>
            <a:picLocks noChangeAspect="1"/>
          </p:cNvPicPr>
          <p:nvPr/>
        </p:nvPicPr>
        <p:blipFill>
          <a:blip r:embed="rId4"/>
          <a:srcRect l="16869" r="2834" t="3322" b="16944"/>
          <a:stretch>
            <a:fillRect/>
          </a:stretch>
        </p:blipFill>
        <p:spPr>
          <a:xfrm>
            <a:off x="6964728" y="2011680"/>
            <a:ext cx="3910488" cy="3154680"/>
          </a:xfrm>
          <a:prstGeom prst="rect">
            <a:avLst/>
          </a:prstGeom>
          <a:ln w="6350">
            <a:solidFill>
              <a:srgbClr val="DBE3F5"/>
            </a:solidFill>
          </a:ln>
        </p:spPr>
      </p:pic>
      <p:sp>
        <p:nvSpPr>
          <p:cNvPr id="13" name="Oval 12"/>
          <p:cNvSpPr/>
          <p:nvPr/>
        </p:nvSpPr>
        <p:spPr>
          <a:xfrm>
            <a:off x="3159252" y="3493008"/>
            <a:ext cx="246888" cy="246888"/>
          </a:xfrm>
          <a:prstGeom prst="ellipse">
            <a:avLst/>
          </a:prstGeom>
          <a:solidFill>
            <a:srgbClr val="3569F4"/>
          </a:solidFill>
          <a:ln w="25400">
            <a:solidFill>
              <a:srgbClr val="FFFFFF"/>
            </a:solidFill>
          </a:ln>
          <a:effectLst>
            <a:outerShdw blurRad="76200" dist="19050" dir="5400000" algn="t" rotWithShape="0">
              <a:srgbClr val="2E4A9A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4" name="Oval 13"/>
          <p:cNvSpPr/>
          <p:nvPr/>
        </p:nvSpPr>
        <p:spPr>
          <a:xfrm>
            <a:off x="6851142" y="2591466"/>
            <a:ext cx="246888" cy="246888"/>
          </a:xfrm>
          <a:prstGeom prst="ellipse">
            <a:avLst/>
          </a:prstGeom>
          <a:solidFill>
            <a:srgbClr val="3569F4"/>
          </a:solidFill>
          <a:ln w="25400">
            <a:solidFill>
              <a:srgbClr val="FFFFFF"/>
            </a:solidFill>
          </a:ln>
          <a:effectLst>
            <a:outerShdw blurRad="76200" dist="19050" dir="5400000" algn="t" rotWithShape="0">
              <a:srgbClr val="2E4A9A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5" name="Oval 14"/>
          <p:cNvSpPr/>
          <p:nvPr/>
        </p:nvSpPr>
        <p:spPr>
          <a:xfrm>
            <a:off x="9489900" y="3955208"/>
            <a:ext cx="246888" cy="246888"/>
          </a:xfrm>
          <a:prstGeom prst="ellipse">
            <a:avLst/>
          </a:prstGeom>
          <a:solidFill>
            <a:srgbClr val="3569F4"/>
          </a:solidFill>
          <a:ln w="25400">
            <a:solidFill>
              <a:srgbClr val="FFFFFF"/>
            </a:solidFill>
          </a:ln>
          <a:effectLst>
            <a:outerShdw blurRad="76200" dist="19050" dir="5400000" algn="t" rotWithShape="0">
              <a:srgbClr val="2E4A9A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16" name="Oval 15"/>
          <p:cNvSpPr/>
          <p:nvPr/>
        </p:nvSpPr>
        <p:spPr>
          <a:xfrm>
            <a:off x="557784" y="5367528"/>
            <a:ext cx="274320" cy="274320"/>
          </a:xfrm>
          <a:prstGeom prst="ellipse">
            <a:avLst/>
          </a:prstGeom>
          <a:solidFill>
            <a:srgbClr val="3569F4"/>
          </a:solidFill>
          <a:ln w="25400">
            <a:solidFill>
              <a:srgbClr val="FFFFFF"/>
            </a:solidFill>
          </a:ln>
          <a:effectLst>
            <a:outerShdw blurRad="76200" dist="19050" dir="5400000" algn="t" rotWithShape="0">
              <a:srgbClr val="2E4A9A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5394960"/>
            <a:ext cx="22517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0E1A4B"/>
                </a:solidFill>
                <a:latin typeface="Segoe UI Semibold"/>
              </a:rPr>
              <a:t>Whose turn is it?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5632704"/>
            <a:ext cx="225171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5B6A92"/>
                </a:solidFill>
                <a:latin typeface="Segoe UI"/>
              </a:rPr>
              <a:t>Needs a decision, out with suppliers, or concluded, with the amount for each supplier.</a:t>
            </a:r>
          </a:p>
        </p:txBody>
      </p:sp>
      <p:sp>
        <p:nvSpPr>
          <p:cNvPr id="19" name="Oval 18"/>
          <p:cNvSpPr/>
          <p:nvPr/>
        </p:nvSpPr>
        <p:spPr>
          <a:xfrm>
            <a:off x="3376422" y="5367528"/>
            <a:ext cx="274320" cy="274320"/>
          </a:xfrm>
          <a:prstGeom prst="ellipse">
            <a:avLst/>
          </a:prstGeom>
          <a:solidFill>
            <a:srgbClr val="3569F4"/>
          </a:solidFill>
          <a:ln w="25400">
            <a:solidFill>
              <a:srgbClr val="FFFFFF"/>
            </a:solidFill>
          </a:ln>
          <a:effectLst>
            <a:outerShdw blurRad="76200" dist="19050" dir="5400000" algn="t" rotWithShape="0">
              <a:srgbClr val="2E4A9A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51326" y="5394960"/>
            <a:ext cx="22517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0E1A4B"/>
                </a:solidFill>
                <a:latin typeface="Segoe UI Semibold"/>
              </a:rPr>
              <a:t>Every step, a separate fact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51326" y="5632704"/>
            <a:ext cx="225171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5B6A92"/>
                </a:solidFill>
                <a:latin typeface="Segoe UI"/>
              </a:rPr>
              <a:t>Sent to bank, supplier asked, supplier answered, checked here, settled.</a:t>
            </a:r>
          </a:p>
        </p:txBody>
      </p:sp>
      <p:sp>
        <p:nvSpPr>
          <p:cNvPr id="22" name="Oval 21"/>
          <p:cNvSpPr/>
          <p:nvPr/>
        </p:nvSpPr>
        <p:spPr>
          <a:xfrm>
            <a:off x="6195060" y="5367528"/>
            <a:ext cx="274320" cy="274320"/>
          </a:xfrm>
          <a:prstGeom prst="ellipse">
            <a:avLst/>
          </a:prstGeom>
          <a:solidFill>
            <a:srgbClr val="3569F4"/>
          </a:solidFill>
          <a:ln w="25400">
            <a:solidFill>
              <a:srgbClr val="FFFFFF"/>
            </a:solidFill>
          </a:ln>
          <a:effectLst>
            <a:outerShdw blurRad="76200" dist="19050" dir="5400000" algn="t" rotWithShape="0">
              <a:srgbClr val="2E4A9A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69964" y="5394960"/>
            <a:ext cx="22517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0E1A4B"/>
                </a:solidFill>
                <a:latin typeface="Segoe UI Semibold"/>
              </a:rPr>
              <a:t>Concluding is segregated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69964" y="5632704"/>
            <a:ext cx="225171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5B6A92"/>
                </a:solidFill>
                <a:latin typeface="Segoe UI"/>
              </a:rPr>
              <a:t>Only someone who holds 'mark paid', and did not submit the package, can conclude.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04554" y="5340096"/>
            <a:ext cx="2635758" cy="987552"/>
          </a:xfrm>
          <a:prstGeom prst="roundRect">
            <a:avLst>
              <a:gd name="adj" fmla="val 12000"/>
            </a:avLst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150858" y="5422392"/>
            <a:ext cx="234315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3569F4"/>
                </a:solidFill>
                <a:latin typeface="Segoe UI Semibold"/>
              </a:rPr>
              <a:t>WHY IT MATTERS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50858" y="5614416"/>
            <a:ext cx="23431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0E1A4B"/>
                </a:solidFill>
                <a:latin typeface="Segoe UI"/>
              </a:rPr>
              <a:t>Paid means confirmed paid. A supplier saying so never turns an invoice green on its own.</a:t>
            </a:r>
          </a:p>
        </p:txBody>
      </p:sp>
      <p:pic>
        <p:nvPicPr>
          <p:cNvPr id="28" name="Picture 27" descr="finora-mar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6419088"/>
            <a:ext cx="201168" cy="20116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22960" y="6437376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0E1A4B"/>
                </a:solidFill>
                <a:latin typeface="Segoe UI Semibold"/>
              </a:rPr>
              <a:t>Finora Flow</a:t>
            </a:r>
            <a:r>
              <a:rPr sz="900" b="0">
                <a:solidFill>
                  <a:srgbClr val="5B6A92"/>
                </a:solidFill>
                <a:latin typeface="Segoe UI"/>
              </a:rPr>
              <a:t>   ·   Client walkthrough   ·   Invoice to payment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81360" y="6437376"/>
            <a:ext cx="7589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B6A92"/>
                </a:solidFill>
                <a:latin typeface="Segoe U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ignin-scene.jpg"/>
          <p:cNvPicPr>
            <a:picLocks noChangeAspect="1"/>
          </p:cNvPicPr>
          <p:nvPr/>
        </p:nvPicPr>
        <p:blipFill>
          <a:blip r:embed="rId2"/>
          <a:srcRect t="262" b="26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778240" cy="6858000"/>
          </a:xfrm>
          <a:prstGeom prst="rect">
            <a:avLst/>
          </a:prstGeom>
          <a:gradFill rotWithShape="1">
            <a:gsLst>
              <a:gs pos="0">
                <a:srgbClr val="F6F9FF">
                  <a:alpha val="97000"/>
                </a:srgbClr>
              </a:gs>
              <a:gs pos="55000">
                <a:srgbClr val="F6F9FF">
                  <a:alpha val="90000"/>
                </a:srgbClr>
              </a:gs>
              <a:gs pos="100000">
                <a:srgbClr val="F6F9FF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5486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600" b="0">
                <a:solidFill>
                  <a:srgbClr val="3569F4"/>
                </a:solidFill>
                <a:latin typeface="Segoe UI Semibold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57607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0">
                <a:solidFill>
                  <a:srgbClr val="0E1A4B"/>
                </a:solidFill>
                <a:latin typeface="Segoe UI Semibold"/>
              </a:rPr>
              <a:t>Reconcile and close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069080"/>
            <a:ext cx="5486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5B6A92"/>
                </a:solidFill>
                <a:latin typeface="Segoe UI"/>
              </a:rPr>
              <a:t>Card statements coded and closed, accruals generated and locked, on time.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120640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3569F4"/>
                </a:solidFill>
                <a:latin typeface="Segoe UI Semibold"/>
              </a:rPr>
              <a:t>Credit-card periods  ·  Coding and receipts  ·  Month-end accruals  ·  Exports</a:t>
            </a:r>
          </a:p>
        </p:txBody>
      </p:sp>
      <p:pic>
        <p:nvPicPr>
          <p:cNvPr id="8" name="Picture 7" descr="finora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19088"/>
            <a:ext cx="201168" cy="2011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" y="6437376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0E1A4B"/>
                </a:solidFill>
                <a:latin typeface="Segoe UI Semibold"/>
              </a:rPr>
              <a:t>Finora Flow</a:t>
            </a:r>
            <a:r>
              <a:rPr sz="900" b="0">
                <a:solidFill>
                  <a:srgbClr val="5B6A92"/>
                </a:solidFill>
                <a:latin typeface="Segoe UI"/>
              </a:rPr>
              <a:t>   ·   Client walkthrough   ·   Reconcile and close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37376"/>
            <a:ext cx="7589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B6A92"/>
                </a:solidFill>
                <a:latin typeface="Segoe U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atmosphere" descr="app-atmosphere.jpg"/>
          <p:cNvPicPr>
            <a:picLocks noChangeAspect="1"/>
          </p:cNvPicPr>
          <p:nvPr/>
        </p:nvPicPr>
        <p:blipFill>
          <a:blip r:embed="rId2"/>
          <a:srcRect t="262" b="26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3569F4"/>
                </a:solidFill>
                <a:latin typeface="Segoe UI Semibold"/>
              </a:rPr>
              <a:t>CREDIT-CARD RECONCILIATION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0E1A4B"/>
                </a:solidFill>
                <a:latin typeface="Segoe UI Semibold"/>
              </a:rPr>
              <a:t>Statements imported, coded, receipted and closed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70432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5B6A92"/>
                </a:solidFill>
                <a:latin typeface="Segoe UI"/>
              </a:rPr>
              <a:t>Import a statement CSV into a period; code each line to a GL account and cost centre; match or waive receipts.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36787" y="1755648"/>
            <a:ext cx="5584626" cy="449884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BE3F5"/>
            </a:solidFill>
          </a:ln>
          <a:effectLst>
            <a:outerShdw blurRad="190500" dist="38100" dir="5400000" algn="t" rotWithShape="0">
              <a:srgbClr val="2E4A9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card-period.png"/>
          <p:cNvPicPr>
            <a:picLocks noChangeAspect="1"/>
          </p:cNvPicPr>
          <p:nvPr/>
        </p:nvPicPr>
        <p:blipFill>
          <a:blip r:embed="rId3"/>
          <a:srcRect l="17361" t="4024"/>
          <a:stretch>
            <a:fillRect/>
          </a:stretch>
        </p:blipFill>
        <p:spPr>
          <a:xfrm>
            <a:off x="1491651" y="1810512"/>
            <a:ext cx="5474898" cy="4389120"/>
          </a:xfrm>
          <a:prstGeom prst="rect">
            <a:avLst/>
          </a:prstGeom>
          <a:ln w="6350">
            <a:solidFill>
              <a:srgbClr val="DBE3F5"/>
            </a:solidFill>
          </a:ln>
        </p:spPr>
      </p:pic>
      <p:sp>
        <p:nvSpPr>
          <p:cNvPr id="9" name="Oval 8"/>
          <p:cNvSpPr/>
          <p:nvPr/>
        </p:nvSpPr>
        <p:spPr>
          <a:xfrm>
            <a:off x="5329600" y="2795993"/>
            <a:ext cx="292608" cy="292608"/>
          </a:xfrm>
          <a:prstGeom prst="ellipse">
            <a:avLst/>
          </a:prstGeom>
          <a:solidFill>
            <a:srgbClr val="3569F4"/>
          </a:solidFill>
          <a:ln w="25400">
            <a:solidFill>
              <a:srgbClr val="FFFFFF"/>
            </a:solidFill>
          </a:ln>
          <a:effectLst>
            <a:outerShdw blurRad="76200" dist="19050" dir="5400000" algn="t" rotWithShape="0">
              <a:srgbClr val="2E4A9A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0" name="Oval 9"/>
          <p:cNvSpPr/>
          <p:nvPr/>
        </p:nvSpPr>
        <p:spPr>
          <a:xfrm>
            <a:off x="4694696" y="3182457"/>
            <a:ext cx="292608" cy="292608"/>
          </a:xfrm>
          <a:prstGeom prst="ellipse">
            <a:avLst/>
          </a:prstGeom>
          <a:solidFill>
            <a:srgbClr val="3569F4"/>
          </a:solidFill>
          <a:ln w="25400">
            <a:solidFill>
              <a:srgbClr val="FFFFFF"/>
            </a:solidFill>
          </a:ln>
          <a:effectLst>
            <a:outerShdw blurRad="76200" dist="19050" dir="5400000" algn="t" rotWithShape="0">
              <a:srgbClr val="2E4A9A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1" name="Oval 10"/>
          <p:cNvSpPr/>
          <p:nvPr/>
        </p:nvSpPr>
        <p:spPr>
          <a:xfrm>
            <a:off x="5697660" y="3182457"/>
            <a:ext cx="292608" cy="292608"/>
          </a:xfrm>
          <a:prstGeom prst="ellipse">
            <a:avLst/>
          </a:prstGeom>
          <a:solidFill>
            <a:srgbClr val="3569F4"/>
          </a:solidFill>
          <a:ln w="25400">
            <a:solidFill>
              <a:srgbClr val="FFFFFF"/>
            </a:solidFill>
          </a:ln>
          <a:effectLst>
            <a:outerShdw blurRad="76200" dist="19050" dir="5400000" algn="t" rotWithShape="0">
              <a:srgbClr val="2E4A9A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12" name="Oval 11"/>
          <p:cNvSpPr/>
          <p:nvPr/>
        </p:nvSpPr>
        <p:spPr>
          <a:xfrm>
            <a:off x="8321040" y="1773936"/>
            <a:ext cx="329184" cy="329184"/>
          </a:xfrm>
          <a:prstGeom prst="ellipse">
            <a:avLst/>
          </a:prstGeom>
          <a:solidFill>
            <a:srgbClr val="3569F4"/>
          </a:solidFill>
          <a:ln w="25400">
            <a:solidFill>
              <a:srgbClr val="FFFFFF"/>
            </a:solidFill>
          </a:ln>
          <a:effectLst>
            <a:outerShdw blurRad="76200" dist="19050" dir="5400000" algn="t" rotWithShape="0">
              <a:srgbClr val="2E4A9A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59952" y="1783080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0E1A4B"/>
                </a:solidFill>
                <a:latin typeface="Segoe UI Semibold"/>
              </a:rPr>
              <a:t>Progress, at a glance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59952" y="2057400"/>
            <a:ext cx="28803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5B6A92"/>
                </a:solidFill>
                <a:latin typeface="Segoe UI"/>
              </a:rPr>
              <a:t>Lines, period and what is still waiting, such as lines that need coding.</a:t>
            </a:r>
          </a:p>
        </p:txBody>
      </p:sp>
      <p:sp>
        <p:nvSpPr>
          <p:cNvPr id="15" name="Oval 14"/>
          <p:cNvSpPr/>
          <p:nvPr/>
        </p:nvSpPr>
        <p:spPr>
          <a:xfrm>
            <a:off x="8321040" y="2523744"/>
            <a:ext cx="329184" cy="329184"/>
          </a:xfrm>
          <a:prstGeom prst="ellipse">
            <a:avLst/>
          </a:prstGeom>
          <a:solidFill>
            <a:srgbClr val="3569F4"/>
          </a:solidFill>
          <a:ln w="25400">
            <a:solidFill>
              <a:srgbClr val="FFFFFF"/>
            </a:solidFill>
          </a:ln>
          <a:effectLst>
            <a:outerShdw blurRad="76200" dist="19050" dir="5400000" algn="t" rotWithShape="0">
              <a:srgbClr val="2E4A9A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59952" y="2532888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0E1A4B"/>
                </a:solidFill>
                <a:latin typeface="Segoe UI Semibold"/>
              </a:rPr>
              <a:t>Coding per 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59952" y="2807208"/>
            <a:ext cx="28803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5B6A92"/>
                </a:solidFill>
                <a:latin typeface="Segoe UI"/>
              </a:rPr>
              <a:t>GL account and cost centre, or an exception, with assistive suggestions kept beside the applied values.</a:t>
            </a:r>
          </a:p>
        </p:txBody>
      </p:sp>
      <p:sp>
        <p:nvSpPr>
          <p:cNvPr id="18" name="Oval 17"/>
          <p:cNvSpPr/>
          <p:nvPr/>
        </p:nvSpPr>
        <p:spPr>
          <a:xfrm>
            <a:off x="8321040" y="3447288"/>
            <a:ext cx="329184" cy="329184"/>
          </a:xfrm>
          <a:prstGeom prst="ellipse">
            <a:avLst/>
          </a:prstGeom>
          <a:solidFill>
            <a:srgbClr val="3569F4"/>
          </a:solidFill>
          <a:ln w="25400">
            <a:solidFill>
              <a:srgbClr val="FFFFFF"/>
            </a:solidFill>
          </a:ln>
          <a:effectLst>
            <a:outerShdw blurRad="76200" dist="19050" dir="5400000" algn="t" rotWithShape="0">
              <a:srgbClr val="2E4A9A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59952" y="3456432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0E1A4B"/>
                </a:solidFill>
                <a:latin typeface="Segoe UI Semibold"/>
              </a:rPr>
              <a:t>Receipts matched or waived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59952" y="3730752"/>
            <a:ext cx="28803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5B6A92"/>
                </a:solidFill>
                <a:latin typeface="Segoe UI"/>
              </a:rPr>
              <a:t>A waiver needs a reason, and is recorded against the person who gave it.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21040" y="4242816"/>
            <a:ext cx="3319272" cy="850392"/>
          </a:xfrm>
          <a:prstGeom prst="roundRect">
            <a:avLst>
              <a:gd name="adj" fmla="val 12000"/>
            </a:avLst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85632" y="4334256"/>
            <a:ext cx="29900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3569F4"/>
                </a:solidFill>
                <a:latin typeface="Segoe UI Semibold"/>
              </a:rPr>
              <a:t>WHY IT MATTERS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85632" y="4553712"/>
            <a:ext cx="2990088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0E1A4B"/>
                </a:solidFill>
                <a:latin typeface="Segoe UI"/>
              </a:rPr>
              <a:t>The person who coded a period cannot close it, so reconciliation is reviewed by design, not by habit.</a:t>
            </a:r>
          </a:p>
        </p:txBody>
      </p:sp>
      <p:pic>
        <p:nvPicPr>
          <p:cNvPr id="24" name="Picture 23" descr="finora-ma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419088"/>
            <a:ext cx="201168" cy="20116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22960" y="6437376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0E1A4B"/>
                </a:solidFill>
                <a:latin typeface="Segoe UI Semibold"/>
              </a:rPr>
              <a:t>Finora Flow</a:t>
            </a:r>
            <a:r>
              <a:rPr sz="900" b="0">
                <a:solidFill>
                  <a:srgbClr val="5B6A92"/>
                </a:solidFill>
                <a:latin typeface="Segoe UI"/>
              </a:rPr>
              <a:t>   ·   Client walkthrough   ·   Reconcile and close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81360" y="6437376"/>
            <a:ext cx="7589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B6A92"/>
                </a:solidFill>
                <a:latin typeface="Segoe U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atmosphere" descr="app-atmosphere.jpg"/>
          <p:cNvPicPr>
            <a:picLocks noChangeAspect="1"/>
          </p:cNvPicPr>
          <p:nvPr/>
        </p:nvPicPr>
        <p:blipFill>
          <a:blip r:embed="rId2"/>
          <a:srcRect t="262" b="26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3569F4"/>
                </a:solidFill>
                <a:latin typeface="Segoe UI Semibold"/>
              </a:rPr>
              <a:t>MONTH-END ACCRUALS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0E1A4B"/>
                </a:solidFill>
                <a:latin typeface="Segoe UI Semibold"/>
              </a:rPr>
              <a:t>Unpaid commitments proposed, reviewed, locked and exported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70432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5B6A92"/>
                </a:solidFill>
                <a:latin typeface="Segoe UI"/>
              </a:rPr>
              <a:t>Open a period, generate candidates from unpaid invoices, adjust with a reason, finalise and lock.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89448" y="1755648"/>
            <a:ext cx="6479304" cy="449884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BE3F5"/>
            </a:solidFill>
          </a:ln>
          <a:effectLst>
            <a:outerShdw blurRad="190500" dist="38100" dir="5400000" algn="t" rotWithShape="0">
              <a:srgbClr val="2E4A9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accrual-period.png"/>
          <p:cNvPicPr>
            <a:picLocks noChangeAspect="1"/>
          </p:cNvPicPr>
          <p:nvPr/>
        </p:nvPicPr>
        <p:blipFill>
          <a:blip r:embed="rId3"/>
          <a:srcRect l="17361" t="4444" b="4444"/>
          <a:stretch>
            <a:fillRect/>
          </a:stretch>
        </p:blipFill>
        <p:spPr>
          <a:xfrm>
            <a:off x="1044312" y="1810512"/>
            <a:ext cx="6369576" cy="4389120"/>
          </a:xfrm>
          <a:prstGeom prst="rect">
            <a:avLst/>
          </a:prstGeom>
          <a:ln w="6350">
            <a:solidFill>
              <a:srgbClr val="DBE3F5"/>
            </a:solidFill>
          </a:ln>
        </p:spPr>
      </p:pic>
      <p:sp>
        <p:nvSpPr>
          <p:cNvPr id="9" name="Oval 8"/>
          <p:cNvSpPr/>
          <p:nvPr/>
        </p:nvSpPr>
        <p:spPr>
          <a:xfrm>
            <a:off x="6154246" y="2461743"/>
            <a:ext cx="292608" cy="292608"/>
          </a:xfrm>
          <a:prstGeom prst="ellipse">
            <a:avLst/>
          </a:prstGeom>
          <a:solidFill>
            <a:srgbClr val="3569F4"/>
          </a:solidFill>
          <a:ln w="25400">
            <a:solidFill>
              <a:srgbClr val="FFFFFF"/>
            </a:solidFill>
          </a:ln>
          <a:effectLst>
            <a:outerShdw blurRad="76200" dist="19050" dir="5400000" algn="t" rotWithShape="0">
              <a:srgbClr val="2E4A9A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0" name="Oval 9"/>
          <p:cNvSpPr/>
          <p:nvPr/>
        </p:nvSpPr>
        <p:spPr>
          <a:xfrm>
            <a:off x="6250593" y="3601843"/>
            <a:ext cx="292608" cy="292608"/>
          </a:xfrm>
          <a:prstGeom prst="ellipse">
            <a:avLst/>
          </a:prstGeom>
          <a:solidFill>
            <a:srgbClr val="3569F4"/>
          </a:solidFill>
          <a:ln w="25400">
            <a:solidFill>
              <a:srgbClr val="FFFFFF"/>
            </a:solidFill>
          </a:ln>
          <a:effectLst>
            <a:outerShdw blurRad="76200" dist="19050" dir="5400000" algn="t" rotWithShape="0">
              <a:srgbClr val="2E4A9A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1" name="Oval 10"/>
          <p:cNvSpPr/>
          <p:nvPr/>
        </p:nvSpPr>
        <p:spPr>
          <a:xfrm>
            <a:off x="951533" y="4939990"/>
            <a:ext cx="292608" cy="292608"/>
          </a:xfrm>
          <a:prstGeom prst="ellipse">
            <a:avLst/>
          </a:prstGeom>
          <a:solidFill>
            <a:srgbClr val="3569F4"/>
          </a:solidFill>
          <a:ln w="25400">
            <a:solidFill>
              <a:srgbClr val="FFFFFF"/>
            </a:solidFill>
          </a:ln>
          <a:effectLst>
            <a:outerShdw blurRad="76200" dist="19050" dir="5400000" algn="t" rotWithShape="0">
              <a:srgbClr val="2E4A9A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12" name="Oval 11"/>
          <p:cNvSpPr/>
          <p:nvPr/>
        </p:nvSpPr>
        <p:spPr>
          <a:xfrm>
            <a:off x="8321040" y="1773936"/>
            <a:ext cx="329184" cy="329184"/>
          </a:xfrm>
          <a:prstGeom prst="ellipse">
            <a:avLst/>
          </a:prstGeom>
          <a:solidFill>
            <a:srgbClr val="3569F4"/>
          </a:solidFill>
          <a:ln w="25400">
            <a:solidFill>
              <a:srgbClr val="FFFFFF"/>
            </a:solidFill>
          </a:ln>
          <a:effectLst>
            <a:outerShdw blurRad="76200" dist="19050" dir="5400000" algn="t" rotWithShape="0">
              <a:srgbClr val="2E4A9A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59952" y="1783080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0E1A4B"/>
                </a:solidFill>
                <a:latin typeface="Segoe UI Semibold"/>
              </a:rPr>
              <a:t>Generated, not assembled by hand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59952" y="2057400"/>
            <a:ext cx="28803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5B6A92"/>
                </a:solidFill>
                <a:latin typeface="Segoe UI"/>
              </a:rPr>
              <a:t>Candidates come from the invoices still owed at period end.</a:t>
            </a:r>
          </a:p>
        </p:txBody>
      </p:sp>
      <p:sp>
        <p:nvSpPr>
          <p:cNvPr id="15" name="Oval 14"/>
          <p:cNvSpPr/>
          <p:nvPr/>
        </p:nvSpPr>
        <p:spPr>
          <a:xfrm>
            <a:off x="8321040" y="2523744"/>
            <a:ext cx="329184" cy="329184"/>
          </a:xfrm>
          <a:prstGeom prst="ellipse">
            <a:avLst/>
          </a:prstGeom>
          <a:solidFill>
            <a:srgbClr val="3569F4"/>
          </a:solidFill>
          <a:ln w="25400">
            <a:solidFill>
              <a:srgbClr val="FFFFFF"/>
            </a:solidFill>
          </a:ln>
          <a:effectLst>
            <a:outerShdw blurRad="76200" dist="19050" dir="5400000" algn="t" rotWithShape="0">
              <a:srgbClr val="2E4A9A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59952" y="2532888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0E1A4B"/>
                </a:solidFill>
                <a:latin typeface="Segoe UI Semibold"/>
              </a:rPr>
              <a:t>A decision per 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59952" y="2807208"/>
            <a:ext cx="28803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5B6A92"/>
                </a:solidFill>
                <a:latin typeface="Segoe UI"/>
              </a:rPr>
              <a:t>Each candidate is finalised or excluded; edits require a reason.</a:t>
            </a:r>
          </a:p>
        </p:txBody>
      </p:sp>
      <p:sp>
        <p:nvSpPr>
          <p:cNvPr id="18" name="Oval 17"/>
          <p:cNvSpPr/>
          <p:nvPr/>
        </p:nvSpPr>
        <p:spPr>
          <a:xfrm>
            <a:off x="8321040" y="3273552"/>
            <a:ext cx="329184" cy="329184"/>
          </a:xfrm>
          <a:prstGeom prst="ellipse">
            <a:avLst/>
          </a:prstGeom>
          <a:solidFill>
            <a:srgbClr val="3569F4"/>
          </a:solidFill>
          <a:ln w="25400">
            <a:solidFill>
              <a:srgbClr val="FFFFFF"/>
            </a:solidFill>
          </a:ln>
          <a:effectLst>
            <a:outerShdw blurRad="76200" dist="19050" dir="5400000" algn="t" rotWithShape="0">
              <a:srgbClr val="2E4A9A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59952" y="3282696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0E1A4B"/>
                </a:solidFill>
                <a:latin typeface="Segoe UI Semibold"/>
              </a:rPr>
              <a:t>Versioned exports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59952" y="3557016"/>
            <a:ext cx="28803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5B6A92"/>
                </a:solidFill>
                <a:latin typeface="Segoe UI"/>
              </a:rPr>
              <a:t>Draft CSV and XLSX for review; official exports are the signed-off version.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21040" y="4069080"/>
            <a:ext cx="3319272" cy="676656"/>
          </a:xfrm>
          <a:prstGeom prst="roundRect">
            <a:avLst>
              <a:gd name="adj" fmla="val 12000"/>
            </a:avLst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85632" y="4160520"/>
            <a:ext cx="29900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3569F4"/>
                </a:solidFill>
                <a:latin typeface="Segoe UI Semibold"/>
              </a:rPr>
              <a:t>WHY IT MATTERS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85632" y="4379976"/>
            <a:ext cx="299008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0E1A4B"/>
                </a:solidFill>
                <a:latin typeface="Segoe UI"/>
              </a:rPr>
              <a:t>Month-end becomes a controlled, repeatable process, and locking is segregated from editing.</a:t>
            </a:r>
          </a:p>
        </p:txBody>
      </p:sp>
      <p:pic>
        <p:nvPicPr>
          <p:cNvPr id="24" name="Picture 23" descr="finora-ma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419088"/>
            <a:ext cx="201168" cy="20116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22960" y="6437376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0E1A4B"/>
                </a:solidFill>
                <a:latin typeface="Segoe UI Semibold"/>
              </a:rPr>
              <a:t>Finora Flow</a:t>
            </a:r>
            <a:r>
              <a:rPr sz="900" b="0">
                <a:solidFill>
                  <a:srgbClr val="5B6A92"/>
                </a:solidFill>
                <a:latin typeface="Segoe UI"/>
              </a:rPr>
              <a:t>   ·   Client walkthrough   ·   Reconcile and close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81360" y="6437376"/>
            <a:ext cx="7589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B6A92"/>
                </a:solidFill>
                <a:latin typeface="Segoe U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ignin-scene.jpg"/>
          <p:cNvPicPr>
            <a:picLocks noChangeAspect="1"/>
          </p:cNvPicPr>
          <p:nvPr/>
        </p:nvPicPr>
        <p:blipFill>
          <a:blip r:embed="rId2"/>
          <a:srcRect t="262" b="26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778240" cy="6858000"/>
          </a:xfrm>
          <a:prstGeom prst="rect">
            <a:avLst/>
          </a:prstGeom>
          <a:gradFill rotWithShape="1">
            <a:gsLst>
              <a:gs pos="0">
                <a:srgbClr val="F6F9FF">
                  <a:alpha val="97000"/>
                </a:srgbClr>
              </a:gs>
              <a:gs pos="55000">
                <a:srgbClr val="F6F9FF">
                  <a:alpha val="90000"/>
                </a:srgbClr>
              </a:gs>
              <a:gs pos="100000">
                <a:srgbClr val="F6F9FF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5486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600" b="0">
                <a:solidFill>
                  <a:srgbClr val="3569F4"/>
                </a:solidFill>
                <a:latin typeface="Segoe UI Semibold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57607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0">
                <a:solidFill>
                  <a:srgbClr val="0E1A4B"/>
                </a:solidFill>
                <a:latin typeface="Segoe UI Semibold"/>
              </a:rPr>
              <a:t>Control and oversight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069080"/>
            <a:ext cx="5486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5B6A92"/>
                </a:solidFill>
                <a:latin typeface="Segoe UI"/>
              </a:rPr>
              <a:t>Segregation of duties, tamper-evident audit and operational health, built in.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120640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3569F4"/>
                </a:solidFill>
                <a:latin typeface="Segoe UI Semibold"/>
              </a:rPr>
              <a:t>Controls  ·  Audit trail  ·  System health  ·  Intake health</a:t>
            </a:r>
          </a:p>
        </p:txBody>
      </p:sp>
      <p:pic>
        <p:nvPicPr>
          <p:cNvPr id="8" name="Picture 7" descr="finora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19088"/>
            <a:ext cx="201168" cy="2011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" y="6437376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0E1A4B"/>
                </a:solidFill>
                <a:latin typeface="Segoe UI Semibold"/>
              </a:rPr>
              <a:t>Finora Flow</a:t>
            </a:r>
            <a:r>
              <a:rPr sz="900" b="0">
                <a:solidFill>
                  <a:srgbClr val="5B6A92"/>
                </a:solidFill>
                <a:latin typeface="Segoe UI"/>
              </a:rPr>
              <a:t>   ·   Client walkthrough   ·   Control and oversight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37376"/>
            <a:ext cx="7589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B6A92"/>
                </a:solidFill>
                <a:latin typeface="Segoe U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atmosphere" descr="app-atmosphere.jpg"/>
          <p:cNvPicPr>
            <a:picLocks noChangeAspect="1"/>
          </p:cNvPicPr>
          <p:nvPr/>
        </p:nvPicPr>
        <p:blipFill>
          <a:blip r:embed="rId2"/>
          <a:srcRect t="262" b="26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3569F4"/>
                </a:solidFill>
                <a:latin typeface="Segoe UI Semibold"/>
              </a:rPr>
              <a:t>08 · CONTROLS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0E1A4B"/>
                </a:solidFill>
                <a:latin typeface="Segoe UI Semibold"/>
              </a:rPr>
              <a:t>Controls the system enforces, not the policy manual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70432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5B6A92"/>
                </a:solidFill>
                <a:latin typeface="Segoe UI"/>
              </a:rPr>
              <a:t>Every rule below is checked on the server for every request. Hiding a button is never the control.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2622042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BE3F5"/>
            </a:solidFill>
          </a:ln>
          <a:effectLst>
            <a:outerShdw blurRad="190500" dist="38100" dir="5400000" algn="t" rotWithShape="0">
              <a:srgbClr val="2E4A9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749808" y="2002536"/>
            <a:ext cx="329184" cy="54864"/>
          </a:xfrm>
          <a:prstGeom prst="roundRect">
            <a:avLst>
              <a:gd name="adj" fmla="val 50000"/>
            </a:avLst>
          </a:prstGeom>
          <a:solidFill>
            <a:srgbClr val="6D4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49808" y="2130552"/>
            <a:ext cx="221970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6D4CF0"/>
                </a:solidFill>
                <a:latin typeface="Segoe UI Semibold"/>
              </a:rPr>
              <a:t>SOD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350008"/>
            <a:ext cx="221970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0E1A4B"/>
                </a:solidFill>
                <a:latin typeface="Segoe UI Semibold"/>
              </a:rPr>
              <a:t>Segregation of duties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697480"/>
            <a:ext cx="2219706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sz="980" b="0">
                <a:solidFill>
                  <a:srgbClr val="5B6A92"/>
                </a:solidFill>
                <a:latin typeface="Segoe UI"/>
              </a:rPr>
              <a:t>Whoever raises a request cannot approve it. Whoever records an invoice cannot confirm receipt. Whoever submits a payment cannot mark it paid. Coders cannot close; editors cannot lock.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71850" y="1783080"/>
            <a:ext cx="2622042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BE3F5"/>
            </a:solidFill>
          </a:ln>
          <a:effectLst>
            <a:outerShdw blurRad="190500" dist="38100" dir="5400000" algn="t" rotWithShape="0">
              <a:srgbClr val="2E4A9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3573018" y="2002536"/>
            <a:ext cx="329184" cy="54864"/>
          </a:xfrm>
          <a:prstGeom prst="roundRect">
            <a:avLst>
              <a:gd name="adj" fmla="val 50000"/>
            </a:avLst>
          </a:prstGeom>
          <a:solidFill>
            <a:srgbClr val="356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573018" y="2130552"/>
            <a:ext cx="221970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3569F4"/>
                </a:solidFill>
                <a:latin typeface="Segoe UI Semibold"/>
              </a:rPr>
              <a:t>APPROVALS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73018" y="2350008"/>
            <a:ext cx="221970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0E1A4B"/>
                </a:solidFill>
                <a:latin typeface="Segoe UI Semibold"/>
              </a:rPr>
              <a:t>Configurable approval matrix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73018" y="2697480"/>
            <a:ext cx="2219706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sz="980" b="0">
                <a:solidFill>
                  <a:srgbClr val="5B6A92"/>
                </a:solidFill>
                <a:latin typeface="Segoe UI"/>
              </a:rPr>
              <a:t>Amount bands per currency, departmental routes, sequential and parallel steps and delegation. An amount no rule covers is refused, never routed to nobody.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5060" y="1783080"/>
            <a:ext cx="2622042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BE3F5"/>
            </a:solidFill>
          </a:ln>
          <a:effectLst>
            <a:outerShdw blurRad="190500" dist="38100" dir="5400000" algn="t" rotWithShape="0">
              <a:srgbClr val="2E4A9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6396228" y="2002536"/>
            <a:ext cx="329184" cy="54864"/>
          </a:xfrm>
          <a:prstGeom prst="roundRect">
            <a:avLst>
              <a:gd name="adj" fmla="val 50000"/>
            </a:avLst>
          </a:prstGeom>
          <a:solidFill>
            <a:srgbClr val="16A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396228" y="2130552"/>
            <a:ext cx="221970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16A66A"/>
                </a:solidFill>
                <a:latin typeface="Segoe UI Semibold"/>
              </a:rPr>
              <a:t>INVOICES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96228" y="2350008"/>
            <a:ext cx="221970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0E1A4B"/>
                </a:solidFill>
                <a:latin typeface="Segoe UI Semibold"/>
              </a:rPr>
              <a:t>Duplicate and overrun checks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6228" y="2697480"/>
            <a:ext cx="2219706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sz="980" b="0">
                <a:solidFill>
                  <a:srgbClr val="5B6A92"/>
                </a:solidFill>
                <a:latin typeface="Segoe UI"/>
              </a:rPr>
              <a:t>Duplicate supplier invoice numbers refused by the database; overruns against the estimate or PO reported against a tolerance.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18270" y="1783080"/>
            <a:ext cx="2622042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BE3F5"/>
            </a:solidFill>
          </a:ln>
          <a:effectLst>
            <a:outerShdw blurRad="190500" dist="38100" dir="5400000" algn="t" rotWithShape="0">
              <a:srgbClr val="2E4A9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ounded Rectangle 22"/>
          <p:cNvSpPr/>
          <p:nvPr/>
        </p:nvSpPr>
        <p:spPr>
          <a:xfrm>
            <a:off x="9219438" y="2002536"/>
            <a:ext cx="329184" cy="54864"/>
          </a:xfrm>
          <a:prstGeom prst="roundRect">
            <a:avLst>
              <a:gd name="adj" fmla="val 50000"/>
            </a:avLst>
          </a:prstGeom>
          <a:solidFill>
            <a:srgbClr val="E0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219438" y="2130552"/>
            <a:ext cx="221970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E06A2C"/>
                </a:solidFill>
                <a:latin typeface="Segoe UI Semibold"/>
              </a:rPr>
              <a:t>WORKFLOW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19438" y="2350008"/>
            <a:ext cx="221970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0E1A4B"/>
                </a:solidFill>
                <a:latin typeface="Segoe UI Semibold"/>
              </a:rPr>
              <a:t>Mandatory reasons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19438" y="2697480"/>
            <a:ext cx="2219706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sz="980" b="0">
                <a:solidFill>
                  <a:srgbClr val="5B6A92"/>
                </a:solidFill>
                <a:latin typeface="Segoe UI"/>
              </a:rPr>
              <a:t>Rejection, cancellation, withdrawal, override and correction cannot be recorded without a written reason.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133088"/>
            <a:ext cx="2622042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BE3F5"/>
            </a:solidFill>
          </a:ln>
          <a:effectLst>
            <a:outerShdw blurRad="190500" dist="38100" dir="5400000" algn="t" rotWithShape="0">
              <a:srgbClr val="2E4A9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ounded Rectangle 27"/>
          <p:cNvSpPr/>
          <p:nvPr/>
        </p:nvSpPr>
        <p:spPr>
          <a:xfrm>
            <a:off x="749808" y="4352544"/>
            <a:ext cx="329184" cy="54864"/>
          </a:xfrm>
          <a:prstGeom prst="roundRect">
            <a:avLst>
              <a:gd name="adj" fmla="val 50000"/>
            </a:avLst>
          </a:prstGeom>
          <a:solidFill>
            <a:srgbClr val="0E1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49808" y="4480560"/>
            <a:ext cx="221970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0E1A4B"/>
                </a:solidFill>
                <a:latin typeface="Segoe UI Semibold"/>
              </a:rPr>
              <a:t>ACCESS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8" y="4700016"/>
            <a:ext cx="221970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0E1A4B"/>
                </a:solidFill>
                <a:latin typeface="Segoe UI Semibold"/>
              </a:rPr>
              <a:t>Deny by default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8" y="5047488"/>
            <a:ext cx="2219706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sz="980" b="0">
                <a:solidFill>
                  <a:srgbClr val="5B6A92"/>
                </a:solidFill>
                <a:latin typeface="Segoe UI"/>
              </a:rPr>
              <a:t>Every action needs a named permission, checked server-side; signed email links carry no authority of their own.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371850" y="4133088"/>
            <a:ext cx="2622042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BE3F5"/>
            </a:solidFill>
          </a:ln>
          <a:effectLst>
            <a:outerShdw blurRad="190500" dist="38100" dir="5400000" algn="t" rotWithShape="0">
              <a:srgbClr val="2E4A9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3573018" y="4352544"/>
            <a:ext cx="329184" cy="54864"/>
          </a:xfrm>
          <a:prstGeom prst="roundRect">
            <a:avLst>
              <a:gd name="adj" fmla="val 50000"/>
            </a:avLst>
          </a:prstGeom>
          <a:solidFill>
            <a:srgbClr val="356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3573018" y="4480560"/>
            <a:ext cx="221970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3569F4"/>
                </a:solidFill>
                <a:latin typeface="Segoe UI Semibold"/>
              </a:rPr>
              <a:t>AI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73018" y="4700016"/>
            <a:ext cx="221970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0E1A4B"/>
                </a:solidFill>
                <a:latin typeface="Segoe UI Semibold"/>
              </a:rPr>
              <a:t>AI has no authority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73018" y="5047488"/>
            <a:ext cx="2219706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sz="980" b="0">
                <a:solidFill>
                  <a:srgbClr val="5B6A92"/>
                </a:solidFill>
                <a:latin typeface="Segoe UI"/>
              </a:rPr>
              <a:t>AI can propose, never approve, pay, mark paid or change configuration. A kill switch turns it off instantly.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95060" y="4133088"/>
            <a:ext cx="2622042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BE3F5"/>
            </a:solidFill>
          </a:ln>
          <a:effectLst>
            <a:outerShdw blurRad="190500" dist="38100" dir="5400000" algn="t" rotWithShape="0">
              <a:srgbClr val="2E4A9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ounded Rectangle 37"/>
          <p:cNvSpPr/>
          <p:nvPr/>
        </p:nvSpPr>
        <p:spPr>
          <a:xfrm>
            <a:off x="6396228" y="4352544"/>
            <a:ext cx="329184" cy="54864"/>
          </a:xfrm>
          <a:prstGeom prst="roundRect">
            <a:avLst>
              <a:gd name="adj" fmla="val 50000"/>
            </a:avLst>
          </a:prstGeom>
          <a:solidFill>
            <a:srgbClr val="16A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6396228" y="4480560"/>
            <a:ext cx="221970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16A66A"/>
                </a:solidFill>
                <a:latin typeface="Segoe UI Semibold"/>
              </a:rPr>
              <a:t>EVIDENCE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96228" y="4700016"/>
            <a:ext cx="221970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0E1A4B"/>
                </a:solidFill>
                <a:latin typeface="Segoe UI Semibold"/>
              </a:rPr>
              <a:t>Immutable evidence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96228" y="5047488"/>
            <a:ext cx="2219706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sz="980" b="0">
                <a:solidFill>
                  <a:srgbClr val="5B6A92"/>
                </a:solidFill>
                <a:latin typeface="Segoe UI"/>
              </a:rPr>
              <a:t>Originals are content-addressed and write-once; financial and audit records are never hard-deleted.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18270" y="4133088"/>
            <a:ext cx="2622042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BE3F5"/>
            </a:solidFill>
          </a:ln>
          <a:effectLst>
            <a:outerShdw blurRad="190500" dist="38100" dir="5400000" algn="t" rotWithShape="0">
              <a:srgbClr val="2E4A9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ounded Rectangle 42"/>
          <p:cNvSpPr/>
          <p:nvPr/>
        </p:nvSpPr>
        <p:spPr>
          <a:xfrm>
            <a:off x="9219438" y="4352544"/>
            <a:ext cx="329184" cy="54864"/>
          </a:xfrm>
          <a:prstGeom prst="roundRect">
            <a:avLst>
              <a:gd name="adj" fmla="val 50000"/>
            </a:avLst>
          </a:prstGeom>
          <a:solidFill>
            <a:srgbClr val="6D4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9219438" y="4480560"/>
            <a:ext cx="221970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6D4CF0"/>
                </a:solidFill>
                <a:latin typeface="Segoe UI Semibold"/>
              </a:rPr>
              <a:t>INTEGRITY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19438" y="4700016"/>
            <a:ext cx="221970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0E1A4B"/>
                </a:solidFill>
                <a:latin typeface="Segoe UI Semibold"/>
              </a:rPr>
              <a:t>Safe concurrency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19438" y="5047488"/>
            <a:ext cx="2219706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sz="980" b="0">
                <a:solidFill>
                  <a:srgbClr val="5B6A92"/>
                </a:solidFill>
                <a:latin typeface="Segoe UI"/>
              </a:rPr>
              <a:t>Two people editing the same record cannot silently overwrite each other; the second is told to reload.</a:t>
            </a:r>
          </a:p>
        </p:txBody>
      </p:sp>
      <p:pic>
        <p:nvPicPr>
          <p:cNvPr id="47" name="Picture 46" descr="finora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19088"/>
            <a:ext cx="201168" cy="201168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822960" y="6437376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0E1A4B"/>
                </a:solidFill>
                <a:latin typeface="Segoe UI Semibold"/>
              </a:rPr>
              <a:t>Finora Flow</a:t>
            </a:r>
            <a:r>
              <a:rPr sz="900" b="0">
                <a:solidFill>
                  <a:srgbClr val="5B6A92"/>
                </a:solidFill>
                <a:latin typeface="Segoe UI"/>
              </a:rPr>
              <a:t>   ·   Client walkthrough   ·   Control and oversight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881360" y="6437376"/>
            <a:ext cx="7589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B6A92"/>
                </a:solidFill>
                <a:latin typeface="Segoe UI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atmosphere" descr="app-atmosphere.jpg"/>
          <p:cNvPicPr>
            <a:picLocks noChangeAspect="1"/>
          </p:cNvPicPr>
          <p:nvPr/>
        </p:nvPicPr>
        <p:blipFill>
          <a:blip r:embed="rId2"/>
          <a:srcRect t="262" b="26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3569F4"/>
                </a:solidFill>
                <a:latin typeface="Segoe UI Semibold"/>
              </a:rPr>
              <a:t>AUDIT TRAIL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0E1A4B"/>
                </a:solidFill>
                <a:latin typeface="Segoe UI Semibold"/>
              </a:rPr>
              <a:t>An append-only, hash-chained record of every decision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70432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5B6A92"/>
                </a:solidFill>
                <a:latin typeface="Segoe UI"/>
              </a:rPr>
              <a:t>Auditors read everything and change nothing, and can prove the history has not been rewritten.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37577" y="1755648"/>
            <a:ext cx="6183045" cy="449884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BE3F5"/>
            </a:solidFill>
          </a:ln>
          <a:effectLst>
            <a:outerShdw blurRad="190500" dist="38100" dir="5400000" algn="t" rotWithShape="0">
              <a:srgbClr val="2E4A9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audit.png"/>
          <p:cNvPicPr>
            <a:picLocks noChangeAspect="1"/>
          </p:cNvPicPr>
          <p:nvPr/>
        </p:nvPicPr>
        <p:blipFill>
          <a:blip r:embed="rId3"/>
          <a:srcRect l="17361" t="4444"/>
          <a:stretch>
            <a:fillRect/>
          </a:stretch>
        </p:blipFill>
        <p:spPr>
          <a:xfrm>
            <a:off x="1192441" y="1810512"/>
            <a:ext cx="6073317" cy="4389120"/>
          </a:xfrm>
          <a:prstGeom prst="rect">
            <a:avLst/>
          </a:prstGeom>
          <a:ln w="6350">
            <a:solidFill>
              <a:srgbClr val="DBE3F5"/>
            </a:solidFill>
          </a:ln>
        </p:spPr>
      </p:pic>
      <p:sp>
        <p:nvSpPr>
          <p:cNvPr id="9" name="Oval 8"/>
          <p:cNvSpPr/>
          <p:nvPr/>
        </p:nvSpPr>
        <p:spPr>
          <a:xfrm>
            <a:off x="1061447" y="2256228"/>
            <a:ext cx="292608" cy="292608"/>
          </a:xfrm>
          <a:prstGeom prst="ellipse">
            <a:avLst/>
          </a:prstGeom>
          <a:solidFill>
            <a:srgbClr val="3569F4"/>
          </a:solidFill>
          <a:ln w="25400">
            <a:solidFill>
              <a:srgbClr val="FFFFFF"/>
            </a:solidFill>
          </a:ln>
          <a:effectLst>
            <a:outerShdw blurRad="76200" dist="19050" dir="5400000" algn="t" rotWithShape="0">
              <a:srgbClr val="2E4A9A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0" name="Oval 9"/>
          <p:cNvSpPr/>
          <p:nvPr/>
        </p:nvSpPr>
        <p:spPr>
          <a:xfrm>
            <a:off x="2184246" y="2623690"/>
            <a:ext cx="292608" cy="292608"/>
          </a:xfrm>
          <a:prstGeom prst="ellipse">
            <a:avLst/>
          </a:prstGeom>
          <a:solidFill>
            <a:srgbClr val="3569F4"/>
          </a:solidFill>
          <a:ln w="25400">
            <a:solidFill>
              <a:srgbClr val="FFFFFF"/>
            </a:solidFill>
          </a:ln>
          <a:effectLst>
            <a:outerShdw blurRad="76200" dist="19050" dir="5400000" algn="t" rotWithShape="0">
              <a:srgbClr val="2E4A9A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1" name="Oval 10"/>
          <p:cNvSpPr/>
          <p:nvPr/>
        </p:nvSpPr>
        <p:spPr>
          <a:xfrm>
            <a:off x="5629194" y="2623690"/>
            <a:ext cx="292608" cy="292608"/>
          </a:xfrm>
          <a:prstGeom prst="ellipse">
            <a:avLst/>
          </a:prstGeom>
          <a:solidFill>
            <a:srgbClr val="3569F4"/>
          </a:solidFill>
          <a:ln w="25400">
            <a:solidFill>
              <a:srgbClr val="FFFFFF"/>
            </a:solidFill>
          </a:ln>
          <a:effectLst>
            <a:outerShdw blurRad="76200" dist="19050" dir="5400000" algn="t" rotWithShape="0">
              <a:srgbClr val="2E4A9A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12" name="Oval 11"/>
          <p:cNvSpPr/>
          <p:nvPr/>
        </p:nvSpPr>
        <p:spPr>
          <a:xfrm>
            <a:off x="6302873" y="2256228"/>
            <a:ext cx="292608" cy="292608"/>
          </a:xfrm>
          <a:prstGeom prst="ellipse">
            <a:avLst/>
          </a:prstGeom>
          <a:solidFill>
            <a:srgbClr val="3569F4"/>
          </a:solidFill>
          <a:ln w="25400">
            <a:solidFill>
              <a:srgbClr val="FFFFFF"/>
            </a:solidFill>
          </a:ln>
          <a:effectLst>
            <a:outerShdw blurRad="76200" dist="19050" dir="5400000" algn="t" rotWithShape="0">
              <a:srgbClr val="2E4A9A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13" name="Oval 12"/>
          <p:cNvSpPr/>
          <p:nvPr/>
        </p:nvSpPr>
        <p:spPr>
          <a:xfrm>
            <a:off x="8321040" y="1773936"/>
            <a:ext cx="329184" cy="329184"/>
          </a:xfrm>
          <a:prstGeom prst="ellipse">
            <a:avLst/>
          </a:prstGeom>
          <a:solidFill>
            <a:srgbClr val="3569F4"/>
          </a:solidFill>
          <a:ln w="25400">
            <a:solidFill>
              <a:srgbClr val="FFFFFF"/>
            </a:solidFill>
          </a:ln>
          <a:effectLst>
            <a:outerShdw blurRad="76200" dist="19050" dir="5400000" algn="t" rotWithShape="0">
              <a:srgbClr val="2E4A9A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59952" y="1783080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0E1A4B"/>
                </a:solidFill>
                <a:latin typeface="Segoe UI Semibold"/>
              </a:rPr>
              <a:t>Filter by action and subject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59952" y="2057400"/>
            <a:ext cx="28803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5B6A92"/>
                </a:solidFill>
                <a:latin typeface="Segoe UI"/>
              </a:rPr>
              <a:t>Find every export, configuration change or decision on a record.</a:t>
            </a:r>
          </a:p>
        </p:txBody>
      </p:sp>
      <p:sp>
        <p:nvSpPr>
          <p:cNvPr id="16" name="Oval 15"/>
          <p:cNvSpPr/>
          <p:nvPr/>
        </p:nvSpPr>
        <p:spPr>
          <a:xfrm>
            <a:off x="8321040" y="2523744"/>
            <a:ext cx="329184" cy="329184"/>
          </a:xfrm>
          <a:prstGeom prst="ellipse">
            <a:avLst/>
          </a:prstGeom>
          <a:solidFill>
            <a:srgbClr val="3569F4"/>
          </a:solidFill>
          <a:ln w="25400">
            <a:solidFill>
              <a:srgbClr val="FFFFFF"/>
            </a:solidFill>
          </a:ln>
          <a:effectLst>
            <a:outerShdw blurRad="76200" dist="19050" dir="5400000" algn="t" rotWithShape="0">
              <a:srgbClr val="2E4A9A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59952" y="2532888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0E1A4B"/>
                </a:solidFill>
                <a:latin typeface="Segoe UI Semibold"/>
              </a:rPr>
              <a:t>Who, what, when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59952" y="2807208"/>
            <a:ext cx="28803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5B6A92"/>
                </a:solidFill>
                <a:latin typeface="Segoe UI"/>
              </a:rPr>
              <a:t>Actor, action, record and exact UTC time for every entry, in sequence.</a:t>
            </a:r>
          </a:p>
        </p:txBody>
      </p:sp>
      <p:sp>
        <p:nvSpPr>
          <p:cNvPr id="19" name="Oval 18"/>
          <p:cNvSpPr/>
          <p:nvPr/>
        </p:nvSpPr>
        <p:spPr>
          <a:xfrm>
            <a:off x="8321040" y="3273552"/>
            <a:ext cx="329184" cy="329184"/>
          </a:xfrm>
          <a:prstGeom prst="ellipse">
            <a:avLst/>
          </a:prstGeom>
          <a:solidFill>
            <a:srgbClr val="3569F4"/>
          </a:solidFill>
          <a:ln w="25400">
            <a:solidFill>
              <a:srgbClr val="FFFFFF"/>
            </a:solidFill>
          </a:ln>
          <a:effectLst>
            <a:outerShdw blurRad="76200" dist="19050" dir="5400000" algn="t" rotWithShape="0">
              <a:srgbClr val="2E4A9A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59952" y="3282696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0E1A4B"/>
                </a:solidFill>
                <a:latin typeface="Segoe UI Semibold"/>
              </a:rPr>
              <a:t>Tamper-evident hashes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59952" y="3557016"/>
            <a:ext cx="28803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5B6A92"/>
                </a:solidFill>
                <a:latin typeface="Segoe UI"/>
              </a:rPr>
              <a:t>Each entry is chained to the one before; any edit breaks the chain.</a:t>
            </a:r>
          </a:p>
        </p:txBody>
      </p:sp>
      <p:sp>
        <p:nvSpPr>
          <p:cNvPr id="22" name="Oval 21"/>
          <p:cNvSpPr/>
          <p:nvPr/>
        </p:nvSpPr>
        <p:spPr>
          <a:xfrm>
            <a:off x="8321040" y="4023360"/>
            <a:ext cx="329184" cy="329184"/>
          </a:xfrm>
          <a:prstGeom prst="ellipse">
            <a:avLst/>
          </a:prstGeom>
          <a:solidFill>
            <a:srgbClr val="3569F4"/>
          </a:solidFill>
          <a:ln w="25400">
            <a:solidFill>
              <a:srgbClr val="FFFFFF"/>
            </a:solidFill>
          </a:ln>
          <a:effectLst>
            <a:outerShdw blurRad="76200" dist="19050" dir="5400000" algn="t" rotWithShape="0">
              <a:srgbClr val="2E4A9A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59952" y="4032504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0E1A4B"/>
                </a:solidFill>
                <a:latin typeface="Segoe UI Semibold"/>
              </a:rPr>
              <a:t>Verify the chain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59952" y="4306824"/>
            <a:ext cx="28803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5B6A92"/>
                </a:solidFill>
                <a:latin typeface="Segoe UI"/>
              </a:rPr>
              <a:t>One click re-computes the chain over any range and reports the result.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21040" y="4818888"/>
            <a:ext cx="3319272" cy="850392"/>
          </a:xfrm>
          <a:prstGeom prst="roundRect">
            <a:avLst>
              <a:gd name="adj" fmla="val 12000"/>
            </a:avLst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85632" y="4910328"/>
            <a:ext cx="29900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3569F4"/>
                </a:solidFill>
                <a:latin typeface="Segoe UI Semibold"/>
              </a:rPr>
              <a:t>WHY IT MATTERS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85632" y="5129784"/>
            <a:ext cx="2990088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0E1A4B"/>
                </a:solidFill>
                <a:latin typeface="Segoe UI"/>
              </a:rPr>
              <a:t>Audit preparation stops being an archaeology exercise: the evidence already exists, in order, and can be verified.</a:t>
            </a:r>
          </a:p>
        </p:txBody>
      </p:sp>
      <p:pic>
        <p:nvPicPr>
          <p:cNvPr id="28" name="Picture 27" descr="finora-ma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419088"/>
            <a:ext cx="201168" cy="20116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22960" y="6437376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0E1A4B"/>
                </a:solidFill>
                <a:latin typeface="Segoe UI Semibold"/>
              </a:rPr>
              <a:t>Finora Flow</a:t>
            </a:r>
            <a:r>
              <a:rPr sz="900" b="0">
                <a:solidFill>
                  <a:srgbClr val="5B6A92"/>
                </a:solidFill>
                <a:latin typeface="Segoe UI"/>
              </a:rPr>
              <a:t>   ·   Client walkthrough   ·   Control and oversight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81360" y="6437376"/>
            <a:ext cx="7589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B6A92"/>
                </a:solidFill>
                <a:latin typeface="Segoe UI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atmosphere" descr="app-atmosphere.jpg"/>
          <p:cNvPicPr>
            <a:picLocks noChangeAspect="1"/>
          </p:cNvPicPr>
          <p:nvPr/>
        </p:nvPicPr>
        <p:blipFill>
          <a:blip r:embed="rId2"/>
          <a:srcRect t="262" b="26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3569F4"/>
                </a:solidFill>
                <a:latin typeface="Segoe UI Semibold"/>
              </a:rPr>
              <a:t>OPERATIONAL OVERSIGHT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0E1A4B"/>
                </a:solidFill>
                <a:latin typeface="Segoe UI Semibold"/>
              </a:rPr>
              <a:t>The platform tells you when it needs attention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70432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5B6A92"/>
                </a:solidFill>
                <a:latin typeface="Segoe UI"/>
              </a:rPr>
              <a:t>Live status of every dependency and of the mailbox pipeline, in plain language.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00784"/>
            <a:ext cx="5440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B6A92"/>
                </a:solidFill>
                <a:latin typeface="Segoe UI Semibold"/>
              </a:rPr>
              <a:t>SYSTEM HEALTH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5049" y="1956816"/>
            <a:ext cx="4687861" cy="326440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BE3F5"/>
            </a:solidFill>
          </a:ln>
          <a:effectLst>
            <a:outerShdw blurRad="190500" dist="38100" dir="5400000" algn="t" rotWithShape="0">
              <a:srgbClr val="2E4A9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system-health.png"/>
          <p:cNvPicPr>
            <a:picLocks noChangeAspect="1"/>
          </p:cNvPicPr>
          <p:nvPr/>
        </p:nvPicPr>
        <p:blipFill>
          <a:blip r:embed="rId3"/>
          <a:srcRect l="17361" t="4444" b="4444"/>
          <a:stretch>
            <a:fillRect/>
          </a:stretch>
        </p:blipFill>
        <p:spPr>
          <a:xfrm>
            <a:off x="979913" y="2011680"/>
            <a:ext cx="4578133" cy="3154680"/>
          </a:xfrm>
          <a:prstGeom prst="rect">
            <a:avLst/>
          </a:prstGeom>
          <a:ln w="6350">
            <a:solidFill>
              <a:srgbClr val="DBE3F5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6199632" y="1700784"/>
            <a:ext cx="5440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B6A92"/>
                </a:solidFill>
                <a:latin typeface="Segoe UI Semibold"/>
              </a:rPr>
              <a:t>INTAKE HEALTH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8115" y="1956816"/>
            <a:ext cx="5323713" cy="326440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BE3F5"/>
            </a:solidFill>
          </a:ln>
          <a:effectLst>
            <a:outerShdw blurRad="190500" dist="38100" dir="5400000" algn="t" rotWithShape="0">
              <a:srgbClr val="2E4A9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intake-health.png"/>
          <p:cNvPicPr>
            <a:picLocks noChangeAspect="1"/>
          </p:cNvPicPr>
          <p:nvPr/>
        </p:nvPicPr>
        <p:blipFill>
          <a:blip r:embed="rId4"/>
          <a:srcRect l="17361" t="4444" b="15556"/>
          <a:stretch>
            <a:fillRect/>
          </a:stretch>
        </p:blipFill>
        <p:spPr>
          <a:xfrm>
            <a:off x="6312979" y="2011680"/>
            <a:ext cx="5213985" cy="3154680"/>
          </a:xfrm>
          <a:prstGeom prst="rect">
            <a:avLst/>
          </a:prstGeom>
          <a:ln w="6350">
            <a:solidFill>
              <a:srgbClr val="DBE3F5"/>
            </a:solidFill>
          </a:ln>
        </p:spPr>
      </p:pic>
      <p:sp>
        <p:nvSpPr>
          <p:cNvPr id="13" name="Oval 12"/>
          <p:cNvSpPr/>
          <p:nvPr/>
        </p:nvSpPr>
        <p:spPr>
          <a:xfrm>
            <a:off x="879552" y="3280911"/>
            <a:ext cx="246888" cy="246888"/>
          </a:xfrm>
          <a:prstGeom prst="ellipse">
            <a:avLst/>
          </a:prstGeom>
          <a:solidFill>
            <a:srgbClr val="3569F4"/>
          </a:solidFill>
          <a:ln w="25400">
            <a:solidFill>
              <a:srgbClr val="FFFFFF"/>
            </a:solidFill>
          </a:ln>
          <a:effectLst>
            <a:outerShdw blurRad="76200" dist="19050" dir="5400000" algn="t" rotWithShape="0">
              <a:srgbClr val="2E4A9A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4" name="Oval 13"/>
          <p:cNvSpPr/>
          <p:nvPr/>
        </p:nvSpPr>
        <p:spPr>
          <a:xfrm>
            <a:off x="3772624" y="3981096"/>
            <a:ext cx="246888" cy="246888"/>
          </a:xfrm>
          <a:prstGeom prst="ellipse">
            <a:avLst/>
          </a:prstGeom>
          <a:solidFill>
            <a:srgbClr val="3569F4"/>
          </a:solidFill>
          <a:ln w="25400">
            <a:solidFill>
              <a:srgbClr val="FFFFFF"/>
            </a:solidFill>
          </a:ln>
          <a:effectLst>
            <a:outerShdw blurRad="76200" dist="19050" dir="5400000" algn="t" rotWithShape="0">
              <a:srgbClr val="2E4A9A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5" name="Oval 14"/>
          <p:cNvSpPr/>
          <p:nvPr/>
        </p:nvSpPr>
        <p:spPr>
          <a:xfrm>
            <a:off x="6215824" y="2913507"/>
            <a:ext cx="246888" cy="246888"/>
          </a:xfrm>
          <a:prstGeom prst="ellipse">
            <a:avLst/>
          </a:prstGeom>
          <a:solidFill>
            <a:srgbClr val="3569F4"/>
          </a:solidFill>
          <a:ln w="25400">
            <a:solidFill>
              <a:srgbClr val="FFFFFF"/>
            </a:solidFill>
          </a:ln>
          <a:effectLst>
            <a:outerShdw blurRad="76200" dist="19050" dir="5400000" algn="t" rotWithShape="0">
              <a:srgbClr val="2E4A9A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16" name="Oval 15"/>
          <p:cNvSpPr/>
          <p:nvPr/>
        </p:nvSpPr>
        <p:spPr>
          <a:xfrm>
            <a:off x="557784" y="5367528"/>
            <a:ext cx="274320" cy="274320"/>
          </a:xfrm>
          <a:prstGeom prst="ellipse">
            <a:avLst/>
          </a:prstGeom>
          <a:solidFill>
            <a:srgbClr val="3569F4"/>
          </a:solidFill>
          <a:ln w="25400">
            <a:solidFill>
              <a:srgbClr val="FFFFFF"/>
            </a:solidFill>
          </a:ln>
          <a:effectLst>
            <a:outerShdw blurRad="76200" dist="19050" dir="5400000" algn="t" rotWithShape="0">
              <a:srgbClr val="2E4A9A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5394960"/>
            <a:ext cx="22517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0E1A4B"/>
                </a:solidFill>
                <a:latin typeface="Segoe UI Semibold"/>
              </a:rPr>
              <a:t>Plain-language impact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5632704"/>
            <a:ext cx="225171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5B6A92"/>
                </a:solidFill>
                <a:latin typeface="Segoe UI"/>
              </a:rPr>
              <a:t>Each service says what stops if it fails, and that queued work resumes.</a:t>
            </a:r>
          </a:p>
        </p:txBody>
      </p:sp>
      <p:sp>
        <p:nvSpPr>
          <p:cNvPr id="19" name="Oval 18"/>
          <p:cNvSpPr/>
          <p:nvPr/>
        </p:nvSpPr>
        <p:spPr>
          <a:xfrm>
            <a:off x="3376422" y="5367528"/>
            <a:ext cx="274320" cy="274320"/>
          </a:xfrm>
          <a:prstGeom prst="ellipse">
            <a:avLst/>
          </a:prstGeom>
          <a:solidFill>
            <a:srgbClr val="3569F4"/>
          </a:solidFill>
          <a:ln w="25400">
            <a:solidFill>
              <a:srgbClr val="FFFFFF"/>
            </a:solidFill>
          </a:ln>
          <a:effectLst>
            <a:outerShdw blurRad="76200" dist="19050" dir="5400000" algn="t" rotWithShape="0">
              <a:srgbClr val="2E4A9A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51326" y="5394960"/>
            <a:ext cx="22517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0E1A4B"/>
                </a:solidFill>
                <a:latin typeface="Segoe UI Semibold"/>
              </a:rPr>
              <a:t>Fail closed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51326" y="5632704"/>
            <a:ext cx="225171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5B6A92"/>
                </a:solidFill>
                <a:latin typeface="Segoe UI"/>
              </a:rPr>
              <a:t>If the malware scanner is down, intake stops accepting attachments rather than skipping the scan.</a:t>
            </a:r>
          </a:p>
        </p:txBody>
      </p:sp>
      <p:sp>
        <p:nvSpPr>
          <p:cNvPr id="22" name="Oval 21"/>
          <p:cNvSpPr/>
          <p:nvPr/>
        </p:nvSpPr>
        <p:spPr>
          <a:xfrm>
            <a:off x="6195060" y="5367528"/>
            <a:ext cx="274320" cy="274320"/>
          </a:xfrm>
          <a:prstGeom prst="ellipse">
            <a:avLst/>
          </a:prstGeom>
          <a:solidFill>
            <a:srgbClr val="3569F4"/>
          </a:solidFill>
          <a:ln w="25400">
            <a:solidFill>
              <a:srgbClr val="FFFFFF"/>
            </a:solidFill>
          </a:ln>
          <a:effectLst>
            <a:outerShdw blurRad="76200" dist="19050" dir="5400000" algn="t" rotWithShape="0">
              <a:srgbClr val="2E4A9A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69964" y="5394960"/>
            <a:ext cx="22517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0E1A4B"/>
                </a:solidFill>
                <a:latin typeface="Segoe UI Semibold"/>
              </a:rPr>
              <a:t>Mailbox checkpoints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69964" y="5632704"/>
            <a:ext cx="225171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5B6A92"/>
                </a:solidFill>
                <a:latin typeface="Segoe UI"/>
              </a:rPr>
              <a:t>Last poll, failures, quarantine and oldest unresolved item for every mailbox.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04554" y="5340096"/>
            <a:ext cx="2635758" cy="987552"/>
          </a:xfrm>
          <a:prstGeom prst="roundRect">
            <a:avLst>
              <a:gd name="adj" fmla="val 12000"/>
            </a:avLst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150858" y="5422392"/>
            <a:ext cx="234315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3569F4"/>
                </a:solidFill>
                <a:latin typeface="Segoe UI Semibold"/>
              </a:rPr>
              <a:t>WHY IT MATTERS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50858" y="5614416"/>
            <a:ext cx="23431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0E1A4B"/>
                </a:solidFill>
                <a:latin typeface="Segoe UI"/>
              </a:rPr>
              <a:t>Operations can prove the pipeline is healthy, and act before a stalled mailbox becomes a late payment.</a:t>
            </a:r>
          </a:p>
        </p:txBody>
      </p:sp>
      <p:pic>
        <p:nvPicPr>
          <p:cNvPr id="28" name="Picture 27" descr="finora-mar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6419088"/>
            <a:ext cx="201168" cy="20116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22960" y="6437376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0E1A4B"/>
                </a:solidFill>
                <a:latin typeface="Segoe UI Semibold"/>
              </a:rPr>
              <a:t>Finora Flow</a:t>
            </a:r>
            <a:r>
              <a:rPr sz="900" b="0">
                <a:solidFill>
                  <a:srgbClr val="5B6A92"/>
                </a:solidFill>
                <a:latin typeface="Segoe UI"/>
              </a:rPr>
              <a:t>   ·   Client walkthrough   ·   Control and oversight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81360" y="6437376"/>
            <a:ext cx="7589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B6A92"/>
                </a:solidFill>
                <a:latin typeface="Segoe UI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ignin-scene.jpg"/>
          <p:cNvPicPr>
            <a:picLocks noChangeAspect="1"/>
          </p:cNvPicPr>
          <p:nvPr/>
        </p:nvPicPr>
        <p:blipFill>
          <a:blip r:embed="rId2"/>
          <a:srcRect t="262" b="26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778240" cy="6858000"/>
          </a:xfrm>
          <a:prstGeom prst="rect">
            <a:avLst/>
          </a:prstGeom>
          <a:gradFill rotWithShape="1">
            <a:gsLst>
              <a:gs pos="0">
                <a:srgbClr val="F6F9FF">
                  <a:alpha val="97000"/>
                </a:srgbClr>
              </a:gs>
              <a:gs pos="55000">
                <a:srgbClr val="F6F9FF">
                  <a:alpha val="90000"/>
                </a:srgbClr>
              </a:gs>
              <a:gs pos="100000">
                <a:srgbClr val="F6F9FF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5486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600" b="0">
                <a:solidFill>
                  <a:srgbClr val="3569F4"/>
                </a:solidFill>
                <a:latin typeface="Segoe UI Semibold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57607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0">
                <a:solidFill>
                  <a:srgbClr val="0E1A4B"/>
                </a:solidFill>
                <a:latin typeface="Segoe UI Semibold"/>
              </a:rPr>
              <a:t>Visibility and administration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069080"/>
            <a:ext cx="5486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5B6A92"/>
                </a:solidFill>
                <a:latin typeface="Segoe UI"/>
              </a:rPr>
              <a:t>Management visibility and a platform your administrators control.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120640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3569F4"/>
                </a:solidFill>
                <a:latin typeface="Segoe UI Semibold"/>
              </a:rPr>
              <a:t>Reports  ·  Approval matrix  ·  Users and roles  ·  Reference data  ·  Policies</a:t>
            </a:r>
          </a:p>
        </p:txBody>
      </p:sp>
      <p:pic>
        <p:nvPicPr>
          <p:cNvPr id="8" name="Picture 7" descr="finora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19088"/>
            <a:ext cx="201168" cy="2011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" y="6437376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0E1A4B"/>
                </a:solidFill>
                <a:latin typeface="Segoe UI Semibold"/>
              </a:rPr>
              <a:t>Finora Flow</a:t>
            </a:r>
            <a:r>
              <a:rPr sz="900" b="0">
                <a:solidFill>
                  <a:srgbClr val="5B6A92"/>
                </a:solidFill>
                <a:latin typeface="Segoe UI"/>
              </a:rPr>
              <a:t>   ·   Client walkthrough   ·   Visibility and administration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37376"/>
            <a:ext cx="7589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B6A92"/>
                </a:solidFill>
                <a:latin typeface="Segoe UI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atmosphere" descr="app-atmosphere.jpg"/>
          <p:cNvPicPr>
            <a:picLocks noChangeAspect="1"/>
          </p:cNvPicPr>
          <p:nvPr/>
        </p:nvPicPr>
        <p:blipFill>
          <a:blip r:embed="rId2"/>
          <a:srcRect t="262" b="26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3569F4"/>
                </a:solidFill>
                <a:latin typeface="Segoe UI Semibold"/>
              </a:rPr>
              <a:t>REPORTING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0E1A4B"/>
                </a:solidFill>
                <a:latin typeface="Segoe UI Semibold"/>
              </a:rPr>
              <a:t>Management visibility, from live records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70432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5B6A92"/>
                </a:solidFill>
                <a:latin typeface="Segoe UI"/>
              </a:rPr>
              <a:t>The dashboard for day-to-day oversight; the reports hub for audited exports.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00784"/>
            <a:ext cx="5440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B6A92"/>
                </a:solidFill>
                <a:latin typeface="Segoe UI Semibold"/>
              </a:rPr>
              <a:t>DASHBOARD · WORK, ACTIVITY AND HEALTH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3776" y="2256282"/>
            <a:ext cx="5550408" cy="266547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BE3F5"/>
            </a:solidFill>
          </a:ln>
          <a:effectLst>
            <a:outerShdw blurRad="190500" dist="38100" dir="5400000" algn="t" rotWithShape="0">
              <a:srgbClr val="2E4A9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dashboard-finance.png"/>
          <p:cNvPicPr>
            <a:picLocks noChangeAspect="1"/>
          </p:cNvPicPr>
          <p:nvPr/>
        </p:nvPicPr>
        <p:blipFill>
          <a:blip r:embed="rId3"/>
          <a:srcRect l="17361" t="60214"/>
          <a:stretch>
            <a:fillRect/>
          </a:stretch>
        </p:blipFill>
        <p:spPr>
          <a:xfrm>
            <a:off x="548640" y="2311146"/>
            <a:ext cx="5440680" cy="2555748"/>
          </a:xfrm>
          <a:prstGeom prst="rect">
            <a:avLst/>
          </a:prstGeom>
          <a:ln w="6350">
            <a:solidFill>
              <a:srgbClr val="DBE3F5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6199632" y="1700784"/>
            <a:ext cx="5440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B6A92"/>
                </a:solidFill>
                <a:latin typeface="Segoe UI Semibold"/>
              </a:rPr>
              <a:t>REPORTS HUB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44768" y="2345436"/>
            <a:ext cx="5550408" cy="248716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BE3F5"/>
            </a:solidFill>
          </a:ln>
          <a:effectLst>
            <a:outerShdw blurRad="190500" dist="38100" dir="5400000" algn="t" rotWithShape="0">
              <a:srgbClr val="2E4A9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reports.png"/>
          <p:cNvPicPr>
            <a:picLocks noChangeAspect="1"/>
          </p:cNvPicPr>
          <p:nvPr/>
        </p:nvPicPr>
        <p:blipFill>
          <a:blip r:embed="rId4"/>
          <a:srcRect l="17361" t="4444" b="37778"/>
          <a:stretch>
            <a:fillRect/>
          </a:stretch>
        </p:blipFill>
        <p:spPr>
          <a:xfrm>
            <a:off x="6199632" y="2400300"/>
            <a:ext cx="5440680" cy="2377440"/>
          </a:xfrm>
          <a:prstGeom prst="rect">
            <a:avLst/>
          </a:prstGeom>
          <a:ln w="6350">
            <a:solidFill>
              <a:srgbClr val="DBE3F5"/>
            </a:solidFill>
          </a:ln>
        </p:spPr>
      </p:pic>
      <p:sp>
        <p:nvSpPr>
          <p:cNvPr id="13" name="Oval 12"/>
          <p:cNvSpPr/>
          <p:nvPr/>
        </p:nvSpPr>
        <p:spPr>
          <a:xfrm>
            <a:off x="452628" y="2169414"/>
            <a:ext cx="246888" cy="246888"/>
          </a:xfrm>
          <a:prstGeom prst="ellipse">
            <a:avLst/>
          </a:prstGeom>
          <a:solidFill>
            <a:srgbClr val="3569F4"/>
          </a:solidFill>
          <a:ln w="25400">
            <a:solidFill>
              <a:srgbClr val="FFFFFF"/>
            </a:solidFill>
          </a:ln>
          <a:effectLst>
            <a:outerShdw blurRad="76200" dist="19050" dir="5400000" algn="t" rotWithShape="0">
              <a:srgbClr val="2E4A9A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4" name="Oval 13"/>
          <p:cNvSpPr/>
          <p:nvPr/>
        </p:nvSpPr>
        <p:spPr>
          <a:xfrm>
            <a:off x="2784348" y="2169414"/>
            <a:ext cx="246888" cy="246888"/>
          </a:xfrm>
          <a:prstGeom prst="ellipse">
            <a:avLst/>
          </a:prstGeom>
          <a:solidFill>
            <a:srgbClr val="3569F4"/>
          </a:solidFill>
          <a:ln w="25400">
            <a:solidFill>
              <a:srgbClr val="FFFFFF"/>
            </a:solidFill>
          </a:ln>
          <a:effectLst>
            <a:outerShdw blurRad="76200" dist="19050" dir="5400000" algn="t" rotWithShape="0">
              <a:srgbClr val="2E4A9A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5" name="Oval 14"/>
          <p:cNvSpPr/>
          <p:nvPr/>
        </p:nvSpPr>
        <p:spPr>
          <a:xfrm>
            <a:off x="6103620" y="2798064"/>
            <a:ext cx="246888" cy="246888"/>
          </a:xfrm>
          <a:prstGeom prst="ellipse">
            <a:avLst/>
          </a:prstGeom>
          <a:solidFill>
            <a:srgbClr val="3569F4"/>
          </a:solidFill>
          <a:ln w="25400">
            <a:solidFill>
              <a:srgbClr val="FFFFFF"/>
            </a:solidFill>
          </a:ln>
          <a:effectLst>
            <a:outerShdw blurRad="76200" dist="19050" dir="5400000" algn="t" rotWithShape="0">
              <a:srgbClr val="2E4A9A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16" name="Oval 15"/>
          <p:cNvSpPr/>
          <p:nvPr/>
        </p:nvSpPr>
        <p:spPr>
          <a:xfrm>
            <a:off x="557784" y="5367528"/>
            <a:ext cx="274320" cy="274320"/>
          </a:xfrm>
          <a:prstGeom prst="ellipse">
            <a:avLst/>
          </a:prstGeom>
          <a:solidFill>
            <a:srgbClr val="3569F4"/>
          </a:solidFill>
          <a:ln w="25400">
            <a:solidFill>
              <a:srgbClr val="FFFFFF"/>
            </a:solidFill>
          </a:ln>
          <a:effectLst>
            <a:outerShdw blurRad="76200" dist="19050" dir="5400000" algn="t" rotWithShape="0">
              <a:srgbClr val="2E4A9A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5394960"/>
            <a:ext cx="22517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0E1A4B"/>
                </a:solidFill>
                <a:latin typeface="Segoe UI Semibold"/>
              </a:rPr>
              <a:t>Work by type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5632704"/>
            <a:ext cx="225171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5B6A92"/>
                </a:solidFill>
                <a:latin typeface="Segoe UI"/>
              </a:rPr>
              <a:t>Everything waiting, split by kind, one click from each item.</a:t>
            </a:r>
          </a:p>
        </p:txBody>
      </p:sp>
      <p:sp>
        <p:nvSpPr>
          <p:cNvPr id="19" name="Oval 18"/>
          <p:cNvSpPr/>
          <p:nvPr/>
        </p:nvSpPr>
        <p:spPr>
          <a:xfrm>
            <a:off x="3376422" y="5367528"/>
            <a:ext cx="274320" cy="274320"/>
          </a:xfrm>
          <a:prstGeom prst="ellipse">
            <a:avLst/>
          </a:prstGeom>
          <a:solidFill>
            <a:srgbClr val="3569F4"/>
          </a:solidFill>
          <a:ln w="25400">
            <a:solidFill>
              <a:srgbClr val="FFFFFF"/>
            </a:solidFill>
          </a:ln>
          <a:effectLst>
            <a:outerShdw blurRad="76200" dist="19050" dir="5400000" algn="t" rotWithShape="0">
              <a:srgbClr val="2E4A9A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51326" y="5394960"/>
            <a:ext cx="22517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0E1A4B"/>
                </a:solidFill>
                <a:latin typeface="Segoe UI Semibold"/>
              </a:rPr>
              <a:t>Recent activity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51326" y="5632704"/>
            <a:ext cx="225171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5B6A92"/>
                </a:solidFill>
                <a:latin typeface="Segoe UI"/>
              </a:rPr>
              <a:t>What changed most recently, with amounts and who it concerns.</a:t>
            </a:r>
          </a:p>
        </p:txBody>
      </p:sp>
      <p:sp>
        <p:nvSpPr>
          <p:cNvPr id="22" name="Oval 21"/>
          <p:cNvSpPr/>
          <p:nvPr/>
        </p:nvSpPr>
        <p:spPr>
          <a:xfrm>
            <a:off x="6195060" y="5367528"/>
            <a:ext cx="274320" cy="274320"/>
          </a:xfrm>
          <a:prstGeom prst="ellipse">
            <a:avLst/>
          </a:prstGeom>
          <a:solidFill>
            <a:srgbClr val="3569F4"/>
          </a:solidFill>
          <a:ln w="25400">
            <a:solidFill>
              <a:srgbClr val="FFFFFF"/>
            </a:solidFill>
          </a:ln>
          <a:effectLst>
            <a:outerShdw blurRad="76200" dist="19050" dir="5400000" algn="t" rotWithShape="0">
              <a:srgbClr val="2E4A9A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69964" y="5394960"/>
            <a:ext cx="22517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0E1A4B"/>
                </a:solidFill>
                <a:latin typeface="Segoe UI Semibold"/>
              </a:rPr>
              <a:t>Audited exports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69964" y="5632704"/>
            <a:ext cx="225171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5B6A92"/>
                </a:solidFill>
                <a:latin typeface="Segoe UI"/>
              </a:rPr>
              <a:t>Audit trail, payment manifests, accrual packs and card periods; every download is recorded.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04554" y="5340096"/>
            <a:ext cx="2635758" cy="987552"/>
          </a:xfrm>
          <a:prstGeom prst="roundRect">
            <a:avLst>
              <a:gd name="adj" fmla="val 12000"/>
            </a:avLst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150858" y="5422392"/>
            <a:ext cx="234315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3569F4"/>
                </a:solidFill>
                <a:latin typeface="Segoe UI Semibold"/>
              </a:rPr>
              <a:t>WHY IT MATTERS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50858" y="5614416"/>
            <a:ext cx="23431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0E1A4B"/>
                </a:solidFill>
                <a:latin typeface="Segoe UI"/>
              </a:rPr>
              <a:t>Reporting is permission-aware: each person sees only the reports their role may open.</a:t>
            </a:r>
          </a:p>
        </p:txBody>
      </p:sp>
      <p:pic>
        <p:nvPicPr>
          <p:cNvPr id="28" name="Picture 27" descr="finora-mar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6419088"/>
            <a:ext cx="201168" cy="20116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22960" y="6437376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0E1A4B"/>
                </a:solidFill>
                <a:latin typeface="Segoe UI Semibold"/>
              </a:rPr>
              <a:t>Finora Flow</a:t>
            </a:r>
            <a:r>
              <a:rPr sz="900" b="0">
                <a:solidFill>
                  <a:srgbClr val="5B6A92"/>
                </a:solidFill>
                <a:latin typeface="Segoe UI"/>
              </a:rPr>
              <a:t>   ·   Client walkthrough   ·   Visibility and administration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81360" y="6437376"/>
            <a:ext cx="7589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B6A92"/>
                </a:solidFill>
                <a:latin typeface="Segoe UI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atmosphere" descr="app-atmosphere.jpg"/>
          <p:cNvPicPr>
            <a:picLocks noChangeAspect="1"/>
          </p:cNvPicPr>
          <p:nvPr/>
        </p:nvPicPr>
        <p:blipFill>
          <a:blip r:embed="rId2"/>
          <a:srcRect t="262" b="26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3569F4"/>
                </a:solidFill>
                <a:latin typeface="Segoe UI Semibold"/>
              </a:rPr>
              <a:t>APPROVAL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0E1A4B"/>
                </a:solidFill>
                <a:latin typeface="Segoe UI Semibold"/>
              </a:rPr>
              <a:t>Routing rules your administrators own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70432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5B6A92"/>
                </a:solidFill>
                <a:latin typeface="Segoe UI"/>
              </a:rPr>
              <a:t>Rules are data, not code. Changing one retires it and writes a successor, so past approvals stay explicable.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53896" y="1755648"/>
            <a:ext cx="5550408" cy="449884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BE3F5"/>
            </a:solidFill>
          </a:ln>
          <a:effectLst>
            <a:outerShdw blurRad="190500" dist="38100" dir="5400000" algn="t" rotWithShape="0">
              <a:srgbClr val="2E4A9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matrix.png"/>
          <p:cNvPicPr>
            <a:picLocks noChangeAspect="1"/>
          </p:cNvPicPr>
          <p:nvPr/>
        </p:nvPicPr>
        <p:blipFill>
          <a:blip r:embed="rId3"/>
          <a:srcRect l="17361" t="3922" b="1961"/>
          <a:stretch>
            <a:fillRect/>
          </a:stretch>
        </p:blipFill>
        <p:spPr>
          <a:xfrm>
            <a:off x="1508760" y="1810512"/>
            <a:ext cx="5440680" cy="4389120"/>
          </a:xfrm>
          <a:prstGeom prst="rect">
            <a:avLst/>
          </a:prstGeom>
          <a:ln w="6350">
            <a:solidFill>
              <a:srgbClr val="DBE3F5"/>
            </a:solidFill>
          </a:ln>
        </p:spPr>
      </p:pic>
      <p:sp>
        <p:nvSpPr>
          <p:cNvPr id="9" name="Oval 8"/>
          <p:cNvSpPr/>
          <p:nvPr/>
        </p:nvSpPr>
        <p:spPr>
          <a:xfrm>
            <a:off x="1389888" y="2423160"/>
            <a:ext cx="292608" cy="292608"/>
          </a:xfrm>
          <a:prstGeom prst="ellipse">
            <a:avLst/>
          </a:prstGeom>
          <a:solidFill>
            <a:srgbClr val="3569F4"/>
          </a:solidFill>
          <a:ln w="25400">
            <a:solidFill>
              <a:srgbClr val="FFFFFF"/>
            </a:solidFill>
          </a:ln>
          <a:effectLst>
            <a:outerShdw blurRad="76200" dist="19050" dir="5400000" algn="t" rotWithShape="0">
              <a:srgbClr val="2E4A9A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0" name="Oval 9"/>
          <p:cNvSpPr/>
          <p:nvPr/>
        </p:nvSpPr>
        <p:spPr>
          <a:xfrm>
            <a:off x="1389888" y="2852928"/>
            <a:ext cx="292608" cy="292608"/>
          </a:xfrm>
          <a:prstGeom prst="ellipse">
            <a:avLst/>
          </a:prstGeom>
          <a:solidFill>
            <a:srgbClr val="3569F4"/>
          </a:solidFill>
          <a:ln w="25400">
            <a:solidFill>
              <a:srgbClr val="FFFFFF"/>
            </a:solidFill>
          </a:ln>
          <a:effectLst>
            <a:outerShdw blurRad="76200" dist="19050" dir="5400000" algn="t" rotWithShape="0">
              <a:srgbClr val="2E4A9A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1" name="Oval 10"/>
          <p:cNvSpPr/>
          <p:nvPr/>
        </p:nvSpPr>
        <p:spPr>
          <a:xfrm>
            <a:off x="5376672" y="3054096"/>
            <a:ext cx="292608" cy="292608"/>
          </a:xfrm>
          <a:prstGeom prst="ellipse">
            <a:avLst/>
          </a:prstGeom>
          <a:solidFill>
            <a:srgbClr val="3569F4"/>
          </a:solidFill>
          <a:ln w="25400">
            <a:solidFill>
              <a:srgbClr val="FFFFFF"/>
            </a:solidFill>
          </a:ln>
          <a:effectLst>
            <a:outerShdw blurRad="76200" dist="19050" dir="5400000" algn="t" rotWithShape="0">
              <a:srgbClr val="2E4A9A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12" name="Oval 11"/>
          <p:cNvSpPr/>
          <p:nvPr/>
        </p:nvSpPr>
        <p:spPr>
          <a:xfrm>
            <a:off x="1389888" y="4736592"/>
            <a:ext cx="292608" cy="292608"/>
          </a:xfrm>
          <a:prstGeom prst="ellipse">
            <a:avLst/>
          </a:prstGeom>
          <a:solidFill>
            <a:srgbClr val="3569F4"/>
          </a:solidFill>
          <a:ln w="25400">
            <a:solidFill>
              <a:srgbClr val="FFFFFF"/>
            </a:solidFill>
          </a:ln>
          <a:effectLst>
            <a:outerShdw blurRad="76200" dist="19050" dir="5400000" algn="t" rotWithShape="0">
              <a:srgbClr val="2E4A9A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13" name="Oval 12"/>
          <p:cNvSpPr/>
          <p:nvPr/>
        </p:nvSpPr>
        <p:spPr>
          <a:xfrm>
            <a:off x="8321040" y="1773936"/>
            <a:ext cx="329184" cy="329184"/>
          </a:xfrm>
          <a:prstGeom prst="ellipse">
            <a:avLst/>
          </a:prstGeom>
          <a:solidFill>
            <a:srgbClr val="3569F4"/>
          </a:solidFill>
          <a:ln w="25400">
            <a:solidFill>
              <a:srgbClr val="FFFFFF"/>
            </a:solidFill>
          </a:ln>
          <a:effectLst>
            <a:outerShdw blurRad="76200" dist="19050" dir="5400000" algn="t" rotWithShape="0">
              <a:srgbClr val="2E4A9A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59952" y="1783080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0E1A4B"/>
                </a:solidFill>
                <a:latin typeface="Segoe UI Semibold"/>
              </a:rPr>
              <a:t>Per record type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59952" y="2057400"/>
            <a:ext cx="28803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5B6A92"/>
                </a:solidFill>
                <a:latin typeface="Segoe UI"/>
              </a:rPr>
              <a:t>Separate matrices for estimates, invoices and purchase orders.</a:t>
            </a:r>
          </a:p>
        </p:txBody>
      </p:sp>
      <p:sp>
        <p:nvSpPr>
          <p:cNvPr id="16" name="Oval 15"/>
          <p:cNvSpPr/>
          <p:nvPr/>
        </p:nvSpPr>
        <p:spPr>
          <a:xfrm>
            <a:off x="8321040" y="2523744"/>
            <a:ext cx="329184" cy="329184"/>
          </a:xfrm>
          <a:prstGeom prst="ellipse">
            <a:avLst/>
          </a:prstGeom>
          <a:solidFill>
            <a:srgbClr val="3569F4"/>
          </a:solidFill>
          <a:ln w="25400">
            <a:solidFill>
              <a:srgbClr val="FFFFFF"/>
            </a:solidFill>
          </a:ln>
          <a:effectLst>
            <a:outerShdw blurRad="76200" dist="19050" dir="5400000" algn="t" rotWithShape="0">
              <a:srgbClr val="2E4A9A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59952" y="2532888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0E1A4B"/>
                </a:solidFill>
                <a:latin typeface="Segoe UI Semibold"/>
              </a:rPr>
              <a:t>Coherence checked first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59952" y="2807208"/>
            <a:ext cx="28803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5B6A92"/>
                </a:solidFill>
                <a:latin typeface="Segoe UI"/>
              </a:rPr>
              <a:t>Overlaps, gaps and unstaffed levels are named before the rules are listed.</a:t>
            </a:r>
          </a:p>
        </p:txBody>
      </p:sp>
      <p:sp>
        <p:nvSpPr>
          <p:cNvPr id="19" name="Oval 18"/>
          <p:cNvSpPr/>
          <p:nvPr/>
        </p:nvSpPr>
        <p:spPr>
          <a:xfrm>
            <a:off x="8321040" y="3273552"/>
            <a:ext cx="329184" cy="329184"/>
          </a:xfrm>
          <a:prstGeom prst="ellipse">
            <a:avLst/>
          </a:prstGeom>
          <a:solidFill>
            <a:srgbClr val="3569F4"/>
          </a:solidFill>
          <a:ln w="25400">
            <a:solidFill>
              <a:srgbClr val="FFFFFF"/>
            </a:solidFill>
          </a:ln>
          <a:effectLst>
            <a:outerShdw blurRad="76200" dist="19050" dir="5400000" algn="t" rotWithShape="0">
              <a:srgbClr val="2E4A9A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59952" y="3282696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0E1A4B"/>
                </a:solidFill>
                <a:latin typeface="Segoe UI Semibold"/>
              </a:rPr>
              <a:t>Live rules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59952" y="3557016"/>
            <a:ext cx="28803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5B6A92"/>
                </a:solidFill>
                <a:latin typeface="Segoe UI"/>
              </a:rPr>
              <a:t>Band, currency, required level and step; replace or retire with a reason.</a:t>
            </a:r>
          </a:p>
        </p:txBody>
      </p:sp>
      <p:sp>
        <p:nvSpPr>
          <p:cNvPr id="22" name="Oval 21"/>
          <p:cNvSpPr/>
          <p:nvPr/>
        </p:nvSpPr>
        <p:spPr>
          <a:xfrm>
            <a:off x="8321040" y="4023360"/>
            <a:ext cx="329184" cy="329184"/>
          </a:xfrm>
          <a:prstGeom prst="ellipse">
            <a:avLst/>
          </a:prstGeom>
          <a:solidFill>
            <a:srgbClr val="3569F4"/>
          </a:solidFill>
          <a:ln w="25400">
            <a:solidFill>
              <a:srgbClr val="FFFFFF"/>
            </a:solidFill>
          </a:ln>
          <a:effectLst>
            <a:outerShdw blurRad="76200" dist="19050" dir="5400000" algn="t" rotWithShape="0">
              <a:srgbClr val="2E4A9A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59952" y="4032504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0E1A4B"/>
                </a:solidFill>
                <a:latin typeface="Segoe UI Semibold"/>
              </a:rPr>
              <a:t>Route simulator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59952" y="4306824"/>
            <a:ext cx="28803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5B6A92"/>
                </a:solidFill>
                <a:latin typeface="Segoe UI"/>
              </a:rPr>
              <a:t>Type any amount and see exactly who would have to approve it.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21040" y="4818888"/>
            <a:ext cx="3319272" cy="850392"/>
          </a:xfrm>
          <a:prstGeom prst="roundRect">
            <a:avLst>
              <a:gd name="adj" fmla="val 12000"/>
            </a:avLst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85632" y="4910328"/>
            <a:ext cx="29900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3569F4"/>
                </a:solidFill>
                <a:latin typeface="Segoe UI Semibold"/>
              </a:rPr>
              <a:t>WHY IT MATTERS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85632" y="5129784"/>
            <a:ext cx="2990088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0E1A4B"/>
                </a:solidFill>
                <a:latin typeface="Segoe UI"/>
              </a:rPr>
              <a:t>Policy changes take effect on the next submission without a deployment, and in-flight records keep the route they were given.</a:t>
            </a:r>
          </a:p>
        </p:txBody>
      </p:sp>
      <p:pic>
        <p:nvPicPr>
          <p:cNvPr id="28" name="Picture 27" descr="finora-ma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419088"/>
            <a:ext cx="201168" cy="20116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22960" y="6437376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0E1A4B"/>
                </a:solidFill>
                <a:latin typeface="Segoe UI Semibold"/>
              </a:rPr>
              <a:t>Finora Flow</a:t>
            </a:r>
            <a:r>
              <a:rPr sz="900" b="0">
                <a:solidFill>
                  <a:srgbClr val="5B6A92"/>
                </a:solidFill>
                <a:latin typeface="Segoe UI"/>
              </a:rPr>
              <a:t>   ·   Client walkthrough   ·   Visibility and administration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81360" y="6437376"/>
            <a:ext cx="7589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B6A92"/>
                </a:solidFill>
                <a:latin typeface="Segoe UI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atmosphere" descr="app-atmosphere.jpg"/>
          <p:cNvPicPr>
            <a:picLocks noChangeAspect="1"/>
          </p:cNvPicPr>
          <p:nvPr/>
        </p:nvPicPr>
        <p:blipFill>
          <a:blip r:embed="rId2"/>
          <a:srcRect t="262" b="26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3569F4"/>
                </a:solidFill>
                <a:latin typeface="Segoe UI Semibold"/>
              </a:rPr>
              <a:t>PEOPLE AND DELEGATION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0E1A4B"/>
                </a:solidFill>
                <a:latin typeface="Segoe UI Semibold"/>
              </a:rPr>
              <a:t>Users, roles, approvers and cover while away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70432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5B6A92"/>
                </a:solidFill>
                <a:latin typeface="Segoe UI"/>
              </a:rPr>
              <a:t>Role combinations that would break segregation of duties are refused at the moment they are granted.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00784"/>
            <a:ext cx="5440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B6A92"/>
                </a:solidFill>
                <a:latin typeface="Segoe UI Semibold"/>
              </a:rPr>
              <a:t>USERS AND ROLES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3776" y="2208276"/>
            <a:ext cx="5550408" cy="276148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BE3F5"/>
            </a:solidFill>
          </a:ln>
          <a:effectLst>
            <a:outerShdw blurRad="190500" dist="38100" dir="5400000" algn="t" rotWithShape="0">
              <a:srgbClr val="2E4A9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users.png"/>
          <p:cNvPicPr>
            <a:picLocks noChangeAspect="1"/>
          </p:cNvPicPr>
          <p:nvPr/>
        </p:nvPicPr>
        <p:blipFill>
          <a:blip r:embed="rId3"/>
          <a:srcRect l="17361" t="4444" b="31111"/>
          <a:stretch>
            <a:fillRect/>
          </a:stretch>
        </p:blipFill>
        <p:spPr>
          <a:xfrm>
            <a:off x="548640" y="2263140"/>
            <a:ext cx="5440680" cy="2651760"/>
          </a:xfrm>
          <a:prstGeom prst="rect">
            <a:avLst/>
          </a:prstGeom>
          <a:ln w="6350">
            <a:solidFill>
              <a:srgbClr val="DBE3F5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6199632" y="1700784"/>
            <a:ext cx="5440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B6A92"/>
                </a:solidFill>
                <a:latin typeface="Segoe UI Semibold"/>
              </a:rPr>
              <a:t>WHO APPROVES WHAT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44768" y="2116836"/>
            <a:ext cx="5550408" cy="294436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BE3F5"/>
            </a:solidFill>
          </a:ln>
          <a:effectLst>
            <a:outerShdw blurRad="190500" dist="38100" dir="5400000" algn="t" rotWithShape="0">
              <a:srgbClr val="2E4A9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approvers.png"/>
          <p:cNvPicPr>
            <a:picLocks noChangeAspect="1"/>
          </p:cNvPicPr>
          <p:nvPr/>
        </p:nvPicPr>
        <p:blipFill>
          <a:blip r:embed="rId4"/>
          <a:srcRect l="17361" t="4444" b="26667"/>
          <a:stretch>
            <a:fillRect/>
          </a:stretch>
        </p:blipFill>
        <p:spPr>
          <a:xfrm>
            <a:off x="6199632" y="2171700"/>
            <a:ext cx="5440680" cy="2834640"/>
          </a:xfrm>
          <a:prstGeom prst="rect">
            <a:avLst/>
          </a:prstGeom>
          <a:ln w="6350">
            <a:solidFill>
              <a:srgbClr val="DBE3F5"/>
            </a:solidFill>
          </a:ln>
        </p:spPr>
      </p:pic>
      <p:sp>
        <p:nvSpPr>
          <p:cNvPr id="13" name="Oval 12"/>
          <p:cNvSpPr/>
          <p:nvPr/>
        </p:nvSpPr>
        <p:spPr>
          <a:xfrm>
            <a:off x="452628" y="3209544"/>
            <a:ext cx="246888" cy="246888"/>
          </a:xfrm>
          <a:prstGeom prst="ellipse">
            <a:avLst/>
          </a:prstGeom>
          <a:solidFill>
            <a:srgbClr val="3569F4"/>
          </a:solidFill>
          <a:ln w="25400">
            <a:solidFill>
              <a:srgbClr val="FFFFFF"/>
            </a:solidFill>
          </a:ln>
          <a:effectLst>
            <a:outerShdw blurRad="76200" dist="19050" dir="5400000" algn="t" rotWithShape="0">
              <a:srgbClr val="2E4A9A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4" name="Oval 13"/>
          <p:cNvSpPr/>
          <p:nvPr/>
        </p:nvSpPr>
        <p:spPr>
          <a:xfrm>
            <a:off x="6103620" y="2788920"/>
            <a:ext cx="246888" cy="246888"/>
          </a:xfrm>
          <a:prstGeom prst="ellipse">
            <a:avLst/>
          </a:prstGeom>
          <a:solidFill>
            <a:srgbClr val="3569F4"/>
          </a:solidFill>
          <a:ln w="25400">
            <a:solidFill>
              <a:srgbClr val="FFFFFF"/>
            </a:solidFill>
          </a:ln>
          <a:effectLst>
            <a:outerShdw blurRad="76200" dist="19050" dir="5400000" algn="t" rotWithShape="0">
              <a:srgbClr val="2E4A9A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5" name="Oval 14"/>
          <p:cNvSpPr/>
          <p:nvPr/>
        </p:nvSpPr>
        <p:spPr>
          <a:xfrm>
            <a:off x="557784" y="5367528"/>
            <a:ext cx="274320" cy="274320"/>
          </a:xfrm>
          <a:prstGeom prst="ellipse">
            <a:avLst/>
          </a:prstGeom>
          <a:solidFill>
            <a:srgbClr val="3569F4"/>
          </a:solidFill>
          <a:ln w="25400">
            <a:solidFill>
              <a:srgbClr val="FFFFFF"/>
            </a:solidFill>
          </a:ln>
          <a:effectLst>
            <a:outerShdw blurRad="76200" dist="19050" dir="5400000" algn="t" rotWithShape="0">
              <a:srgbClr val="2E4A9A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5394960"/>
            <a:ext cx="22517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0E1A4B"/>
                </a:solidFill>
                <a:latin typeface="Segoe UI Semibold"/>
              </a:rPr>
              <a:t>Accounts and roles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5632704"/>
            <a:ext cx="225171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5B6A92"/>
                </a:solidFill>
                <a:latin typeface="Segoe UI"/>
              </a:rPr>
              <a:t>Create accounts, grant or revoke roles, deactivate with a reason.</a:t>
            </a:r>
          </a:p>
        </p:txBody>
      </p:sp>
      <p:sp>
        <p:nvSpPr>
          <p:cNvPr id="18" name="Oval 17"/>
          <p:cNvSpPr/>
          <p:nvPr/>
        </p:nvSpPr>
        <p:spPr>
          <a:xfrm>
            <a:off x="3376422" y="5367528"/>
            <a:ext cx="274320" cy="274320"/>
          </a:xfrm>
          <a:prstGeom prst="ellipse">
            <a:avLst/>
          </a:prstGeom>
          <a:solidFill>
            <a:srgbClr val="3569F4"/>
          </a:solidFill>
          <a:ln w="25400">
            <a:solidFill>
              <a:srgbClr val="FFFFFF"/>
            </a:solidFill>
          </a:ln>
          <a:effectLst>
            <a:outerShdw blurRad="76200" dist="19050" dir="5400000" algn="t" rotWithShape="0">
              <a:srgbClr val="2E4A9A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51326" y="5394960"/>
            <a:ext cx="22517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0E1A4B"/>
                </a:solidFill>
                <a:latin typeface="Segoe UI Semibold"/>
              </a:rPr>
              <a:t>Levels staffed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51326" y="5632704"/>
            <a:ext cx="225171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5B6A92"/>
                </a:solidFill>
                <a:latin typeface="Segoe UI"/>
              </a:rPr>
              <a:t>Who holds Unit Head, Manager, Head of Department and COO, and where.</a:t>
            </a:r>
          </a:p>
        </p:txBody>
      </p:sp>
      <p:sp>
        <p:nvSpPr>
          <p:cNvPr id="21" name="Oval 20"/>
          <p:cNvSpPr/>
          <p:nvPr/>
        </p:nvSpPr>
        <p:spPr>
          <a:xfrm>
            <a:off x="6195060" y="5367528"/>
            <a:ext cx="274320" cy="274320"/>
          </a:xfrm>
          <a:prstGeom prst="ellipse">
            <a:avLst/>
          </a:prstGeom>
          <a:solidFill>
            <a:srgbClr val="3569F4"/>
          </a:solidFill>
          <a:ln w="25400">
            <a:solidFill>
              <a:srgbClr val="FFFFFF"/>
            </a:solidFill>
          </a:ln>
          <a:effectLst>
            <a:outerShdw blurRad="76200" dist="19050" dir="5400000" algn="t" rotWithShape="0">
              <a:srgbClr val="2E4A9A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9964" y="5394960"/>
            <a:ext cx="22517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0E1A4B"/>
                </a:solidFill>
                <a:latin typeface="Segoe UI Semibold"/>
              </a:rPr>
              <a:t>Cover while away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69964" y="5632704"/>
            <a:ext cx="225171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5B6A92"/>
                </a:solidFill>
                <a:latin typeface="Segoe UI"/>
              </a:rPr>
              <a:t>Approvers arrange their own cover; administrators can arrange it for someone already absent.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04554" y="5340096"/>
            <a:ext cx="2635758" cy="987552"/>
          </a:xfrm>
          <a:prstGeom prst="roundRect">
            <a:avLst>
              <a:gd name="adj" fmla="val 12000"/>
            </a:avLst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150858" y="5422392"/>
            <a:ext cx="234315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3569F4"/>
                </a:solidFill>
                <a:latin typeface="Segoe UI Semibold"/>
              </a:rPr>
              <a:t>WHY IT MATTERS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0858" y="5614416"/>
            <a:ext cx="23431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0E1A4B"/>
                </a:solidFill>
                <a:latin typeface="Segoe UI"/>
              </a:rPr>
              <a:t>Absence stops being the reason a queue stalls, without weakening who may approve what.</a:t>
            </a:r>
          </a:p>
        </p:txBody>
      </p:sp>
      <p:pic>
        <p:nvPicPr>
          <p:cNvPr id="27" name="Picture 26" descr="finora-mar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6419088"/>
            <a:ext cx="201168" cy="201168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822960" y="6437376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0E1A4B"/>
                </a:solidFill>
                <a:latin typeface="Segoe UI Semibold"/>
              </a:rPr>
              <a:t>Finora Flow</a:t>
            </a:r>
            <a:r>
              <a:rPr sz="900" b="0">
                <a:solidFill>
                  <a:srgbClr val="5B6A92"/>
                </a:solidFill>
                <a:latin typeface="Segoe UI"/>
              </a:rPr>
              <a:t>   ·   Client walkthrough   ·   Visibility and administration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81360" y="6437376"/>
            <a:ext cx="7589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B6A92"/>
                </a:solidFill>
                <a:latin typeface="Segoe UI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atmosphere" descr="app-atmosphere.jpg"/>
          <p:cNvPicPr>
            <a:picLocks noChangeAspect="1"/>
          </p:cNvPicPr>
          <p:nvPr/>
        </p:nvPicPr>
        <p:blipFill>
          <a:blip r:embed="rId2"/>
          <a:srcRect t="262" b="26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3569F4"/>
                </a:solidFill>
                <a:latin typeface="Segoe UI Semibold"/>
              </a:rPr>
              <a:t>09 · CONFIGURATION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0E1A4B"/>
                </a:solidFill>
                <a:latin typeface="Segoe UI Semibold"/>
              </a:rPr>
              <a:t>Policies and reference data, administered, not hard-coded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70432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5B6A92"/>
                </a:solidFill>
                <a:latin typeface="Segoe UI"/>
              </a:rPr>
              <a:t>Every change is a recorded act with a reason; nothing requires a release to adjust.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5440680" cy="21579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BE3F5"/>
            </a:solidFill>
          </a:ln>
          <a:effectLst>
            <a:outerShdw blurRad="190500" dist="38100" dir="5400000" algn="t" rotWithShape="0">
              <a:srgbClr val="2E4A9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77240" y="1965960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0E1A4B"/>
                </a:solidFill>
                <a:latin typeface="Segoe UI Semibold"/>
              </a:rPr>
              <a:t>Reference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7830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B6A92"/>
                </a:solidFill>
                <a:latin typeface="Segoe UI"/>
              </a:rPr>
              <a:t>Vendors, GL accounts and cost centres: the only counterparties money can be paid to.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42616" y="2006781"/>
            <a:ext cx="3236976" cy="1710581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BE3F5"/>
            </a:solidFill>
          </a:ln>
          <a:effectLst>
            <a:outerShdw blurRad="190500" dist="38100" dir="5400000" algn="t" rotWithShape="0">
              <a:srgbClr val="2E4A9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1" name="Picture 10" descr="reference.png"/>
          <p:cNvPicPr>
            <a:picLocks noChangeAspect="1"/>
          </p:cNvPicPr>
          <p:nvPr/>
        </p:nvPicPr>
        <p:blipFill>
          <a:blip r:embed="rId3"/>
          <a:srcRect l="18056" r="23611" t="10000" b="42222"/>
          <a:stretch>
            <a:fillRect/>
          </a:stretch>
        </p:blipFill>
        <p:spPr>
          <a:xfrm>
            <a:off x="2697480" y="2061645"/>
            <a:ext cx="3127248" cy="1600853"/>
          </a:xfrm>
          <a:prstGeom prst="rect">
            <a:avLst/>
          </a:prstGeom>
          <a:ln w="6350">
            <a:solidFill>
              <a:srgbClr val="DBE3F5"/>
            </a:solidFill>
          </a:ln>
        </p:spPr>
      </p:pic>
      <p:sp>
        <p:nvSpPr>
          <p:cNvPr id="12" name="Rounded Rectangle 11"/>
          <p:cNvSpPr/>
          <p:nvPr/>
        </p:nvSpPr>
        <p:spPr>
          <a:xfrm>
            <a:off x="6199632" y="1783080"/>
            <a:ext cx="5440680" cy="21579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BE3F5"/>
            </a:solidFill>
          </a:ln>
          <a:effectLst>
            <a:outerShdw blurRad="190500" dist="38100" dir="5400000" algn="t" rotWithShape="0">
              <a:srgbClr val="2E4A9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428232" y="1965960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0E1A4B"/>
                </a:solidFill>
                <a:latin typeface="Segoe UI Semibold"/>
              </a:rPr>
              <a:t>PO thresholds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2" y="2331720"/>
            <a:ext cx="17830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B6A92"/>
                </a:solidFill>
                <a:latin typeface="Segoe UI"/>
              </a:rPr>
              <a:t>Per currency: the amount above which a purchase order is required.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93608" y="2006781"/>
            <a:ext cx="3236976" cy="1710581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BE3F5"/>
            </a:solidFill>
          </a:ln>
          <a:effectLst>
            <a:outerShdw blurRad="190500" dist="38100" dir="5400000" algn="t" rotWithShape="0">
              <a:srgbClr val="2E4A9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Picture 15" descr="thresholds.png"/>
          <p:cNvPicPr>
            <a:picLocks noChangeAspect="1"/>
          </p:cNvPicPr>
          <p:nvPr/>
        </p:nvPicPr>
        <p:blipFill>
          <a:blip r:embed="rId4"/>
          <a:srcRect l="18056" r="23611" t="10000" b="42222"/>
          <a:stretch>
            <a:fillRect/>
          </a:stretch>
        </p:blipFill>
        <p:spPr>
          <a:xfrm>
            <a:off x="8348472" y="2061645"/>
            <a:ext cx="3127248" cy="1600853"/>
          </a:xfrm>
          <a:prstGeom prst="rect">
            <a:avLst/>
          </a:prstGeom>
          <a:ln w="6350">
            <a:solidFill>
              <a:srgbClr val="DBE3F5"/>
            </a:solidFill>
          </a:ln>
        </p:spPr>
      </p:pic>
      <p:sp>
        <p:nvSpPr>
          <p:cNvPr id="17" name="Rounded Rectangle 16"/>
          <p:cNvSpPr/>
          <p:nvPr/>
        </p:nvSpPr>
        <p:spPr>
          <a:xfrm>
            <a:off x="548640" y="4069080"/>
            <a:ext cx="5440680" cy="21579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BE3F5"/>
            </a:solidFill>
          </a:ln>
          <a:effectLst>
            <a:outerShdw blurRad="190500" dist="38100" dir="5400000" algn="t" rotWithShape="0">
              <a:srgbClr val="2E4A9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77240" y="4251960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0E1A4B"/>
                </a:solidFill>
                <a:latin typeface="Segoe UI Semibold"/>
              </a:rPr>
              <a:t>Retention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617720"/>
            <a:ext cx="17830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B6A92"/>
                </a:solidFill>
                <a:latin typeface="Segoe UI"/>
              </a:rPr>
              <a:t>How long each record class is kept; the audit trail is never deleted.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642616" y="4292781"/>
            <a:ext cx="3236976" cy="1710581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BE3F5"/>
            </a:solidFill>
          </a:ln>
          <a:effectLst>
            <a:outerShdw blurRad="190500" dist="38100" dir="5400000" algn="t" rotWithShape="0">
              <a:srgbClr val="2E4A9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1" name="Picture 20" descr="retention.png"/>
          <p:cNvPicPr>
            <a:picLocks noChangeAspect="1"/>
          </p:cNvPicPr>
          <p:nvPr/>
        </p:nvPicPr>
        <p:blipFill>
          <a:blip r:embed="rId5"/>
          <a:srcRect l="18056" r="23611" t="10000" b="42222"/>
          <a:stretch>
            <a:fillRect/>
          </a:stretch>
        </p:blipFill>
        <p:spPr>
          <a:xfrm>
            <a:off x="2697480" y="4347645"/>
            <a:ext cx="3127248" cy="1600853"/>
          </a:xfrm>
          <a:prstGeom prst="rect">
            <a:avLst/>
          </a:prstGeom>
          <a:ln w="6350">
            <a:solidFill>
              <a:srgbClr val="DBE3F5"/>
            </a:solidFill>
          </a:ln>
        </p:spPr>
      </p:pic>
      <p:sp>
        <p:nvSpPr>
          <p:cNvPr id="22" name="Rounded Rectangle 21"/>
          <p:cNvSpPr/>
          <p:nvPr/>
        </p:nvSpPr>
        <p:spPr>
          <a:xfrm>
            <a:off x="6199632" y="4069080"/>
            <a:ext cx="5440680" cy="21579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BE3F5"/>
            </a:solidFill>
          </a:ln>
          <a:effectLst>
            <a:outerShdw blurRad="190500" dist="38100" dir="5400000" algn="t" rotWithShape="0">
              <a:srgbClr val="2E4A9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428232" y="4251960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0E1A4B"/>
                </a:solidFill>
                <a:latin typeface="Segoe UI Semibold"/>
              </a:rPr>
              <a:t>Operational settings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28232" y="4617720"/>
            <a:ext cx="17830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B6A92"/>
                </a:solidFill>
                <a:latin typeface="Segoe UI"/>
              </a:rPr>
              <a:t>The AI kill switch with a reason, and a read-only snapshot of workflow settings.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93608" y="4292781"/>
            <a:ext cx="3236976" cy="1710581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BE3F5"/>
            </a:solidFill>
          </a:ln>
          <a:effectLst>
            <a:outerShdw blurRad="190500" dist="38100" dir="5400000" algn="t" rotWithShape="0">
              <a:srgbClr val="2E4A9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6" name="Picture 25" descr="operational-settings.png"/>
          <p:cNvPicPr>
            <a:picLocks noChangeAspect="1"/>
          </p:cNvPicPr>
          <p:nvPr/>
        </p:nvPicPr>
        <p:blipFill>
          <a:blip r:embed="rId6"/>
          <a:srcRect l="18056" r="23611" t="10000" b="42222"/>
          <a:stretch>
            <a:fillRect/>
          </a:stretch>
        </p:blipFill>
        <p:spPr>
          <a:xfrm>
            <a:off x="8348472" y="4347645"/>
            <a:ext cx="3127248" cy="1600853"/>
          </a:xfrm>
          <a:prstGeom prst="rect">
            <a:avLst/>
          </a:prstGeom>
          <a:ln w="6350">
            <a:solidFill>
              <a:srgbClr val="DBE3F5"/>
            </a:solidFill>
          </a:ln>
        </p:spPr>
      </p:pic>
      <p:pic>
        <p:nvPicPr>
          <p:cNvPr id="27" name="Picture 26" descr="finora-mar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6419088"/>
            <a:ext cx="201168" cy="201168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822960" y="6437376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0E1A4B"/>
                </a:solidFill>
                <a:latin typeface="Segoe UI Semibold"/>
              </a:rPr>
              <a:t>Finora Flow</a:t>
            </a:r>
            <a:r>
              <a:rPr sz="900" b="0">
                <a:solidFill>
                  <a:srgbClr val="5B6A92"/>
                </a:solidFill>
                <a:latin typeface="Segoe UI"/>
              </a:rPr>
              <a:t>   ·   Client walkthrough   ·   Visibility and administration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81360" y="6437376"/>
            <a:ext cx="7589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B6A92"/>
                </a:solidFill>
                <a:latin typeface="Segoe UI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atmosphere" descr="app-atmosphere.jpg"/>
          <p:cNvPicPr>
            <a:picLocks noChangeAspect="1"/>
          </p:cNvPicPr>
          <p:nvPr/>
        </p:nvPicPr>
        <p:blipFill>
          <a:blip r:embed="rId2"/>
          <a:srcRect t="262" b="26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3569F4"/>
                </a:solidFill>
                <a:latin typeface="Segoe UI Semibold"/>
              </a:rPr>
              <a:t>ANY DEVICE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0E1A4B"/>
                </a:solidFill>
                <a:latin typeface="Segoe UI Semibold"/>
              </a:rPr>
              <a:t>The same platform on a phone, for approvals on the move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70432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5B6A92"/>
                </a:solidFill>
                <a:latin typeface="Segoe UI"/>
              </a:rPr>
              <a:t>Responsive layouts, keyboard access, visible focus and reduced-motion support throughout.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00784"/>
            <a:ext cx="2286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B6A92"/>
                </a:solidFill>
                <a:latin typeface="Segoe UI Semibold"/>
              </a:rPr>
              <a:t>SIGN-IN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8712" y="1938528"/>
            <a:ext cx="2074496" cy="436168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BE3F5"/>
            </a:solidFill>
          </a:ln>
          <a:effectLst>
            <a:outerShdw blurRad="190500" dist="38100" dir="5400000" algn="t" rotWithShape="0">
              <a:srgbClr val="2E4A9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phone-signin.png"/>
          <p:cNvPicPr>
            <a:picLocks noChangeAspect="1"/>
          </p:cNvPicPr>
          <p:nvPr/>
        </p:nvPicPr>
        <p:blipFill>
          <a:blip r:embed="rId3"/>
          <a:srcRect b="589"/>
          <a:stretch>
            <a:fillRect/>
          </a:stretch>
        </p:blipFill>
        <p:spPr>
          <a:xfrm>
            <a:off x="983576" y="1993392"/>
            <a:ext cx="1964768" cy="4251960"/>
          </a:xfrm>
          <a:prstGeom prst="rect">
            <a:avLst/>
          </a:prstGeom>
          <a:ln w="6350">
            <a:solidFill>
              <a:srgbClr val="DBE3F5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3429000" y="1700784"/>
            <a:ext cx="2286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B6A92"/>
                </a:solidFill>
                <a:latin typeface="Segoe UI Semibold"/>
              </a:rPr>
              <a:t>DASHBOARD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34752" y="1938528"/>
            <a:ext cx="2074496" cy="436168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BE3F5"/>
            </a:solidFill>
          </a:ln>
          <a:effectLst>
            <a:outerShdw blurRad="190500" dist="38100" dir="5400000" algn="t" rotWithShape="0">
              <a:srgbClr val="2E4A9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phone-dashboard.png"/>
          <p:cNvPicPr>
            <a:picLocks noChangeAspect="1"/>
          </p:cNvPicPr>
          <p:nvPr/>
        </p:nvPicPr>
        <p:blipFill>
          <a:blip r:embed="rId4"/>
          <a:srcRect b="72686"/>
          <a:stretch>
            <a:fillRect/>
          </a:stretch>
        </p:blipFill>
        <p:spPr>
          <a:xfrm>
            <a:off x="3589616" y="1993392"/>
            <a:ext cx="1964768" cy="4251960"/>
          </a:xfrm>
          <a:prstGeom prst="rect">
            <a:avLst/>
          </a:prstGeom>
          <a:ln w="6350">
            <a:solidFill>
              <a:srgbClr val="DBE3F5"/>
            </a:solidFill>
          </a:ln>
        </p:spPr>
      </p:pic>
      <p:sp>
        <p:nvSpPr>
          <p:cNvPr id="13" name="Oval 12"/>
          <p:cNvSpPr/>
          <p:nvPr/>
        </p:nvSpPr>
        <p:spPr>
          <a:xfrm>
            <a:off x="6400800" y="2093976"/>
            <a:ext cx="329184" cy="329184"/>
          </a:xfrm>
          <a:prstGeom prst="ellipse">
            <a:avLst/>
          </a:prstGeom>
          <a:solidFill>
            <a:srgbClr val="3569F4"/>
          </a:solidFill>
          <a:ln w="25400">
            <a:solidFill>
              <a:srgbClr val="FFFFFF"/>
            </a:solidFill>
          </a:ln>
          <a:effectLst>
            <a:outerShdw blurRad="76200" dist="19050" dir="5400000" algn="t" rotWithShape="0">
              <a:srgbClr val="2E4A9A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39712" y="2103120"/>
            <a:ext cx="47731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0E1A4B"/>
                </a:solidFill>
                <a:latin typeface="Segoe UI Semibold"/>
              </a:rPr>
              <a:t>Built to accessibility standards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39712" y="2377440"/>
            <a:ext cx="4773168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5B6A92"/>
                </a:solidFill>
                <a:latin typeface="Segoe UI"/>
              </a:rPr>
              <a:t>Labelled controls, status never shown by colour alone, headings in order, visible keyboard focus.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0" y="3017520"/>
            <a:ext cx="329184" cy="329184"/>
          </a:xfrm>
          <a:prstGeom prst="ellipse">
            <a:avLst/>
          </a:prstGeom>
          <a:solidFill>
            <a:srgbClr val="3569F4"/>
          </a:solidFill>
          <a:ln w="25400">
            <a:solidFill>
              <a:srgbClr val="FFFFFF"/>
            </a:solidFill>
          </a:ln>
          <a:effectLst>
            <a:outerShdw blurRad="76200" dist="19050" dir="5400000" algn="t" rotWithShape="0">
              <a:srgbClr val="2E4A9A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39712" y="3026664"/>
            <a:ext cx="47731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0E1A4B"/>
                </a:solidFill>
                <a:latin typeface="Segoe UI Semibold"/>
              </a:rPr>
              <a:t>Approve from anywhere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39712" y="3300984"/>
            <a:ext cx="477316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5B6A92"/>
                </a:solidFill>
                <a:latin typeface="Segoe UI"/>
              </a:rPr>
              <a:t>Queues, records and decisions work at phone width without sideways scrolling.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0" y="3767328"/>
            <a:ext cx="329184" cy="329184"/>
          </a:xfrm>
          <a:prstGeom prst="ellipse">
            <a:avLst/>
          </a:prstGeom>
          <a:solidFill>
            <a:srgbClr val="3569F4"/>
          </a:solidFill>
          <a:ln w="25400">
            <a:solidFill>
              <a:srgbClr val="FFFFFF"/>
            </a:solidFill>
          </a:ln>
          <a:effectLst>
            <a:outerShdw blurRad="76200" dist="19050" dir="5400000" algn="t" rotWithShape="0">
              <a:srgbClr val="2E4A9A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39712" y="3776472"/>
            <a:ext cx="47731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0E1A4B"/>
                </a:solidFill>
                <a:latin typeface="Segoe UI Semibold"/>
              </a:rPr>
              <a:t>Motion with restraint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39712" y="4050792"/>
            <a:ext cx="477316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5B6A92"/>
                </a:solidFill>
                <a:latin typeface="Segoe UI"/>
              </a:rPr>
              <a:t>The animated flow respects the device's reduced-motion setting.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4562856"/>
            <a:ext cx="5212080" cy="676656"/>
          </a:xfrm>
          <a:prstGeom prst="roundRect">
            <a:avLst>
              <a:gd name="adj" fmla="val 12000"/>
            </a:avLst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565392" y="4654296"/>
            <a:ext cx="488289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3569F4"/>
                </a:solidFill>
                <a:latin typeface="Segoe UI Semibold"/>
              </a:rPr>
              <a:t>WHY IT MATTERS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65392" y="4873752"/>
            <a:ext cx="488289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0E1A4B"/>
                </a:solidFill>
                <a:latin typeface="Segoe UI"/>
              </a:rPr>
              <a:t>Approvers are rarely at their desk; decisions should not wait for them to be.</a:t>
            </a:r>
          </a:p>
        </p:txBody>
      </p:sp>
      <p:pic>
        <p:nvPicPr>
          <p:cNvPr id="25" name="Picture 24" descr="finora-mar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6419088"/>
            <a:ext cx="201168" cy="20116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822960" y="6437376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0E1A4B"/>
                </a:solidFill>
                <a:latin typeface="Segoe UI Semibold"/>
              </a:rPr>
              <a:t>Finora Flow</a:t>
            </a:r>
            <a:r>
              <a:rPr sz="900" b="0">
                <a:solidFill>
                  <a:srgbClr val="5B6A92"/>
                </a:solidFill>
                <a:latin typeface="Segoe UI"/>
              </a:rPr>
              <a:t>   ·   Client walkthrough   ·   Visibility and administration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81360" y="6437376"/>
            <a:ext cx="7589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B6A92"/>
                </a:solidFill>
                <a:latin typeface="Segoe UI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atmosphere" descr="app-atmosphere.jpg"/>
          <p:cNvPicPr>
            <a:picLocks noChangeAspect="1"/>
          </p:cNvPicPr>
          <p:nvPr/>
        </p:nvPicPr>
        <p:blipFill>
          <a:blip r:embed="rId2"/>
          <a:srcRect t="262" b="26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3569F4"/>
                </a:solidFill>
                <a:latin typeface="Segoe UI Semibold"/>
              </a:rPr>
              <a:t>VALUE TO YOUR ORGANISATION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0E1A4B"/>
                </a:solidFill>
                <a:latin typeface="Segoe UI Semibold"/>
              </a:rPr>
              <a:t>What changes when Finora Flow runs your accounts payable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70432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5B6A92"/>
                </a:solidFill>
                <a:latin typeface="Segoe UI"/>
              </a:rPr>
              <a:t>Outcomes the platform is designed to deliver, and the mechanisms that make them hold.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3563112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BE3F5"/>
            </a:solidFill>
          </a:ln>
          <a:effectLst>
            <a:outerShdw blurRad="190500" dist="38100" dir="5400000" algn="t" rotWithShape="0">
              <a:srgbClr val="2E4A9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749808" y="2002536"/>
            <a:ext cx="329184" cy="54864"/>
          </a:xfrm>
          <a:prstGeom prst="roundRect">
            <a:avLst>
              <a:gd name="adj" fmla="val 50000"/>
            </a:avLst>
          </a:prstGeom>
          <a:solidFill>
            <a:srgbClr val="356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49808" y="2130552"/>
            <a:ext cx="31607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3569F4"/>
                </a:solidFill>
                <a:latin typeface="Segoe UI Semibold"/>
              </a:rPr>
              <a:t>EFFICIENCY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350008"/>
            <a:ext cx="316077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0E1A4B"/>
                </a:solidFill>
                <a:latin typeface="Segoe UI Semibold"/>
              </a:rPr>
              <a:t>Less manual 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697480"/>
            <a:ext cx="3160776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sz="1050" b="0">
                <a:solidFill>
                  <a:srgbClr val="5B6A92"/>
                </a:solidFill>
                <a:latin typeface="Segoe UI"/>
              </a:rPr>
              <a:t>Documents are read with evidence instead of re-keyed; one queue per person replaces inbox chasing; reminders escalate automatically.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2920" y="1783080"/>
            <a:ext cx="3563112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BE3F5"/>
            </a:solidFill>
          </a:ln>
          <a:effectLst>
            <a:outerShdw blurRad="190500" dist="38100" dir="5400000" algn="t" rotWithShape="0">
              <a:srgbClr val="2E4A9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4514088" y="2002536"/>
            <a:ext cx="329184" cy="54864"/>
          </a:xfrm>
          <a:prstGeom prst="roundRect">
            <a:avLst>
              <a:gd name="adj" fmla="val 50000"/>
            </a:avLst>
          </a:prstGeom>
          <a:solidFill>
            <a:srgbClr val="6D4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514088" y="2130552"/>
            <a:ext cx="31607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6D4CF0"/>
                </a:solidFill>
                <a:latin typeface="Segoe UI Semibold"/>
              </a:rPr>
              <a:t>SPEED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4088" y="2350008"/>
            <a:ext cx="316077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0E1A4B"/>
                </a:solidFill>
                <a:latin typeface="Segoe UI Semibold"/>
              </a:rPr>
              <a:t>Faster approvals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14088" y="2697480"/>
            <a:ext cx="3160776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sz="1050" b="0">
                <a:solidFill>
                  <a:srgbClr val="5B6A92"/>
                </a:solidFill>
                <a:latin typeface="Segoe UI"/>
              </a:rPr>
              <a:t>Requests reach the right approver at once, oldest first, with cover for absence and three-hourly working-time reminders.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77200" y="1783080"/>
            <a:ext cx="3563112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BE3F5"/>
            </a:solidFill>
          </a:ln>
          <a:effectLst>
            <a:outerShdw blurRad="190500" dist="38100" dir="5400000" algn="t" rotWithShape="0">
              <a:srgbClr val="2E4A9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8278368" y="2002536"/>
            <a:ext cx="329184" cy="54864"/>
          </a:xfrm>
          <a:prstGeom prst="roundRect">
            <a:avLst>
              <a:gd name="adj" fmla="val 50000"/>
            </a:avLst>
          </a:prstGeom>
          <a:solidFill>
            <a:srgbClr val="16A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278368" y="2130552"/>
            <a:ext cx="31607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16A66A"/>
                </a:solidFill>
                <a:latin typeface="Segoe UI Semibold"/>
              </a:rPr>
              <a:t>ACCURACY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8368" y="2350008"/>
            <a:ext cx="316077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0E1A4B"/>
                </a:solidFill>
                <a:latin typeface="Segoe UI Semibold"/>
              </a:rPr>
              <a:t>Fewer payment errors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8368" y="2697480"/>
            <a:ext cx="3160776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sz="1050" b="0">
                <a:solidFill>
                  <a:srgbClr val="5B6A92"/>
                </a:solidFill>
                <a:latin typeface="Segoe UI"/>
              </a:rPr>
              <a:t>Receipt confirmation before approval, duplicate refusal, overrun checks and supplier confirmation after payment.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995928"/>
            <a:ext cx="3563112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BE3F5"/>
            </a:solidFill>
          </a:ln>
          <a:effectLst>
            <a:outerShdw blurRad="190500" dist="38100" dir="5400000" algn="t" rotWithShape="0">
              <a:srgbClr val="2E4A9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ounded Rectangle 22"/>
          <p:cNvSpPr/>
          <p:nvPr/>
        </p:nvSpPr>
        <p:spPr>
          <a:xfrm>
            <a:off x="749808" y="4215384"/>
            <a:ext cx="329184" cy="54864"/>
          </a:xfrm>
          <a:prstGeom prst="roundRect">
            <a:avLst>
              <a:gd name="adj" fmla="val 50000"/>
            </a:avLst>
          </a:prstGeom>
          <a:solidFill>
            <a:srgbClr val="0E1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49808" y="4343400"/>
            <a:ext cx="31607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0E1A4B"/>
                </a:solidFill>
                <a:latin typeface="Segoe UI Semibold"/>
              </a:rPr>
              <a:t>CONTROL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4562856"/>
            <a:ext cx="316077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0E1A4B"/>
                </a:solidFill>
                <a:latin typeface="Segoe UI Semibold"/>
              </a:rPr>
              <a:t>Stronger control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4910328"/>
            <a:ext cx="3160776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sz="1050" b="0">
                <a:solidFill>
                  <a:srgbClr val="5B6A92"/>
                </a:solidFill>
                <a:latin typeface="Segoe UI"/>
              </a:rPr>
              <a:t>Segregation of duties, a configurable matrix and mandatory reasons, enforced by the system for every action.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12920" y="3995928"/>
            <a:ext cx="3563112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BE3F5"/>
            </a:solidFill>
          </a:ln>
          <a:effectLst>
            <a:outerShdw blurRad="190500" dist="38100" dir="5400000" algn="t" rotWithShape="0">
              <a:srgbClr val="2E4A9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ounded Rectangle 27"/>
          <p:cNvSpPr/>
          <p:nvPr/>
        </p:nvSpPr>
        <p:spPr>
          <a:xfrm>
            <a:off x="4514088" y="4215384"/>
            <a:ext cx="329184" cy="54864"/>
          </a:xfrm>
          <a:prstGeom prst="roundRect">
            <a:avLst>
              <a:gd name="adj" fmla="val 50000"/>
            </a:avLst>
          </a:prstGeom>
          <a:solidFill>
            <a:srgbClr val="16A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4514088" y="4343400"/>
            <a:ext cx="31607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16A66A"/>
                </a:solidFill>
                <a:latin typeface="Segoe UI Semibold"/>
              </a:rPr>
              <a:t>ASSURANCE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14088" y="4562856"/>
            <a:ext cx="316077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0E1A4B"/>
                </a:solidFill>
                <a:latin typeface="Segoe UI Semibold"/>
              </a:rPr>
              <a:t>Audit-ready by default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14088" y="4910328"/>
            <a:ext cx="3160776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sz="1050" b="0">
                <a:solidFill>
                  <a:srgbClr val="5B6A92"/>
                </a:solidFill>
                <a:latin typeface="Segoe UI"/>
              </a:rPr>
              <a:t>A hash-chained trail, immutable originals and versioned decisions mean the evidence already exists.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77200" y="3995928"/>
            <a:ext cx="3563112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BE3F5"/>
            </a:solidFill>
          </a:ln>
          <a:effectLst>
            <a:outerShdw blurRad="190500" dist="38100" dir="5400000" algn="t" rotWithShape="0">
              <a:srgbClr val="2E4A9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278368" y="4215384"/>
            <a:ext cx="329184" cy="54864"/>
          </a:xfrm>
          <a:prstGeom prst="roundRect">
            <a:avLst>
              <a:gd name="adj" fmla="val 50000"/>
            </a:avLst>
          </a:prstGeom>
          <a:solidFill>
            <a:srgbClr val="356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278368" y="4343400"/>
            <a:ext cx="31607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3569F4"/>
                </a:solidFill>
                <a:latin typeface="Segoe UI Semibold"/>
              </a:rPr>
              <a:t>INSIGHT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78368" y="4562856"/>
            <a:ext cx="316077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0E1A4B"/>
                </a:solidFill>
                <a:latin typeface="Segoe UI Semibold"/>
              </a:rPr>
              <a:t>Clear visibility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78368" y="4910328"/>
            <a:ext cx="3160776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sz="1050" b="0">
                <a:solidFill>
                  <a:srgbClr val="5B6A92"/>
                </a:solidFill>
                <a:latin typeface="Segoe UI"/>
              </a:rPr>
              <a:t>Live dashboards and registers show spend, commitments and blockers without waiting for a report.</a:t>
            </a:r>
          </a:p>
        </p:txBody>
      </p:sp>
      <p:pic>
        <p:nvPicPr>
          <p:cNvPr id="37" name="Picture 36" descr="finora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19088"/>
            <a:ext cx="201168" cy="201168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822960" y="6437376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0E1A4B"/>
                </a:solidFill>
                <a:latin typeface="Segoe UI Semibold"/>
              </a:rPr>
              <a:t>Finora Flow</a:t>
            </a:r>
            <a:r>
              <a:rPr sz="900" b="0">
                <a:solidFill>
                  <a:srgbClr val="5B6A92"/>
                </a:solidFill>
                <a:latin typeface="Segoe UI"/>
              </a:rPr>
              <a:t>   ·   Client walkthrough   ·   Value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881360" y="6437376"/>
            <a:ext cx="7589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B6A92"/>
                </a:solidFill>
                <a:latin typeface="Segoe UI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atmosphere" descr="app-atmosphere.jpg"/>
          <p:cNvPicPr>
            <a:picLocks noChangeAspect="1"/>
          </p:cNvPicPr>
          <p:nvPr/>
        </p:nvPicPr>
        <p:blipFill>
          <a:blip r:embed="rId2"/>
          <a:srcRect t="262" b="26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3569F4"/>
                </a:solidFill>
                <a:latin typeface="Segoe UI Semibold"/>
              </a:rPr>
              <a:t>WORKING WITH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0E1A4B"/>
                </a:solidFill>
                <a:latin typeface="Segoe UI Semibold"/>
              </a:rPr>
              <a:t>What we configure together during onboarding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70432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5B6A92"/>
                </a:solidFill>
                <a:latin typeface="Segoe UI"/>
              </a:rPr>
              <a:t>The platform ships with safe, documented defaults. These are the decisions we confirm with your team.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5440680" cy="95097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B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749808" y="205740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49808" y="2057400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0">
                <a:solidFill>
                  <a:srgbClr val="3569F4"/>
                </a:solidFill>
                <a:latin typeface="Segoe UI Semibol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93852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0E1A4B"/>
                </a:solidFill>
                <a:latin typeface="Segoe UI Semibold"/>
              </a:rPr>
              <a:t>Approval bands and levels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221992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5B6A92"/>
                </a:solidFill>
                <a:latin typeface="Segoe UI"/>
              </a:rPr>
              <a:t>Your real amount bands per currency and department, and who holds each level.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1783080"/>
            <a:ext cx="5440680" cy="95097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B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00800" y="205740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00800" y="2057400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0">
                <a:solidFill>
                  <a:srgbClr val="3569F4"/>
                </a:solidFill>
                <a:latin typeface="Segoe UI Semibold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1152" y="193852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0E1A4B"/>
                </a:solidFill>
                <a:latin typeface="Segoe UI Semibold"/>
              </a:rPr>
              <a:t>Thresholds and tolerances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31152" y="2221992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5B6A92"/>
                </a:solidFill>
                <a:latin typeface="Segoe UI"/>
              </a:rPr>
              <a:t>The PO threshold (default JMD 50,000) and any invoice overrun tolerance (default zero).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2862072"/>
            <a:ext cx="5440680" cy="95097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B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749808" y="3136392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49808" y="3136392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0">
                <a:solidFill>
                  <a:srgbClr val="3569F4"/>
                </a:solidFill>
                <a:latin typeface="Segoe UI Semibold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30175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0E1A4B"/>
                </a:solidFill>
                <a:latin typeface="Segoe UI Semibold"/>
              </a:rPr>
              <a:t>Identity provider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3300984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5B6A92"/>
                </a:solidFill>
                <a:latin typeface="Segoe UI"/>
              </a:rPr>
              <a:t>Single sign-on through your OIDC provider; local accounts are for development only.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9632" y="2862072"/>
            <a:ext cx="5440680" cy="95097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B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ounded Rectangle 22"/>
          <p:cNvSpPr/>
          <p:nvPr/>
        </p:nvSpPr>
        <p:spPr>
          <a:xfrm>
            <a:off x="6400800" y="3136392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400800" y="3136392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0">
                <a:solidFill>
                  <a:srgbClr val="3569F4"/>
                </a:solidFill>
                <a:latin typeface="Segoe UI Semibold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31152" y="30175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0E1A4B"/>
                </a:solidFill>
                <a:latin typeface="Segoe UI Semibold"/>
              </a:rPr>
              <a:t>Mailbox and email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31152" y="3300984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5B6A92"/>
                </a:solidFill>
                <a:latin typeface="Segoe UI"/>
              </a:rPr>
              <a:t>The intake mailbox forwarding rule, IMAPS access and your SMTP relay.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3941064"/>
            <a:ext cx="5440680" cy="95097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B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ounded Rectangle 27"/>
          <p:cNvSpPr/>
          <p:nvPr/>
        </p:nvSpPr>
        <p:spPr>
          <a:xfrm>
            <a:off x="749808" y="4215384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49808" y="4215384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0">
                <a:solidFill>
                  <a:srgbClr val="3569F4"/>
                </a:solidFill>
                <a:latin typeface="Segoe UI Semibold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80160" y="409651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0E1A4B"/>
                </a:solidFill>
                <a:latin typeface="Segoe UI Semibold"/>
              </a:rPr>
              <a:t>Bank file and payment methods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80160" y="4379976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5B6A92"/>
                </a:solidFill>
                <a:latin typeface="Segoe UI"/>
              </a:rPr>
              <a:t>Your bank's manifest format; today the manifest is downloaded and uploaded to the bank.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99632" y="3941064"/>
            <a:ext cx="5440680" cy="95097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B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6400800" y="4215384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400800" y="4215384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0">
                <a:solidFill>
                  <a:srgbClr val="3569F4"/>
                </a:solidFill>
                <a:latin typeface="Segoe UI Semibold"/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31152" y="409651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0E1A4B"/>
                </a:solidFill>
                <a:latin typeface="Segoe UI Semibold"/>
              </a:rPr>
              <a:t>Reference data and calendar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31152" y="4379976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5B6A92"/>
                </a:solidFill>
                <a:latin typeface="Segoe UI"/>
              </a:rPr>
              <a:t>Vendors, GL accounts, cost centres and your public-holiday calendar for reminders.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5020056"/>
            <a:ext cx="5440680" cy="95097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B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ounded Rectangle 37"/>
          <p:cNvSpPr/>
          <p:nvPr/>
        </p:nvSpPr>
        <p:spPr>
          <a:xfrm>
            <a:off x="749808" y="5294376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749808" y="5294376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0">
                <a:solidFill>
                  <a:srgbClr val="3569F4"/>
                </a:solidFill>
                <a:latin typeface="Segoe UI Semibold"/>
              </a:rPr>
              <a:t>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80160" y="5175504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0E1A4B"/>
                </a:solidFill>
                <a:latin typeface="Segoe UI Semibold"/>
              </a:rPr>
              <a:t>Retention periods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80160" y="5458968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5B6A92"/>
                </a:solidFill>
                <a:latin typeface="Segoe UI"/>
              </a:rPr>
              <a:t>Confirm the provisional seven- and ten-year defaults against your policy.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199632" y="5020056"/>
            <a:ext cx="5440680" cy="95097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B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ounded Rectangle 42"/>
          <p:cNvSpPr/>
          <p:nvPr/>
        </p:nvSpPr>
        <p:spPr>
          <a:xfrm>
            <a:off x="6400800" y="5294376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6400800" y="5294376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0">
                <a:solidFill>
                  <a:srgbClr val="3569F4"/>
                </a:solidFill>
                <a:latin typeface="Segoe UI Semibold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31152" y="5175504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0E1A4B"/>
                </a:solidFill>
                <a:latin typeface="Segoe UI Semibold"/>
              </a:rPr>
              <a:t>AI and OCR options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31152" y="5458968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5B6A92"/>
                </a:solidFill>
                <a:latin typeface="Segoe UI"/>
              </a:rPr>
              <a:t>AI is off unless you connect a provider on your gateway; an OCR engine for scanned pages is a deployment choice.</a:t>
            </a:r>
          </a:p>
        </p:txBody>
      </p:sp>
      <p:pic>
        <p:nvPicPr>
          <p:cNvPr id="47" name="Picture 46" descr="finora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19088"/>
            <a:ext cx="201168" cy="201168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822960" y="6437376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0E1A4B"/>
                </a:solidFill>
                <a:latin typeface="Segoe UI Semibold"/>
              </a:rPr>
              <a:t>Finora Flow</a:t>
            </a:r>
            <a:r>
              <a:rPr sz="900" b="0">
                <a:solidFill>
                  <a:srgbClr val="5B6A92"/>
                </a:solidFill>
                <a:latin typeface="Segoe UI"/>
              </a:rPr>
              <a:t>   ·   Client walkthrough   ·   Working with you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881360" y="6437376"/>
            <a:ext cx="7589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B6A92"/>
                </a:solidFill>
                <a:latin typeface="Segoe UI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ignin-scene.jpg"/>
          <p:cNvPicPr>
            <a:picLocks noChangeAspect="1"/>
          </p:cNvPicPr>
          <p:nvPr/>
        </p:nvPicPr>
        <p:blipFill>
          <a:blip r:embed="rId2"/>
          <a:srcRect t="262" b="26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961120" cy="6858000"/>
          </a:xfrm>
          <a:prstGeom prst="rect">
            <a:avLst/>
          </a:prstGeom>
          <a:gradFill rotWithShape="1">
            <a:gsLst>
              <a:gs pos="0">
                <a:srgbClr val="F6F9FF">
                  <a:alpha val="97000"/>
                </a:srgbClr>
              </a:gs>
              <a:gs pos="55000">
                <a:srgbClr val="F6F9FF">
                  <a:alpha val="90000"/>
                </a:srgbClr>
              </a:gs>
              <a:gs pos="100000">
                <a:srgbClr val="F6F9FF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finora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731520"/>
            <a:ext cx="566928" cy="5669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17320" y="786384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>
                <a:solidFill>
                  <a:srgbClr val="0E1A4B"/>
                </a:solidFill>
                <a:latin typeface="Segoe UI Semibold"/>
              </a:rPr>
              <a:t>Finora </a:t>
            </a:r>
            <a:r>
              <a:rPr sz="2400" b="0">
                <a:solidFill>
                  <a:srgbClr val="3569F4"/>
                </a:solidFill>
                <a:latin typeface="Segoe UI Semibold"/>
              </a:rPr>
              <a:t>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60350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0">
                <a:solidFill>
                  <a:srgbClr val="0E1A4B"/>
                </a:solidFill>
                <a:latin typeface="Segoe UI Semibold"/>
              </a:rPr>
              <a:t>Next steps</a:t>
            </a:r>
          </a:p>
        </p:txBody>
      </p:sp>
      <p:sp>
        <p:nvSpPr>
          <p:cNvPr id="7" name="Oval 6"/>
          <p:cNvSpPr/>
          <p:nvPr/>
        </p:nvSpPr>
        <p:spPr>
          <a:xfrm>
            <a:off x="722376" y="3099816"/>
            <a:ext cx="384048" cy="384048"/>
          </a:xfrm>
          <a:prstGeom prst="ellipse">
            <a:avLst/>
          </a:prstGeom>
          <a:solidFill>
            <a:srgbClr val="3569F4"/>
          </a:solidFill>
          <a:ln w="25400">
            <a:solidFill>
              <a:srgbClr val="FFFFFF"/>
            </a:solidFill>
          </a:ln>
          <a:effectLst>
            <a:outerShdw blurRad="76200" dist="19050" dir="5400000" algn="t" rotWithShape="0">
              <a:srgbClr val="2E4A9A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310896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0E1A4B"/>
                </a:solidFill>
                <a:latin typeface="Segoe UI Semibold"/>
              </a:rPr>
              <a:t>A working session with your finance team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447288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B6A92"/>
                </a:solidFill>
                <a:latin typeface="Segoe UI"/>
              </a:rPr>
              <a:t>Walk one of your real invoices through the flow, end to end.</a:t>
            </a:r>
          </a:p>
        </p:txBody>
      </p:sp>
      <p:sp>
        <p:nvSpPr>
          <p:cNvPr id="10" name="Oval 9"/>
          <p:cNvSpPr/>
          <p:nvPr/>
        </p:nvSpPr>
        <p:spPr>
          <a:xfrm>
            <a:off x="722376" y="3968496"/>
            <a:ext cx="384048" cy="384048"/>
          </a:xfrm>
          <a:prstGeom prst="ellipse">
            <a:avLst/>
          </a:prstGeom>
          <a:solidFill>
            <a:srgbClr val="3569F4"/>
          </a:solidFill>
          <a:ln w="25400">
            <a:solidFill>
              <a:srgbClr val="FFFFFF"/>
            </a:solidFill>
          </a:ln>
          <a:effectLst>
            <a:outerShdw blurRad="76200" dist="19050" dir="5400000" algn="t" rotWithShape="0">
              <a:srgbClr val="2E4A9A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397764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0E1A4B"/>
                </a:solidFill>
                <a:latin typeface="Segoe UI Semibold"/>
              </a:rPr>
              <a:t>Confirm your policies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4315968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B6A92"/>
                </a:solidFill>
                <a:latin typeface="Segoe UI"/>
              </a:rPr>
              <a:t>Approval bands, thresholds, retention and reminders, configured with you.</a:t>
            </a:r>
          </a:p>
        </p:txBody>
      </p:sp>
      <p:sp>
        <p:nvSpPr>
          <p:cNvPr id="13" name="Oval 12"/>
          <p:cNvSpPr/>
          <p:nvPr/>
        </p:nvSpPr>
        <p:spPr>
          <a:xfrm>
            <a:off x="722376" y="4837176"/>
            <a:ext cx="384048" cy="384048"/>
          </a:xfrm>
          <a:prstGeom prst="ellipse">
            <a:avLst/>
          </a:prstGeom>
          <a:solidFill>
            <a:srgbClr val="3569F4"/>
          </a:solidFill>
          <a:ln w="25400">
            <a:solidFill>
              <a:srgbClr val="FFFFFF"/>
            </a:solidFill>
          </a:ln>
          <a:effectLst>
            <a:outerShdw blurRad="76200" dist="19050" dir="5400000" algn="t" rotWithShape="0">
              <a:srgbClr val="2E4A9A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484632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0E1A4B"/>
                </a:solidFill>
                <a:latin typeface="Segoe UI Semibold"/>
              </a:rPr>
              <a:t>Pilot on your infrastructure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5184648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B6A92"/>
                </a:solidFill>
                <a:latin typeface="Segoe UI"/>
              </a:rPr>
              <a:t>Containers on your network, your mailbox, your identity provider.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9893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6D4CF0"/>
                </a:solidFill>
                <a:latin typeface="Segoe UI Semibold"/>
              </a:rPr>
              <a:t>From estimate to payment, in flow.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